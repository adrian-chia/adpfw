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media/image2.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7"/>
  </p:notesMasterIdLst>
  <p:sldIdLst>
    <p:sldId id="256" r:id="rId5"/>
    <p:sldId id="257" r:id="rId6"/>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Lst>
  <p:sldSz cx="12192000" cy="6858000"/>
  <p:notesSz cx="12192000" cy="6858000"/>
  <p:custDataLst>
    <p:tags r:id="rId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4868EC6-AD24-4AFC-A154-E6CE0CDEBB55}">
          <p14:sldIdLst>
            <p14:sldId id="256"/>
            <p14:sldId id="280"/>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2E8C"/>
    <a:srgbClr val="891A4E"/>
    <a:srgbClr val="FF8DC2"/>
    <a:srgbClr val="A54E73"/>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4FD9C2-1E2C-3EA1-C948-08DE10D86548}" v="13" dt="2026-10-02T19:23:59.531"/>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autoAdjust="0"/>
    <p:restoredTop sz="66890" autoAdjust="0"/>
  </p:normalViewPr>
  <p:slideViewPr>
    <p:cSldViewPr>
      <p:cViewPr varScale="1">
        <p:scale>
          <a:sx n="66" d="100"/>
          <a:sy n="66" d="100"/>
        </p:scale>
        <p:origin x="1104" y="192"/>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85" d="100"/>
          <a:sy n="85" d="100"/>
        </p:scale>
        <p:origin x="906" y="45"/>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notesMaster" Target="notesMasters/notesMaster1.xml"/><Relationship Id="rId8" Type="http://schemas.openxmlformats.org/officeDocument/2006/relationships/tags" Target="tags/tag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microsoft.com/office/2016/11/relationships/changesInfo" Target="changesInfos/changesInfo1.xml"/><Relationship Id="rId14" Type="http://schemas.microsoft.com/office/2015/10/relationships/revisionInfo" Target="revisionInfo.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IA U-MENG ADRIAN (XIE YOUMING) PDDS0825TAA" userId="S::ls10432@learning.lithan.com::ecff3b69-c887-46f2-ba82-02c0e87e7e1c" providerId="AD" clId="Web-{00000000-0000-0000-0000-000000000000}"/>
    <pc:docChg chg="addSld delSld modSld modSection">
      <pc:chgData name="CHIA U-MENG ADRIAN (XIE YOUMING) PDDS0825TAA" userId="S::ls10432@learning.lithan.com::ecff3b69-c887-46f2-ba82-02c0e87e7e1c" providerId="AD" clId="Web-{00000000-0000-0000-0000-000000000000}" dt="2026-09-30T18:07:45.818" v="61" actId="20577"/>
      <pc:docMkLst>
        <pc:docMk/>
      </pc:docMkLst>
      <pc:sldChg chg="addSp modSp">
        <pc:chgData name="CHIA U-MENG ADRIAN (XIE YOUMING) PDDS0825TAA" userId="S::ls10432@learning.lithan.com::ecff3b69-c887-46f2-ba82-02c0e87e7e1c" providerId="AD" clId="Web-{00000000-0000-0000-0000-000000000000}" dt="2026-09-30T18:07:13.598" v="59" actId="1076"/>
        <pc:sldMkLst>
          <pc:docMk/>
          <pc:sldMk cId="0" sldId="256"/>
        </pc:sldMkLst>
        <pc:spChg chg="add mod">
          <ac:chgData name="CHIA U-MENG ADRIAN (XIE YOUMING) PDDS0825TAA" userId="S::ls10432@learning.lithan.com::ecff3b69-c887-46f2-ba82-02c0e87e7e1c" providerId="AD" clId="Web-{00000000-0000-0000-0000-000000000000}" dt="2026-09-30T18:07:13.598" v="59" actId="1076"/>
          <ac:spMkLst>
            <pc:docMk/>
            <pc:sldMk cId="0" sldId="256"/>
            <ac:spMk id="5" creationId="{DD52F2EC-03AE-4185-3AFD-68DEE055226C}"/>
          </ac:spMkLst>
        </pc:spChg>
        <pc:spChg chg="add mod">
          <ac:chgData name="CHIA U-MENG ADRIAN (XIE YOUMING) PDDS0825TAA" userId="S::ls10432@learning.lithan.com::ecff3b69-c887-46f2-ba82-02c0e87e7e1c" providerId="AD" clId="Web-{00000000-0000-0000-0000-000000000000}" dt="2026-09-30T18:07:06.582" v="58" actId="1076"/>
          <ac:spMkLst>
            <pc:docMk/>
            <pc:sldMk cId="0" sldId="256"/>
            <ac:spMk id="6" creationId="{769B0384-B76F-6F08-3D9E-F3E9B48E24F5}"/>
          </ac:spMkLst>
        </pc:spChg>
      </pc:sldChg>
      <pc:sldChg chg="add">
        <pc:chgData name="CHIA U-MENG ADRIAN (XIE YOUMING) PDDS0825TAA" userId="S::ls10432@learning.lithan.com::ecff3b69-c887-46f2-ba82-02c0e87e7e1c" providerId="AD" clId="Web-{00000000-0000-0000-0000-000000000000}" dt="2026-09-30T18:01:57.321" v="7"/>
        <pc:sldMkLst>
          <pc:docMk/>
          <pc:sldMk cId="0" sldId="257"/>
        </pc:sldMkLst>
      </pc:sldChg>
      <pc:sldChg chg="modSp add">
        <pc:chgData name="CHIA U-MENG ADRIAN (XIE YOUMING) PDDS0825TAA" userId="S::ls10432@learning.lithan.com::ecff3b69-c887-46f2-ba82-02c0e87e7e1c" providerId="AD" clId="Web-{00000000-0000-0000-0000-000000000000}" dt="2026-09-30T18:07:45.818" v="61" actId="20577"/>
        <pc:sldMkLst>
          <pc:docMk/>
          <pc:sldMk cId="786568305" sldId="264"/>
        </pc:sldMkLst>
        <pc:spChg chg="mod">
          <ac:chgData name="CHIA U-MENG ADRIAN (XIE YOUMING) PDDS0825TAA" userId="S::ls10432@learning.lithan.com::ecff3b69-c887-46f2-ba82-02c0e87e7e1c" providerId="AD" clId="Web-{00000000-0000-0000-0000-000000000000}" dt="2026-09-30T18:07:45.818" v="61" actId="20577"/>
          <ac:spMkLst>
            <pc:docMk/>
            <pc:sldMk cId="786568305" sldId="264"/>
            <ac:spMk id="2" creationId="{00000000-0000-0000-0000-000000000000}"/>
          </ac:spMkLst>
        </pc:spChg>
      </pc:sldChg>
      <pc:sldChg chg="add">
        <pc:chgData name="CHIA U-MENG ADRIAN (XIE YOUMING) PDDS0825TAA" userId="S::ls10432@learning.lithan.com::ecff3b69-c887-46f2-ba82-02c0e87e7e1c" providerId="AD" clId="Web-{00000000-0000-0000-0000-000000000000}" dt="2026-09-30T18:01:57.571" v="8"/>
        <pc:sldMkLst>
          <pc:docMk/>
          <pc:sldMk cId="320823712" sldId="265"/>
        </pc:sldMkLst>
      </pc:sldChg>
      <pc:sldChg chg="add">
        <pc:chgData name="CHIA U-MENG ADRIAN (XIE YOUMING) PDDS0825TAA" userId="S::ls10432@learning.lithan.com::ecff3b69-c887-46f2-ba82-02c0e87e7e1c" providerId="AD" clId="Web-{00000000-0000-0000-0000-000000000000}" dt="2026-09-30T18:01:57.696" v="9"/>
        <pc:sldMkLst>
          <pc:docMk/>
          <pc:sldMk cId="1812312810" sldId="266"/>
        </pc:sldMkLst>
      </pc:sldChg>
      <pc:sldChg chg="add">
        <pc:chgData name="CHIA U-MENG ADRIAN (XIE YOUMING) PDDS0825TAA" userId="S::ls10432@learning.lithan.com::ecff3b69-c887-46f2-ba82-02c0e87e7e1c" providerId="AD" clId="Web-{00000000-0000-0000-0000-000000000000}" dt="2026-09-30T18:01:57.915" v="10"/>
        <pc:sldMkLst>
          <pc:docMk/>
          <pc:sldMk cId="3701581914" sldId="267"/>
        </pc:sldMkLst>
      </pc:sldChg>
      <pc:sldChg chg="add">
        <pc:chgData name="CHIA U-MENG ADRIAN (XIE YOUMING) PDDS0825TAA" userId="S::ls10432@learning.lithan.com::ecff3b69-c887-46f2-ba82-02c0e87e7e1c" providerId="AD" clId="Web-{00000000-0000-0000-0000-000000000000}" dt="2026-09-30T18:01:58.165" v="11"/>
        <pc:sldMkLst>
          <pc:docMk/>
          <pc:sldMk cId="1152386630" sldId="268"/>
        </pc:sldMkLst>
      </pc:sldChg>
      <pc:sldChg chg="add">
        <pc:chgData name="CHIA U-MENG ADRIAN (XIE YOUMING) PDDS0825TAA" userId="S::ls10432@learning.lithan.com::ecff3b69-c887-46f2-ba82-02c0e87e7e1c" providerId="AD" clId="Web-{00000000-0000-0000-0000-000000000000}" dt="2026-09-30T18:01:58.290" v="12"/>
        <pc:sldMkLst>
          <pc:docMk/>
          <pc:sldMk cId="2315206643" sldId="269"/>
        </pc:sldMkLst>
      </pc:sldChg>
      <pc:sldChg chg="add">
        <pc:chgData name="CHIA U-MENG ADRIAN (XIE YOUMING) PDDS0825TAA" userId="S::ls10432@learning.lithan.com::ecff3b69-c887-46f2-ba82-02c0e87e7e1c" providerId="AD" clId="Web-{00000000-0000-0000-0000-000000000000}" dt="2026-09-30T18:01:58.540" v="13"/>
        <pc:sldMkLst>
          <pc:docMk/>
          <pc:sldMk cId="2698142042" sldId="270"/>
        </pc:sldMkLst>
      </pc:sldChg>
      <pc:sldChg chg="add">
        <pc:chgData name="CHIA U-MENG ADRIAN (XIE YOUMING) PDDS0825TAA" userId="S::ls10432@learning.lithan.com::ecff3b69-c887-46f2-ba82-02c0e87e7e1c" providerId="AD" clId="Web-{00000000-0000-0000-0000-000000000000}" dt="2026-09-30T18:01:58.743" v="14"/>
        <pc:sldMkLst>
          <pc:docMk/>
          <pc:sldMk cId="4132289422" sldId="271"/>
        </pc:sldMkLst>
      </pc:sldChg>
      <pc:sldChg chg="add">
        <pc:chgData name="CHIA U-MENG ADRIAN (XIE YOUMING) PDDS0825TAA" userId="S::ls10432@learning.lithan.com::ecff3b69-c887-46f2-ba82-02c0e87e7e1c" providerId="AD" clId="Web-{00000000-0000-0000-0000-000000000000}" dt="2026-09-30T18:01:58.915" v="15"/>
        <pc:sldMkLst>
          <pc:docMk/>
          <pc:sldMk cId="2669867256" sldId="272"/>
        </pc:sldMkLst>
      </pc:sldChg>
      <pc:sldChg chg="add">
        <pc:chgData name="CHIA U-MENG ADRIAN (XIE YOUMING) PDDS0825TAA" userId="S::ls10432@learning.lithan.com::ecff3b69-c887-46f2-ba82-02c0e87e7e1c" providerId="AD" clId="Web-{00000000-0000-0000-0000-000000000000}" dt="2026-09-30T18:01:59.149" v="16"/>
        <pc:sldMkLst>
          <pc:docMk/>
          <pc:sldMk cId="749304506" sldId="273"/>
        </pc:sldMkLst>
      </pc:sldChg>
      <pc:sldChg chg="add">
        <pc:chgData name="CHIA U-MENG ADRIAN (XIE YOUMING) PDDS0825TAA" userId="S::ls10432@learning.lithan.com::ecff3b69-c887-46f2-ba82-02c0e87e7e1c" providerId="AD" clId="Web-{00000000-0000-0000-0000-000000000000}" dt="2026-09-30T18:01:59.446" v="17"/>
        <pc:sldMkLst>
          <pc:docMk/>
          <pc:sldMk cId="3448395315" sldId="274"/>
        </pc:sldMkLst>
      </pc:sldChg>
      <pc:sldChg chg="add">
        <pc:chgData name="CHIA U-MENG ADRIAN (XIE YOUMING) PDDS0825TAA" userId="S::ls10432@learning.lithan.com::ecff3b69-c887-46f2-ba82-02c0e87e7e1c" providerId="AD" clId="Web-{00000000-0000-0000-0000-000000000000}" dt="2026-09-30T18:01:59.618" v="18"/>
        <pc:sldMkLst>
          <pc:docMk/>
          <pc:sldMk cId="3311742585" sldId="275"/>
        </pc:sldMkLst>
      </pc:sldChg>
      <pc:sldChg chg="add">
        <pc:chgData name="CHIA U-MENG ADRIAN (XIE YOUMING) PDDS0825TAA" userId="S::ls10432@learning.lithan.com::ecff3b69-c887-46f2-ba82-02c0e87e7e1c" providerId="AD" clId="Web-{00000000-0000-0000-0000-000000000000}" dt="2026-09-30T18:01:59.805" v="19"/>
        <pc:sldMkLst>
          <pc:docMk/>
          <pc:sldMk cId="52287424" sldId="276"/>
        </pc:sldMkLst>
      </pc:sldChg>
      <pc:sldChg chg="add">
        <pc:chgData name="CHIA U-MENG ADRIAN (XIE YOUMING) PDDS0825TAA" userId="S::ls10432@learning.lithan.com::ecff3b69-c887-46f2-ba82-02c0e87e7e1c" providerId="AD" clId="Web-{00000000-0000-0000-0000-000000000000}" dt="2026-09-30T18:01:59.946" v="20"/>
        <pc:sldMkLst>
          <pc:docMk/>
          <pc:sldMk cId="871982468" sldId="277"/>
        </pc:sldMkLst>
      </pc:sldChg>
      <pc:sldChg chg="add">
        <pc:chgData name="CHIA U-MENG ADRIAN (XIE YOUMING) PDDS0825TAA" userId="S::ls10432@learning.lithan.com::ecff3b69-c887-46f2-ba82-02c0e87e7e1c" providerId="AD" clId="Web-{00000000-0000-0000-0000-000000000000}" dt="2026-09-30T18:02:00.055" v="21"/>
        <pc:sldMkLst>
          <pc:docMk/>
          <pc:sldMk cId="1857837719" sldId="278"/>
        </pc:sldMkLst>
      </pc:sldChg>
      <pc:sldChg chg="add">
        <pc:chgData name="CHIA U-MENG ADRIAN (XIE YOUMING) PDDS0825TAA" userId="S::ls10432@learning.lithan.com::ecff3b69-c887-46f2-ba82-02c0e87e7e1c" providerId="AD" clId="Web-{00000000-0000-0000-0000-000000000000}" dt="2026-09-30T18:02:00.180" v="22"/>
        <pc:sldMkLst>
          <pc:docMk/>
          <pc:sldMk cId="2237870548" sldId="279"/>
        </pc:sldMkLst>
      </pc:sldChg>
    </pc:docChg>
  </pc:docChgLst>
  <pc:docChgLst>
    <pc:chgData name="CHIA U-MENG ADRIAN (XIE YOUMING) PDDS0825TAA" userId="S::ls10432@learning.lithan.com::ecff3b69-c887-46f2-ba82-02c0e87e7e1c" providerId="AD" clId="Web-{3A4FD9C2-1E2C-3EA1-C948-08DE10D86548}"/>
    <pc:docChg chg="addSld delSld modSld sldOrd modSection">
      <pc:chgData name="CHIA U-MENG ADRIAN (XIE YOUMING) PDDS0825TAA" userId="S::ls10432@learning.lithan.com::ecff3b69-c887-46f2-ba82-02c0e87e7e1c" providerId="AD" clId="Web-{3A4FD9C2-1E2C-3EA1-C948-08DE10D86548}" dt="2026-10-02T19:23:59.547" v="25"/>
      <pc:docMkLst>
        <pc:docMk/>
      </pc:docMkLst>
      <pc:sldChg chg="modSp">
        <pc:chgData name="CHIA U-MENG ADRIAN (XIE YOUMING) PDDS0825TAA" userId="S::ls10432@learning.lithan.com::ecff3b69-c887-46f2-ba82-02c0e87e7e1c" providerId="AD" clId="Web-{3A4FD9C2-1E2C-3EA1-C948-08DE10D86548}" dt="2026-10-02T19:23:37.624" v="6" actId="20577"/>
        <pc:sldMkLst>
          <pc:docMk/>
          <pc:sldMk cId="0" sldId="256"/>
        </pc:sldMkLst>
        <pc:spChg chg="mod">
          <ac:chgData name="CHIA U-MENG ADRIAN (XIE YOUMING) PDDS0825TAA" userId="S::ls10432@learning.lithan.com::ecff3b69-c887-46f2-ba82-02c0e87e7e1c" providerId="AD" clId="Web-{3A4FD9C2-1E2C-3EA1-C948-08DE10D86548}" dt="2026-10-02T19:23:37.624" v="6" actId="20577"/>
          <ac:spMkLst>
            <pc:docMk/>
            <pc:sldMk cId="0" sldId="256"/>
            <ac:spMk id="6" creationId="{769B0384-B76F-6F08-3D9E-F3E9B48E24F5}"/>
          </ac:spMkLst>
        </pc:spChg>
      </pc:sldChg>
      <pc:sldChg chg="del">
        <pc:chgData name="CHIA U-MENG ADRIAN (XIE YOUMING) PDDS0825TAA" userId="S::ls10432@learning.lithan.com::ecff3b69-c887-46f2-ba82-02c0e87e7e1c" providerId="AD" clId="Web-{3A4FD9C2-1E2C-3EA1-C948-08DE10D86548}" dt="2026-10-02T19:23:59.547" v="24"/>
        <pc:sldMkLst>
          <pc:docMk/>
          <pc:sldMk cId="0" sldId="257"/>
        </pc:sldMkLst>
      </pc:sldChg>
      <pc:sldChg chg="del ord">
        <pc:chgData name="CHIA U-MENG ADRIAN (XIE YOUMING) PDDS0825TAA" userId="S::ls10432@learning.lithan.com::ecff3b69-c887-46f2-ba82-02c0e87e7e1c" providerId="AD" clId="Web-{3A4FD9C2-1E2C-3EA1-C948-08DE10D86548}" dt="2026-10-02T19:23:59.547" v="25"/>
        <pc:sldMkLst>
          <pc:docMk/>
          <pc:sldMk cId="786568305" sldId="264"/>
        </pc:sldMkLst>
      </pc:sldChg>
      <pc:sldChg chg="del">
        <pc:chgData name="CHIA U-MENG ADRIAN (XIE YOUMING) PDDS0825TAA" userId="S::ls10432@learning.lithan.com::ecff3b69-c887-46f2-ba82-02c0e87e7e1c" providerId="AD" clId="Web-{3A4FD9C2-1E2C-3EA1-C948-08DE10D86548}" dt="2026-10-02T19:23:59.547" v="23"/>
        <pc:sldMkLst>
          <pc:docMk/>
          <pc:sldMk cId="320823712" sldId="265"/>
        </pc:sldMkLst>
      </pc:sldChg>
      <pc:sldChg chg="del">
        <pc:chgData name="CHIA U-MENG ADRIAN (XIE YOUMING) PDDS0825TAA" userId="S::ls10432@learning.lithan.com::ecff3b69-c887-46f2-ba82-02c0e87e7e1c" providerId="AD" clId="Web-{3A4FD9C2-1E2C-3EA1-C948-08DE10D86548}" dt="2026-10-02T19:23:59.547" v="22"/>
        <pc:sldMkLst>
          <pc:docMk/>
          <pc:sldMk cId="1812312810" sldId="266"/>
        </pc:sldMkLst>
      </pc:sldChg>
      <pc:sldChg chg="del">
        <pc:chgData name="CHIA U-MENG ADRIAN (XIE YOUMING) PDDS0825TAA" userId="S::ls10432@learning.lithan.com::ecff3b69-c887-46f2-ba82-02c0e87e7e1c" providerId="AD" clId="Web-{3A4FD9C2-1E2C-3EA1-C948-08DE10D86548}" dt="2026-10-02T19:23:59.547" v="21"/>
        <pc:sldMkLst>
          <pc:docMk/>
          <pc:sldMk cId="3701581914" sldId="267"/>
        </pc:sldMkLst>
      </pc:sldChg>
      <pc:sldChg chg="del">
        <pc:chgData name="CHIA U-MENG ADRIAN (XIE YOUMING) PDDS0825TAA" userId="S::ls10432@learning.lithan.com::ecff3b69-c887-46f2-ba82-02c0e87e7e1c" providerId="AD" clId="Web-{3A4FD9C2-1E2C-3EA1-C948-08DE10D86548}" dt="2026-10-02T19:23:59.547" v="20"/>
        <pc:sldMkLst>
          <pc:docMk/>
          <pc:sldMk cId="1152386630" sldId="268"/>
        </pc:sldMkLst>
      </pc:sldChg>
      <pc:sldChg chg="del">
        <pc:chgData name="CHIA U-MENG ADRIAN (XIE YOUMING) PDDS0825TAA" userId="S::ls10432@learning.lithan.com::ecff3b69-c887-46f2-ba82-02c0e87e7e1c" providerId="AD" clId="Web-{3A4FD9C2-1E2C-3EA1-C948-08DE10D86548}" dt="2026-10-02T19:23:59.547" v="19"/>
        <pc:sldMkLst>
          <pc:docMk/>
          <pc:sldMk cId="2315206643" sldId="269"/>
        </pc:sldMkLst>
      </pc:sldChg>
      <pc:sldChg chg="del">
        <pc:chgData name="CHIA U-MENG ADRIAN (XIE YOUMING) PDDS0825TAA" userId="S::ls10432@learning.lithan.com::ecff3b69-c887-46f2-ba82-02c0e87e7e1c" providerId="AD" clId="Web-{3A4FD9C2-1E2C-3EA1-C948-08DE10D86548}" dt="2026-10-02T19:23:59.531" v="18"/>
        <pc:sldMkLst>
          <pc:docMk/>
          <pc:sldMk cId="2698142042" sldId="270"/>
        </pc:sldMkLst>
      </pc:sldChg>
      <pc:sldChg chg="del">
        <pc:chgData name="CHIA U-MENG ADRIAN (XIE YOUMING) PDDS0825TAA" userId="S::ls10432@learning.lithan.com::ecff3b69-c887-46f2-ba82-02c0e87e7e1c" providerId="AD" clId="Web-{3A4FD9C2-1E2C-3EA1-C948-08DE10D86548}" dt="2026-10-02T19:23:59.531" v="17"/>
        <pc:sldMkLst>
          <pc:docMk/>
          <pc:sldMk cId="4132289422" sldId="271"/>
        </pc:sldMkLst>
      </pc:sldChg>
      <pc:sldChg chg="del">
        <pc:chgData name="CHIA U-MENG ADRIAN (XIE YOUMING) PDDS0825TAA" userId="S::ls10432@learning.lithan.com::ecff3b69-c887-46f2-ba82-02c0e87e7e1c" providerId="AD" clId="Web-{3A4FD9C2-1E2C-3EA1-C948-08DE10D86548}" dt="2026-10-02T19:23:59.531" v="16"/>
        <pc:sldMkLst>
          <pc:docMk/>
          <pc:sldMk cId="2669867256" sldId="272"/>
        </pc:sldMkLst>
      </pc:sldChg>
      <pc:sldChg chg="del">
        <pc:chgData name="CHIA U-MENG ADRIAN (XIE YOUMING) PDDS0825TAA" userId="S::ls10432@learning.lithan.com::ecff3b69-c887-46f2-ba82-02c0e87e7e1c" providerId="AD" clId="Web-{3A4FD9C2-1E2C-3EA1-C948-08DE10D86548}" dt="2026-10-02T19:23:59.531" v="15"/>
        <pc:sldMkLst>
          <pc:docMk/>
          <pc:sldMk cId="749304506" sldId="273"/>
        </pc:sldMkLst>
      </pc:sldChg>
      <pc:sldChg chg="del">
        <pc:chgData name="CHIA U-MENG ADRIAN (XIE YOUMING) PDDS0825TAA" userId="S::ls10432@learning.lithan.com::ecff3b69-c887-46f2-ba82-02c0e87e7e1c" providerId="AD" clId="Web-{3A4FD9C2-1E2C-3EA1-C948-08DE10D86548}" dt="2026-10-02T19:23:59.531" v="14"/>
        <pc:sldMkLst>
          <pc:docMk/>
          <pc:sldMk cId="3448395315" sldId="274"/>
        </pc:sldMkLst>
      </pc:sldChg>
      <pc:sldChg chg="del">
        <pc:chgData name="CHIA U-MENG ADRIAN (XIE YOUMING) PDDS0825TAA" userId="S::ls10432@learning.lithan.com::ecff3b69-c887-46f2-ba82-02c0e87e7e1c" providerId="AD" clId="Web-{3A4FD9C2-1E2C-3EA1-C948-08DE10D86548}" dt="2026-10-02T19:23:59.531" v="13"/>
        <pc:sldMkLst>
          <pc:docMk/>
          <pc:sldMk cId="3311742585" sldId="275"/>
        </pc:sldMkLst>
      </pc:sldChg>
      <pc:sldChg chg="del">
        <pc:chgData name="CHIA U-MENG ADRIAN (XIE YOUMING) PDDS0825TAA" userId="S::ls10432@learning.lithan.com::ecff3b69-c887-46f2-ba82-02c0e87e7e1c" providerId="AD" clId="Web-{3A4FD9C2-1E2C-3EA1-C948-08DE10D86548}" dt="2026-10-02T19:23:59.531" v="12"/>
        <pc:sldMkLst>
          <pc:docMk/>
          <pc:sldMk cId="52287424" sldId="276"/>
        </pc:sldMkLst>
      </pc:sldChg>
      <pc:sldChg chg="del">
        <pc:chgData name="CHIA U-MENG ADRIAN (XIE YOUMING) PDDS0825TAA" userId="S::ls10432@learning.lithan.com::ecff3b69-c887-46f2-ba82-02c0e87e7e1c" providerId="AD" clId="Web-{3A4FD9C2-1E2C-3EA1-C948-08DE10D86548}" dt="2026-10-02T19:23:59.531" v="11"/>
        <pc:sldMkLst>
          <pc:docMk/>
          <pc:sldMk cId="871982468" sldId="277"/>
        </pc:sldMkLst>
      </pc:sldChg>
      <pc:sldChg chg="del">
        <pc:chgData name="CHIA U-MENG ADRIAN (XIE YOUMING) PDDS0825TAA" userId="S::ls10432@learning.lithan.com::ecff3b69-c887-46f2-ba82-02c0e87e7e1c" providerId="AD" clId="Web-{3A4FD9C2-1E2C-3EA1-C948-08DE10D86548}" dt="2026-10-02T19:23:59.531" v="10"/>
        <pc:sldMkLst>
          <pc:docMk/>
          <pc:sldMk cId="1857837719" sldId="278"/>
        </pc:sldMkLst>
      </pc:sldChg>
      <pc:sldChg chg="del">
        <pc:chgData name="CHIA U-MENG ADRIAN (XIE YOUMING) PDDS0825TAA" userId="S::ls10432@learning.lithan.com::ecff3b69-c887-46f2-ba82-02c0e87e7e1c" providerId="AD" clId="Web-{3A4FD9C2-1E2C-3EA1-C948-08DE10D86548}" dt="2026-10-02T19:23:59.531" v="9"/>
        <pc:sldMkLst>
          <pc:docMk/>
          <pc:sldMk cId="2237870548" sldId="279"/>
        </pc:sldMkLst>
      </pc:sldChg>
      <pc:sldChg chg="new">
        <pc:chgData name="CHIA U-MENG ADRIAN (XIE YOUMING) PDDS0825TAA" userId="S::ls10432@learning.lithan.com::ecff3b69-c887-46f2-ba82-02c0e87e7e1c" providerId="AD" clId="Web-{3A4FD9C2-1E2C-3EA1-C948-08DE10D86548}" dt="2026-10-02T19:23:49.359" v="7"/>
        <pc:sldMkLst>
          <pc:docMk/>
          <pc:sldMk cId="838603947" sldId="28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24018972-E0C0-4E6B-ADC3-ACDE7099313C}" type="datetimeFigureOut">
              <a:rPr lang="en-SG" smtClean="0"/>
              <a:t>2/10/2026</a:t>
            </a:fld>
            <a:endParaRPr lang="en-SG"/>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A8F08F9A-3BEC-4BDD-83CD-7539FB533D1A}" type="slidenum">
              <a:rPr lang="en-SG" smtClean="0"/>
              <a:t>‹#›</a:t>
            </a:fld>
            <a:endParaRPr lang="en-SG"/>
          </a:p>
        </p:txBody>
      </p:sp>
    </p:spTree>
    <p:extLst>
      <p:ext uri="{BB962C8B-B14F-4D97-AF65-F5344CB8AC3E}">
        <p14:creationId xmlns:p14="http://schemas.microsoft.com/office/powerpoint/2010/main" val="23636141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everyone. My name is Adrian Chia. My thesis asks a simple question: can we catch a password attack that is designed to stay quiet? In the next eighteen minutes I will show you why the usual defences miss it, how looking at the whole crowd of login traffic makes it visible, and what a small neural network, a Temporal Convolutional Network, can and cannot do with that view.</a:t>
            </a:r>
          </a:p>
          <a:p/>
          <a:p>
            <a:r>
              <a:t>[Target time 0:30]</a:t>
            </a:r>
          </a:p>
        </p:txBody>
      </p:sp>
      <p:sp>
        <p:nvSpPr>
          <p:cNvPr id="4" name="Slide Number Placeholder 3"/>
          <p:cNvSpPr>
            <a:spLocks noGrp="1"/>
          </p:cNvSpPr>
          <p:nvPr>
            <p:ph type="sldNum" sz="quarter" idx="5"/>
          </p:nvPr>
        </p:nvSpPr>
        <p:spPr/>
        <p:txBody>
          <a:bodyPr/>
          <a:lstStyle/>
          <a:p>
            <a:fld id="{A8F08F9A-3BEC-4BDD-83CD-7539FB533D1A}" type="slidenum">
              <a:rPr lang="en-SG" smtClean="0"/>
              <a:t>1</a:t>
            </a:fld>
            <a:endParaRPr lang="en-SG"/>
          </a:p>
        </p:txBody>
      </p:sp>
    </p:spTree>
    <p:extLst>
      <p:ext uri="{BB962C8B-B14F-4D97-AF65-F5344CB8AC3E}">
        <p14:creationId xmlns:p14="http://schemas.microsoft.com/office/powerpoint/2010/main" val="3312100360"/>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a burglar. On the left, one burglar walks down a corridor and tries every door, again and again. That is easy to catch: one person, many attempts, and the alarm rings. On the right, the gang has learned. Each burglar tries one door, once, and walks away. Nobody tries twice, so nobody looks suspicious. [PAUSE] Quick question for the room: would your alarm go off on the right? [PAUSE] Most alarms would not. In my world, the door is a user account and the burglar is an IP address. Attackers spread their login attempts across hundreds of different IP addresses every minute and keep each one slow. This is called low-and-slow password spraying, and it is the attack this thesis is about.</a:t>
            </a:r>
          </a:p>
          <a:p/>
          <a:p>
            <a:r>
              <a:t>[Target time 1:00]</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a theoretical problem. Research published by Verizon alongside the 2025 Data Breach Investigations Report found that stolen credentials were the way in for 22 per cent of the breaches examined. In the 2026 report, credential abuse still appears at some stage in 39 per cent of breaches. Akamai reports that daily API attacks per enterprise rose by 113 per cent in a year. And the technique has official names: MITRE ATT&amp;CK calls it password spraying, T1110.003, and OWASP lists it under credential cracking, OAT-007. MITRE even notes that attackers deliberately slow spraying down to avoid alerts. So the attack is common, and it is built to be quiet.</a:t>
            </a:r>
          </a:p>
          <a:p/>
          <a:p>
            <a:r>
              <a:t>[Target time 1:00]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why do current defences miss it? The standard defence at an API Gateway is a rate limit: each client, usually each IP address, may send only so many requests per minute. This chart shows the problem. The horizontal axis is how fast each IP sends requests; the vertical axis is how many IPs the attacker uses. The curves show total attack speed. A per-IP limit is the red line. It caps how far to the right you can go, but says nothing about how far up. An attacker who wants more speed simply adds IP addresses and stays under the line. Account lockout has the same weakness from the other side: password spraying tries each account only occasionally, so no account reaches its lockout limit. OWASP itself warns that IP blocking should not be the main defence, because it is easy to get around.</a:t>
            </a:r>
          </a:p>
          <a:p/>
          <a:p>
            <a:r>
              <a:t>[Target time 1:15]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would catch it? The idea of my thesis is to stop watching individuals and watch the crowd. On the left is the per-IP view of a minute in my testbed. Real users, in teal, each make about nine logins a minute. The attack addresses, in maroon, make one request each, because the bots use a fresh address every time. Against a per-IP limit, the attackers actually look quieter than real users. [CLICK] On the right is the campaign view. I add up every login in each minute, from every IP, and ask one question: what share of them failed? Now the attack is obvious. The shaded minutes are attack minutes, and the failure rate rises above the dashed line at 0.30.</a:t>
            </a:r>
          </a:p>
          <a:p/>
          <a:p>
            <a:r>
              <a:t>[Target time 1:00]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leads to my thesis statement. Per-client rate limits cannot stop this attack, but one-minute, campaign-level summaries make it visible. I test two claims. Claim one, fidelity and transfer: a compact Temporal Convolutional Network learns the campaign rule and carries it to traffic it has never seen, even when that traffic behaves differently from training. Claim two, cost: running the model is cheap enough to sit next to an API Gateway. Three research questions follow: does it transfer, how quickly does it alarm and where does it fail, and what does it cost?</a:t>
            </a:r>
          </a:p>
          <a:p/>
          <a:p>
            <a:r>
              <a:t>[Target time 0:45]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test this I built a testbed. At the top left, 200 legitimate clients, each with one fixed IP address, log in with valid passwords about nine times a minute each, around 30 requests per second in total. Below them, 15 bot workers run the attack. Each bot tries the same password, password123!, against the accounts admin_1 to admin_999, waits one to three seconds, and sends every request from a brand-new random IP address, written into the X-Forwarded-For header. Everything goes to an HTTPS login endpoint that records each attempt. The records are grouped into one-minute windows, and the TCN gives each minute a score between zero and one; a score of 0.50 or more raises an alarm. One honest point now, because it matters later: this traffic is simulated in a lab. That makes the experiment controlled, but it is not real enterprise traffic.</a:t>
            </a:r>
          </a:p>
          <a:p/>
          <a:p>
            <a:r>
              <a:t>[Target time 1:15]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how millions of login requests become something a model can read. Every request goes into its one-minute window. For each minute I compute four numbers: the number of distinct IP addresses, the number of requests, the share that failed, and the number of distinct TLS fingerprints, called JA3. That last one turned out to be exactly one in every window, so in practice the model works with three numbers per minute. The model looks at the last ten minutes as one sequence and scores the newest minute. So its whole view of the world is a small table: ten rows and three useful columns. That is why it can be so fast.</a:t>
            </a:r>
          </a:p>
          <a:p/>
          <a:p>
            <a:r>
              <a:t>[Target time 1:00]</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train and test a model you need ground truth: which minutes are attacks? I use a campaign rule. A minute is labelled attack if more than 30 per cent of its logins fail and it has more than five distinct IP addresses. Each dot is one minute of the Training Dataset, 3,187 minutes in all, and the dashed line is the 0.30 rule. In practice the IP condition almost never matters, so the label is essentially a failure-rate threshold. I want to be upfront about what this means. Because the label is computed from the same numbers the model sees, the model is learning a rule, not discovering unknown attacks. My results show how faithfully a small network learns that rule and carries it to new data. I state this formally in chapter 3.3, and it shapes every claim I make.</a:t>
            </a:r>
          </a:p>
          <a:p/>
          <a:p>
            <a:r>
              <a:t>[Target time 1:00]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used three datasets. The Training Dataset is 53.1 hours of traffic, about 8.1 million requests, split in time order: the first 70 per cent for training, then 15 per cent for validation and 15 per cent as a hold-out test set. Because the attacks happened early in the recording, the validation set and the hold-out test set contain only normal traffic, as the chart shows, so the hold-out test set measures false alarms only. The real test comes from two independent test datasets that the model never saw. The Chaotic Dataset is 154 minutes of stop-start attacks, with bursts as short as one minute. The Large Dataset is a 233.4-hour run with 33.7 million requests.</a:t>
            </a:r>
          </a:p>
          <a:p/>
          <a:p>
            <a:r>
              <a:t>[Target time 1:00]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is a Temporal Convolutional Network, or TCN. Think of it as a small pattern detector that slides along the ten-minute timeline. It is causal: it only looks backwards in time, never at the future, so it can run live. It uses dilated convolutions: the first block compares neighbouring minutes, the second compares minutes two apart, the third four apart. Stacking them lets it cover the whole ten-minute window cheaply. The dashed shortcut connections help it train smoothly. At the end, a small classifier turns the last time step into an attack probability. The whole network has 28,241 parameters, about 113 kilobytes of weights. I checked this architecture against the trained weights file itself, and it loads exactly.</a:t>
            </a:r>
          </a:p>
          <a:p/>
          <a:p>
            <a:r>
              <a:t>[Target time 1:15]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ran for 30 epochs. Training loss, in blue, falls steadily, and I kept the checkpoint from epoch 27, which had the lowest validation loss. The red validation curve falls almost to zero. That looks too good, and there is a reason: the validation set contains only normal traffic, so it only tells us that the model does not raise false alarms. It says nothing about whether attacks are caught. That is why the two independent test datasets matter: they are where recall is measured.</a:t>
            </a:r>
          </a:p>
          <a:p/>
          <a:p>
            <a:r>
              <a:t>[Target time 0:45 · SKIP IF SHORT OF TIME]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does it work? On the Large Dataset, 233 hours that the model had never seen, there were 1,992 attack sequences. The model found every one of them: a recall of 1.0. Out of 11,359 normal sequences it raised only 11 false alarms. That gives a precision of 0.9945 and an F1 score of 0.9972, or about 1.4 false alerts per day. On the hold-out test set, 470 normal sequences, it raised no false alarms at all. [PAUSE] The Chaotic Dataset is harder by design: short bursts that start and stop. There the F1 score is 0.83, with precision 0.89 and recall 0.77. It missed 10 of 44 attack sequences, and in a moment I will show you exactly where. The confusion matrices give the counts.</a:t>
            </a:r>
          </a:p>
          <a:p/>
          <a:p>
            <a:r>
              <a:t>[Target time 1:30]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a quick game. Here are two ten-minute sequences from the Large Dataset. I am showing only two of the numbers the model receives: distinct IP addresses and requests per minute. One of them is an attack. Hands up if you think it is A. [PAUSE] And who thinks B? [PAUSE] Most people choose A: lots of IP addresses and lots of traffic. That looks like a botnet.</a:t>
            </a:r>
          </a:p>
          <a:p/>
          <a:p>
            <a:r>
              <a:t>[Target time 0:40 · SKIP IF SHORT OF TIME]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 is B. A is normal traffic: around 800 IP addresses and 2,800 requests a minute. B is the attack: only about 74 IP addresses and fewer than 200 requests a minute, but more than a third of its logins fail. The model scored A at essentially zero and B at essentially one.</a:t>
            </a:r>
          </a:p>
          <a:p/>
          <a:p>
            <a:r>
              <a:t>[Target time 0:25 · SKIP IF SHORT OF TIME]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that is the plot twist of this thesis. In the Training Dataset, attack minutes had more IP addresses than normal minutes: 1,459 against 775 on average. In the Large Dataset it is the opposite: 288 against 803. A model that had simply learned 'many IPs means attack' would fail badly here. In fact I have such a model: an earlier exploratory version, trained on a smaller dataset with a different label threshold, found only about a quarter of the attacks on this dataset. The final model found all of them, and its scores follow the failure rate, with a rank correlation of plus 0.71, while moving against the IP count. It learned the campaign signal, not the shortcut.</a:t>
            </a:r>
          </a:p>
          <a:p/>
          <a:p>
            <a:r>
              <a:t>[Target time 0:55]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Claim two: cost. One forward pass of the model takes 0.65 milliseconds on average on an ordinary CPU, and 1.64 milliseconds at the 99th percentile. The model runs once per minute. If one minute were a 100-metre running track, the model's thinking time would be the last 1.1 millimetres. That is about 0.001 per cent of one CPU core. Because the model reads one summary per minute, the cost is the same whether the gateway handles ten requests a second or ten thousand. One caveat: computing the per-minute summaries also costs something, and I did not benchmark that part.</a:t>
            </a:r>
          </a:p>
          <a:p/>
          <a:p>
            <a:r>
              <a:t>[Target time 0:45]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practical questions: how quickly does it alarm, and where does it go wrong? The top panel is the whole Chaotic Dataset; the bottom panel is a 50-minute stretch of the Large Dataset. Shaded minutes are attack minutes and the black ticks are alarms. For every attack episode whose first minute could be scored, the model alarmed in that very first minute, including one-minute bursts. All 15 false alarms, the red triangles, happen within 15 minutes of an attack, at its edges, with failure rates between 0.19 and 0.30, just under the line. Across more than 11,000 normal minutes far from any attack there were no false alarms at all. The 10 misses, the crosses, are all in the last Chaotic attack, where the failure rate hovers just above the line, at 0.32 to 0.36. So the errors sit exactly where the rule itself is borderline.</a:t>
            </a:r>
          </a:p>
          <a:p/>
          <a:p>
            <a:r>
              <a:t>[Target time 1:15]</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be clear about what this work does not show. First, the data are simulated: 200 synthetic users with one browser profile, no daily cycles and no real user mistakes. Second, the labels come from a rule over the model's own inputs, and a simple failure-rate threshold reproduces them exactly. So the model learns a rule; this does not show that it finds attacks the rule would miss. Third, the TLS fingerprint was constant and I extracted no header features, so TLS and header analysis are not tested here. Fourth, the model flags minutes, not IP addresses, and I did not build the throttling mechanism itself. Fifth, each result comes from a single training run without a fixed random seed. And an attacker who knows the 0.30 boundary could hide by adding about 2.3 successful logins for every failed one.</a:t>
            </a:r>
          </a:p>
          <a:p/>
          <a:p>
            <a:r>
              <a:t>[Target time 1:15]</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messages to take home. One: per-client rate limits cannot see a low-and-slow attack that rotates IP addresses; you have to look at the campaign, the whole minute. Two: a small TCN, about 28 thousand parameters, learns that campaign rule and carries it to new traffic, even when the IP pattern flips. Three: it costs almost nothing to run, well under a millisecond once a minute. Within the limits I described, both claims of the thesis hold.</a:t>
            </a:r>
          </a:p>
          <a:p/>
          <a:p>
            <a:r>
              <a:t>[Target time 0:45]</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listening. I am happy to take your questions.</a:t>
            </a:r>
          </a:p>
          <a:p/>
          <a:p>
            <a:r>
              <a:t>[Target time 0:15]</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Divider: everything after this slide is backup material. Jump here from any question with the slide number (type the number and press Enter in slide show).</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if asked about circularity, target leakage or 'is the model just learning a threshold?'. Key line: yes, by design; the claim is fidelity and transfer (ch.3.3, L1).</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if asked why the hold-out test set has no attacks. 470 benign sequences, 0 false positives at every threshold 0.50–0.90, maximum score 1.46e-7 (ch.4.2).</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if asked whether transfer is automatic. Earlier model: 497 windows, 0.40 labels, GELU; three differences at once, so the comparison does not isolate the cause (ch.4.5).</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if asked about threshold choice or alarm fatigue. 57 false alerts/day on the Chaotic Dataset vs 1.39 on the Large Dataset at 0.50 (Figure 8, Table 8).</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if asked about statistical significance. Wilson intervals; anti-conservative because adjacent sequences overlap by 90% (L4). Fisher p = 1.00 for recall on the Chaotic Dataset.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if asked where the learned boundary sits. Table 14: model and rule agree at or below 0.20 and above 0.40, with one exception.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if asked about hardware or latency variance. Table 11; host hardware and library versions of the original run were not recorded; a later check gave 0.437 ms mean.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if asked about validity or Arp et al.'s pitfalls. Table 15 covers six of the ten pitfalls; sampling bias applies fully.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if asked about related work or novelty. Per-client and per-account controls, multi-host detection, risk-based authentication, sequence models, TLS fingerprinting (ch.2).</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if asked about the features. Distinct IPs and failure rate separate the classes; requests overlap; JA3 is constant at 1 (Figure 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64197" y="217805"/>
            <a:ext cx="11063605" cy="449580"/>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0" i="0">
                <a:solidFill>
                  <a:srgbClr val="8B1A4A"/>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0" i="0">
                <a:solidFill>
                  <a:srgbClr val="8B1A4A"/>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1999" cy="6857998"/>
          </a:xfrm>
          <a:prstGeom prst="rect">
            <a:avLst/>
          </a:prstGeom>
        </p:spPr>
      </p:pic>
      <p:pic>
        <p:nvPicPr>
          <p:cNvPr id="17" name="bg object 17"/>
          <p:cNvPicPr/>
          <p:nvPr/>
        </p:nvPicPr>
        <p:blipFill>
          <a:blip r:embed="rId3" cstate="print"/>
          <a:stretch>
            <a:fillRect/>
          </a:stretch>
        </p:blipFill>
        <p:spPr>
          <a:xfrm>
            <a:off x="5010150" y="4105275"/>
            <a:ext cx="1847850" cy="695325"/>
          </a:xfrm>
          <a:prstGeom prst="rect">
            <a:avLst/>
          </a:prstGeom>
        </p:spPr>
      </p:pic>
      <p:sp>
        <p:nvSpPr>
          <p:cNvPr id="2" name="Holder 2"/>
          <p:cNvSpPr>
            <a:spLocks noGrp="1"/>
          </p:cNvSpPr>
          <p:nvPr>
            <p:ph type="title"/>
          </p:nvPr>
        </p:nvSpPr>
        <p:spPr/>
        <p:txBody>
          <a:bodyPr lIns="0" tIns="0" rIns="0" bIns="0"/>
          <a:lstStyle>
            <a:lvl1pPr>
              <a:defRPr sz="3950" b="0" i="0">
                <a:solidFill>
                  <a:srgbClr val="8B1A4A"/>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76796" y="308532"/>
            <a:ext cx="208915" cy="431165"/>
          </a:xfrm>
          <a:custGeom>
            <a:avLst/>
            <a:gdLst/>
            <a:ahLst/>
            <a:cxnLst/>
            <a:rect l="l" t="t" r="r" b="b"/>
            <a:pathLst>
              <a:path w="208915" h="431165">
                <a:moveTo>
                  <a:pt x="208619" y="0"/>
                </a:moveTo>
                <a:lnTo>
                  <a:pt x="160851" y="5701"/>
                </a:lnTo>
                <a:lnTo>
                  <a:pt x="116966" y="21934"/>
                </a:lnTo>
                <a:lnTo>
                  <a:pt x="78227" y="47396"/>
                </a:lnTo>
                <a:lnTo>
                  <a:pt x="45897" y="80781"/>
                </a:lnTo>
                <a:lnTo>
                  <a:pt x="21241" y="120785"/>
                </a:lnTo>
                <a:lnTo>
                  <a:pt x="5520" y="166104"/>
                </a:lnTo>
                <a:lnTo>
                  <a:pt x="0" y="215433"/>
                </a:lnTo>
                <a:lnTo>
                  <a:pt x="6049" y="266897"/>
                </a:lnTo>
                <a:lnTo>
                  <a:pt x="23214" y="313882"/>
                </a:lnTo>
                <a:lnTo>
                  <a:pt x="50020" y="354925"/>
                </a:lnTo>
                <a:lnTo>
                  <a:pt x="84993" y="388561"/>
                </a:lnTo>
                <a:lnTo>
                  <a:pt x="153676" y="419570"/>
                </a:lnTo>
                <a:lnTo>
                  <a:pt x="208619" y="430926"/>
                </a:lnTo>
                <a:lnTo>
                  <a:pt x="208619" y="346266"/>
                </a:lnTo>
                <a:lnTo>
                  <a:pt x="159341" y="335971"/>
                </a:lnTo>
                <a:lnTo>
                  <a:pt x="119062" y="307909"/>
                </a:lnTo>
                <a:lnTo>
                  <a:pt x="91887" y="266318"/>
                </a:lnTo>
                <a:lnTo>
                  <a:pt x="81917" y="215433"/>
                </a:lnTo>
                <a:lnTo>
                  <a:pt x="91887" y="164542"/>
                </a:lnTo>
                <a:lnTo>
                  <a:pt x="119062" y="122949"/>
                </a:lnTo>
                <a:lnTo>
                  <a:pt x="159341" y="94887"/>
                </a:lnTo>
                <a:lnTo>
                  <a:pt x="208619" y="84592"/>
                </a:lnTo>
                <a:lnTo>
                  <a:pt x="208619" y="0"/>
                </a:lnTo>
                <a:close/>
              </a:path>
            </a:pathLst>
          </a:custGeom>
          <a:solidFill>
            <a:srgbClr val="EB1C23"/>
          </a:solidFill>
        </p:spPr>
        <p:txBody>
          <a:bodyPr wrap="square" lIns="0" tIns="0" rIns="0" bIns="0" rtlCol="0"/>
          <a:lstStyle/>
          <a:p>
            <a:endParaRPr/>
          </a:p>
        </p:txBody>
      </p:sp>
      <p:pic>
        <p:nvPicPr>
          <p:cNvPr id="17" name="bg object 17"/>
          <p:cNvPicPr/>
          <p:nvPr/>
        </p:nvPicPr>
        <p:blipFill>
          <a:blip r:embed="rId7" cstate="print"/>
          <a:stretch>
            <a:fillRect/>
          </a:stretch>
        </p:blipFill>
        <p:spPr>
          <a:xfrm>
            <a:off x="276225" y="6124575"/>
            <a:ext cx="1495425" cy="428625"/>
          </a:xfrm>
          <a:prstGeom prst="rect">
            <a:avLst/>
          </a:prstGeom>
        </p:spPr>
      </p:pic>
      <p:sp>
        <p:nvSpPr>
          <p:cNvPr id="2" name="Holder 2"/>
          <p:cNvSpPr>
            <a:spLocks noGrp="1"/>
          </p:cNvSpPr>
          <p:nvPr>
            <p:ph type="title"/>
          </p:nvPr>
        </p:nvSpPr>
        <p:spPr>
          <a:xfrm>
            <a:off x="4751704" y="2729611"/>
            <a:ext cx="2688590" cy="632460"/>
          </a:xfrm>
          <a:prstGeom prst="rect">
            <a:avLst/>
          </a:prstGeom>
        </p:spPr>
        <p:txBody>
          <a:bodyPr wrap="square" lIns="0" tIns="0" rIns="0" bIns="0">
            <a:spAutoFit/>
          </a:bodyPr>
          <a:lstStyle>
            <a:lvl1pPr>
              <a:defRPr sz="3950" b="0" i="0">
                <a:solidFill>
                  <a:srgbClr val="8B1A4A"/>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3" r:id="rId2"/>
    <p:sldLayoutId id="2147483664" r:id="rId3"/>
    <p:sldLayoutId id="2147483662"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4.xml"/><Relationship Id="rId3" Type="http://schemas.openxmlformats.org/officeDocument/2006/relationships/notesSlide" Target="../notesSlides/notesSlide1.xml"/><Relationship Id="rId4" Type="http://schemas.openxmlformats.org/officeDocument/2006/relationships/image" Target="../media/image2.jp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7.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8.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9.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0.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1.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2.png"/><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2000" cy="6858000"/>
            <a:chOff x="0" y="0"/>
            <a:chExt cx="12192000" cy="6858000"/>
          </a:xfrm>
        </p:grpSpPr>
        <p:pic>
          <p:nvPicPr>
            <p:cNvPr id="3" name="object 3"/>
            <p:cNvPicPr/>
            <p:nvPr/>
          </p:nvPicPr>
          <p:blipFill>
            <a:blip r:embed="rId4" cstate="print"/>
            <a:stretch>
              <a:fillRect/>
            </a:stretch>
          </p:blipFill>
          <p:spPr>
            <a:xfrm>
              <a:off x="0" y="0"/>
              <a:ext cx="12191999" cy="6857998"/>
            </a:xfrm>
            <a:prstGeom prst="rect">
              <a:avLst/>
            </a:prstGeom>
          </p:spPr>
        </p:pic>
        <p:pic>
          <p:nvPicPr>
            <p:cNvPr id="4" name="object 4"/>
            <p:cNvPicPr/>
            <p:nvPr/>
          </p:nvPicPr>
          <p:blipFill>
            <a:blip r:embed="rId5" cstate="print"/>
            <a:stretch>
              <a:fillRect/>
            </a:stretch>
          </p:blipFill>
          <p:spPr>
            <a:xfrm>
              <a:off x="5086350" y="3648075"/>
              <a:ext cx="1838325" cy="695325"/>
            </a:xfrm>
            <a:prstGeom prst="rect">
              <a:avLst/>
            </a:prstGeom>
          </p:spPr>
        </p:pic>
      </p:grpSp>
      <p:sp>
        <p:nvSpPr>
          <p:cNvPr id="9" name="Title 8">
            <a:extLst>
              <a:ext uri="{FF2B5EF4-FFF2-40B4-BE49-F238E27FC236}">
                <a16:creationId xmlns:a16="http://schemas.microsoft.com/office/drawing/2014/main" id="{E473EAF9-0A0E-9F1F-D7CE-A3759E255B47}"/>
              </a:ext>
            </a:extLst>
          </p:cNvPr>
          <p:cNvSpPr>
            <a:spLocks noGrp="1"/>
          </p:cNvSpPr>
          <p:nvPr>
            <p:ph type="title"/>
          </p:nvPr>
        </p:nvSpPr>
        <p:spPr>
          <a:xfrm>
            <a:off x="3886199" y="684689"/>
            <a:ext cx="3980182" cy="607859"/>
          </a:xfrm>
        </p:spPr>
        <p:txBody>
          <a:bodyPr/>
          <a:lstStyle/>
          <a:p>
            <a:pPr algn="ctr"/>
            <a:r>
              <a:rPr lang="en-SG" dirty="0"/>
              <a:t>MTCS-MRMC5</a:t>
            </a:r>
          </a:p>
        </p:txBody>
      </p:sp>
      <p:sp>
        <p:nvSpPr>
          <p:cNvPr id="5" name="object 6">
            <a:extLst>
              <a:ext uri="{FF2B5EF4-FFF2-40B4-BE49-F238E27FC236}">
                <a16:creationId xmlns:a16="http://schemas.microsoft.com/office/drawing/2014/main" id="{DD52F2EC-03AE-4185-3AFD-68DEE055226C}"/>
              </a:ext>
            </a:extLst>
          </p:cNvPr>
          <p:cNvSpPr txBox="1"/>
          <p:nvPr/>
        </p:nvSpPr>
        <p:spPr>
          <a:xfrm>
            <a:off x="2676017" y="2594090"/>
            <a:ext cx="6840886" cy="439223"/>
          </a:xfrm>
          <a:prstGeom prst="rect">
            <a:avLst/>
          </a:prstGeom>
        </p:spPr>
        <p:txBody>
          <a:bodyPr vert="horz" wrap="square" lIns="0" tIns="15875"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spcBef>
                <a:spcPts val="125"/>
              </a:spcBef>
            </a:pPr>
            <a:r>
              <a:rPr lang="en-MY" sz="2750" b="1" spc="15">
                <a:solidFill>
                  <a:srgbClr val="8B1A4A"/>
                </a:solidFill>
                <a:latin typeface="Calibri"/>
                <a:cs typeface="Calibri"/>
              </a:rPr>
              <a:t>Name : CHIA U-MENG </a:t>
            </a:r>
            <a:r>
              <a:rPr lang="en-MY" sz="2750" b="1" spc="15" dirty="0">
                <a:solidFill>
                  <a:srgbClr val="8B1A4A"/>
                </a:solidFill>
                <a:latin typeface="Calibri"/>
                <a:cs typeface="Calibri"/>
              </a:rPr>
              <a:t>ADRIAN (XIE YOUMING)</a:t>
            </a:r>
            <a:endParaRPr lang="en-MY" sz="2750" b="1" spc="15" dirty="0">
              <a:solidFill>
                <a:srgbClr val="8B1A4A"/>
              </a:solidFill>
              <a:latin typeface="Calibri"/>
              <a:ea typeface="Calibri"/>
              <a:cs typeface="Calibri"/>
            </a:endParaRPr>
          </a:p>
        </p:txBody>
      </p:sp>
      <p:sp>
        <p:nvSpPr>
          <p:cNvPr id="6" name="object 6">
            <a:extLst>
              <a:ext uri="{FF2B5EF4-FFF2-40B4-BE49-F238E27FC236}">
                <a16:creationId xmlns:a16="http://schemas.microsoft.com/office/drawing/2014/main" id="{769B0384-B76F-6F08-3D9E-F3E9B48E24F5}"/>
              </a:ext>
            </a:extLst>
          </p:cNvPr>
          <p:cNvSpPr txBox="1"/>
          <p:nvPr/>
        </p:nvSpPr>
        <p:spPr>
          <a:xfrm>
            <a:off x="-4762" y="1291977"/>
            <a:ext cx="12198985" cy="1285608"/>
          </a:xfrm>
          <a:prstGeom prst="rect">
            <a:avLst/>
          </a:prstGeom>
        </p:spPr>
        <p:txBody>
          <a:bodyPr vert="horz" wrap="square" lIns="0" tIns="15875" rIns="0" bIns="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gn="ctr">
              <a:spcBef>
                <a:spcPts val="125"/>
              </a:spcBef>
            </a:pPr>
            <a:r>
              <a:rPr lang="en-SG" sz="2750" b="1" spc="15" dirty="0">
                <a:solidFill>
                  <a:srgbClr val="8B1A4A"/>
                </a:solidFill>
                <a:latin typeface="Calibri"/>
                <a:cs typeface="Calibri"/>
              </a:rPr>
              <a:t>Self-Learning Systems</a:t>
            </a:r>
            <a:endParaRPr lang="en-SG" sz="2750" b="1" spc="15" dirty="0">
              <a:solidFill>
                <a:srgbClr val="8B1A4A"/>
              </a:solidFill>
              <a:latin typeface="Calibri"/>
              <a:ea typeface="Calibri"/>
              <a:cs typeface="Calibri"/>
            </a:endParaRPr>
          </a:p>
          <a:p>
            <a:pPr marL="12700" algn="ctr"/>
            <a:r>
              <a:rPr lang="en-SG" sz="2750" b="1" spc="15" dirty="0">
                <a:solidFill>
                  <a:srgbClr val="8B1A4A"/>
                </a:solidFill>
                <a:latin typeface="Calibri"/>
                <a:cs typeface="Calibri"/>
              </a:rPr>
              <a:t>Campaign-Level Detection of Low-and-Slow Password Spraying at API Login Endpoints Using a Temporal Convolutional Network</a:t>
            </a:r>
            <a:endParaRPr lang="en-SG" dirty="0"/>
          </a:p>
        </p:txBody>
      </p:sp>
    </p:spTree>
    <p:custDataLst>
      <p:tags r:id="rId1"/>
    </p:custData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0058400" cy="685800"/>
          </a:xfrm>
          <a:prstGeom prst="rect">
            <a:avLst/>
          </a:prstGeom>
          <a:noFill/>
        </p:spPr>
        <p:txBody>
          <a:bodyPr wrap="square" lIns="45720" rIns="45720" tIns="27432" bIns="27432" anchor="ctr">
            <a:spAutoFit/>
          </a:bodyPr>
          <a:lstStyle/>
          <a:p>
            <a:pPr algn="l"/>
            <a:r>
              <a:rPr sz="3000" b="1" i="0">
                <a:solidFill>
                  <a:srgbClr val="8B1A4A"/>
                </a:solidFill>
                <a:latin typeface="Calibri"/>
              </a:rPr>
              <a:t>The quiet burglar</a:t>
            </a:r>
          </a:p>
        </p:txBody>
      </p:sp>
      <p:sp>
        <p:nvSpPr>
          <p:cNvPr id="3" name="TextBox 2"/>
          <p:cNvSpPr txBox="1"/>
          <p:nvPr/>
        </p:nvSpPr>
        <p:spPr>
          <a:xfrm>
            <a:off x="521207" y="841248"/>
            <a:ext cx="11155680" cy="411480"/>
          </a:xfrm>
          <a:prstGeom prst="rect">
            <a:avLst/>
          </a:prstGeom>
          <a:noFill/>
        </p:spPr>
        <p:txBody>
          <a:bodyPr wrap="square" lIns="45720" rIns="45720" tIns="27432" bIns="27432" anchor="t">
            <a:spAutoFit/>
          </a:bodyPr>
          <a:lstStyle/>
          <a:p>
            <a:pPr algn="l"/>
            <a:r>
              <a:rPr sz="1700" b="0" i="0">
                <a:solidFill>
                  <a:srgbClr val="6B6B6B"/>
                </a:solidFill>
                <a:latin typeface="Calibri"/>
              </a:rPr>
              <a:t>Would your alarm go off?</a:t>
            </a:r>
          </a:p>
        </p:txBody>
      </p:sp>
      <p:sp>
        <p:nvSpPr>
          <p:cNvPr id="4" name="Rounded Rectangle 3"/>
          <p:cNvSpPr/>
          <p:nvPr/>
        </p:nvSpPr>
        <p:spPr>
          <a:xfrm>
            <a:off x="10561320" y="329184"/>
            <a:ext cx="1417320" cy="384048"/>
          </a:xfrm>
          <a:prstGeom prst="roundRect">
            <a:avLst>
              <a:gd name="adj" fmla="val 8000"/>
            </a:avLst>
          </a:prstGeom>
          <a:solidFill>
            <a:srgbClr val="8B1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561320" y="329184"/>
            <a:ext cx="1417320" cy="384048"/>
          </a:xfrm>
          <a:prstGeom prst="rect">
            <a:avLst/>
          </a:prstGeom>
          <a:noFill/>
        </p:spPr>
        <p:txBody>
          <a:bodyPr wrap="square" lIns="45720" rIns="45720" tIns="27432" bIns="27432" anchor="ctr">
            <a:spAutoFit/>
          </a:bodyPr>
          <a:lstStyle/>
          <a:p>
            <a:pPr algn="ctr"/>
            <a:r>
              <a:rPr sz="1200" b="1" i="0">
                <a:solidFill>
                  <a:srgbClr val="FFFFFF"/>
                </a:solidFill>
                <a:latin typeface="Calibri"/>
              </a:rPr>
              <a:t>the quiet burglar</a:t>
            </a:r>
          </a:p>
        </p:txBody>
      </p:sp>
      <p:sp>
        <p:nvSpPr>
          <p:cNvPr id="6" name="TextBox 5"/>
          <p:cNvSpPr txBox="1"/>
          <p:nvPr/>
        </p:nvSpPr>
        <p:spPr>
          <a:xfrm>
            <a:off x="11109960" y="6355080"/>
            <a:ext cx="822960" cy="320040"/>
          </a:xfrm>
          <a:prstGeom prst="rect">
            <a:avLst/>
          </a:prstGeom>
          <a:noFill/>
        </p:spPr>
        <p:txBody>
          <a:bodyPr wrap="square" lIns="45720" rIns="45720" tIns="27432" bIns="27432" anchor="ctr">
            <a:spAutoFit/>
          </a:bodyPr>
          <a:lstStyle/>
          <a:p>
            <a:pPr algn="r"/>
            <a:r>
              <a:rPr sz="1200" b="0" i="0">
                <a:solidFill>
                  <a:srgbClr val="6B6B6B"/>
                </a:solidFill>
                <a:latin typeface="Calibri"/>
              </a:rPr>
              <a:t>2</a:t>
            </a:r>
          </a:p>
        </p:txBody>
      </p:sp>
      <p:pic>
        <p:nvPicPr>
          <p:cNvPr id="7" name="Picture 6" descr="v1_quiet_burglar.png"/>
          <p:cNvPicPr>
            <a:picLocks noChangeAspect="1"/>
          </p:cNvPicPr>
          <p:nvPr/>
        </p:nvPicPr>
        <p:blipFill>
          <a:blip r:embed="rId2"/>
          <a:stretch>
            <a:fillRect/>
          </a:stretch>
        </p:blipFill>
        <p:spPr>
          <a:xfrm>
            <a:off x="1322733" y="1280160"/>
            <a:ext cx="9516052" cy="4206240"/>
          </a:xfrm>
          <a:prstGeom prst="rect">
            <a:avLst/>
          </a:prstGeom>
        </p:spPr>
      </p:pic>
      <p:sp>
        <p:nvSpPr>
          <p:cNvPr id="8" name="TextBox 7"/>
          <p:cNvSpPr txBox="1"/>
          <p:nvPr/>
        </p:nvSpPr>
        <p:spPr>
          <a:xfrm>
            <a:off x="1920240" y="5532120"/>
            <a:ext cx="9692640" cy="502920"/>
          </a:xfrm>
          <a:prstGeom prst="rect">
            <a:avLst/>
          </a:prstGeom>
          <a:noFill/>
        </p:spPr>
        <p:txBody>
          <a:bodyPr wrap="square" lIns="45720" rIns="45720" tIns="27432" bIns="27432" anchor="t">
            <a:spAutoFit/>
          </a:bodyPr>
          <a:lstStyle/>
          <a:p>
            <a:pPr algn="ctr"/>
            <a:r>
              <a:rPr sz="1900" b="1" i="0">
                <a:solidFill>
                  <a:srgbClr val="8B1A4A"/>
                </a:solidFill>
                <a:latin typeface="Calibri"/>
              </a:rPr>
              <a:t>Low-and-slow password spraying: </a:t>
            </a:r>
            <a:r>
              <a:rPr sz="1900" b="0" i="0">
                <a:solidFill>
                  <a:srgbClr val="2B2B2B"/>
                </a:solidFill>
                <a:latin typeface="Calibri"/>
              </a:rPr>
              <a:t>every IP and every account stays under every limit</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338560" cy="685800"/>
          </a:xfrm>
          <a:prstGeom prst="rect">
            <a:avLst/>
          </a:prstGeom>
          <a:noFill/>
        </p:spPr>
        <p:txBody>
          <a:bodyPr wrap="square" lIns="45720" rIns="45720" tIns="27432" bIns="27432" anchor="ctr">
            <a:spAutoFit/>
          </a:bodyPr>
          <a:lstStyle/>
          <a:p>
            <a:pPr algn="l"/>
            <a:r>
              <a:rPr sz="3000" b="1" i="0">
                <a:solidFill>
                  <a:srgbClr val="8B1A4A"/>
                </a:solidFill>
                <a:latin typeface="Calibri"/>
              </a:rPr>
              <a:t>Why this matters</a:t>
            </a:r>
          </a:p>
        </p:txBody>
      </p:sp>
      <p:sp>
        <p:nvSpPr>
          <p:cNvPr id="3" name="TextBox 2"/>
          <p:cNvSpPr txBox="1"/>
          <p:nvPr/>
        </p:nvSpPr>
        <p:spPr>
          <a:xfrm>
            <a:off x="521207" y="841248"/>
            <a:ext cx="11155680" cy="411480"/>
          </a:xfrm>
          <a:prstGeom prst="rect">
            <a:avLst/>
          </a:prstGeom>
          <a:noFill/>
        </p:spPr>
        <p:txBody>
          <a:bodyPr wrap="square" lIns="45720" rIns="45720" tIns="27432" bIns="27432" anchor="t">
            <a:spAutoFit/>
          </a:bodyPr>
          <a:lstStyle/>
          <a:p>
            <a:pPr algn="l"/>
            <a:r>
              <a:rPr sz="1700" b="0" i="0">
                <a:solidFill>
                  <a:srgbClr val="6B6B6B"/>
                </a:solidFill>
                <a:latin typeface="Calibri"/>
              </a:rPr>
              <a:t>Credential attacks are common, and this one is built to stay quiet</a:t>
            </a:r>
          </a:p>
        </p:txBody>
      </p:sp>
      <p:sp>
        <p:nvSpPr>
          <p:cNvPr id="4" name="TextBox 3"/>
          <p:cNvSpPr txBox="1"/>
          <p:nvPr/>
        </p:nvSpPr>
        <p:spPr>
          <a:xfrm>
            <a:off x="1965960" y="6327648"/>
            <a:ext cx="8778240" cy="365760"/>
          </a:xfrm>
          <a:prstGeom prst="rect">
            <a:avLst/>
          </a:prstGeom>
          <a:noFill/>
        </p:spPr>
        <p:txBody>
          <a:bodyPr wrap="square" lIns="45720" rIns="45720" tIns="27432" bIns="27432" anchor="ctr">
            <a:spAutoFit/>
          </a:bodyPr>
          <a:lstStyle/>
          <a:p>
            <a:pPr algn="l"/>
            <a:r>
              <a:rPr sz="1050" b="0" i="0">
                <a:solidFill>
                  <a:srgbClr val="6B6B6B"/>
                </a:solidFill>
                <a:latin typeface="Calibri"/>
              </a:rPr>
              <a:t>Sources: Verizon 2025 DBIR research [8]; Verizon 2026 DBIR, p. 16 [9]; Akamai 2026 [10]; MITRE ATT&amp;CK T1110.003 [1]; OWASP OAT-007 [14]</a:t>
            </a:r>
          </a:p>
        </p:txBody>
      </p:sp>
      <p:sp>
        <p:nvSpPr>
          <p:cNvPr id="5" name="TextBox 4"/>
          <p:cNvSpPr txBox="1"/>
          <p:nvPr/>
        </p:nvSpPr>
        <p:spPr>
          <a:xfrm>
            <a:off x="11109960" y="6355080"/>
            <a:ext cx="822960" cy="320040"/>
          </a:xfrm>
          <a:prstGeom prst="rect">
            <a:avLst/>
          </a:prstGeom>
          <a:noFill/>
        </p:spPr>
        <p:txBody>
          <a:bodyPr wrap="square" lIns="45720" rIns="45720" tIns="27432" bIns="27432" anchor="ctr">
            <a:spAutoFit/>
          </a:bodyPr>
          <a:lstStyle/>
          <a:p>
            <a:pPr algn="r"/>
            <a:r>
              <a:rPr sz="1200" b="0" i="0">
                <a:solidFill>
                  <a:srgbClr val="6B6B6B"/>
                </a:solidFill>
                <a:latin typeface="Calibri"/>
              </a:rPr>
              <a:t>3</a:t>
            </a:r>
          </a:p>
        </p:txBody>
      </p:sp>
      <p:sp>
        <p:nvSpPr>
          <p:cNvPr id="6" name="Rounded Rectangle 5"/>
          <p:cNvSpPr/>
          <p:nvPr/>
        </p:nvSpPr>
        <p:spPr>
          <a:xfrm>
            <a:off x="685800" y="1600200"/>
            <a:ext cx="3429000" cy="2331720"/>
          </a:xfrm>
          <a:prstGeom prst="roundRect">
            <a:avLst>
              <a:gd name="adj" fmla="val 8000"/>
            </a:avLst>
          </a:prstGeom>
          <a:solidFill>
            <a:srgbClr val="F6ECF0"/>
          </a:solidFill>
          <a:ln w="19050">
            <a:solidFill>
              <a:srgbClr val="8B1A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73352"/>
            <a:ext cx="3246120" cy="1165860"/>
          </a:xfrm>
          <a:prstGeom prst="rect">
            <a:avLst/>
          </a:prstGeom>
          <a:noFill/>
        </p:spPr>
        <p:txBody>
          <a:bodyPr wrap="square" lIns="45720" rIns="45720" tIns="27432" bIns="27432" anchor="ctr">
            <a:spAutoFit/>
          </a:bodyPr>
          <a:lstStyle/>
          <a:p>
            <a:pPr algn="ctr"/>
            <a:r>
              <a:rPr sz="5400" b="1" i="0">
                <a:solidFill>
                  <a:srgbClr val="8B1A4A"/>
                </a:solidFill>
                <a:latin typeface="Calibri"/>
              </a:rPr>
              <a:t>22%</a:t>
            </a:r>
          </a:p>
        </p:txBody>
      </p:sp>
      <p:sp>
        <p:nvSpPr>
          <p:cNvPr id="8" name="TextBox 7"/>
          <p:cNvSpPr txBox="1"/>
          <p:nvPr/>
        </p:nvSpPr>
        <p:spPr>
          <a:xfrm>
            <a:off x="795528" y="2812694"/>
            <a:ext cx="3209544" cy="1072591"/>
          </a:xfrm>
          <a:prstGeom prst="rect">
            <a:avLst/>
          </a:prstGeom>
          <a:noFill/>
        </p:spPr>
        <p:txBody>
          <a:bodyPr wrap="square" lIns="45720" rIns="45720" tIns="27432" bIns="27432" anchor="t">
            <a:spAutoFit/>
          </a:bodyPr>
          <a:lstStyle/>
          <a:p>
            <a:pPr algn="ctr"/>
            <a:r>
              <a:rPr sz="1700" b="0" i="0">
                <a:solidFill>
                  <a:srgbClr val="2B2B2B"/>
                </a:solidFill>
                <a:latin typeface="Calibri"/>
              </a:rPr>
              <a:t>of breaches examined: stolen credentials were the way in (2025 DBIR research)</a:t>
            </a:r>
          </a:p>
        </p:txBody>
      </p:sp>
      <p:sp>
        <p:nvSpPr>
          <p:cNvPr id="9" name="Rounded Rectangle 8"/>
          <p:cNvSpPr/>
          <p:nvPr/>
        </p:nvSpPr>
        <p:spPr>
          <a:xfrm>
            <a:off x="4389120" y="1600200"/>
            <a:ext cx="3429000" cy="2331720"/>
          </a:xfrm>
          <a:prstGeom prst="roundRect">
            <a:avLst>
              <a:gd name="adj" fmla="val 8000"/>
            </a:avLst>
          </a:prstGeom>
          <a:solidFill>
            <a:srgbClr val="F6ECF0"/>
          </a:solidFill>
          <a:ln w="19050">
            <a:solidFill>
              <a:srgbClr val="8B1A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480559" y="1673352"/>
            <a:ext cx="3246120" cy="1165860"/>
          </a:xfrm>
          <a:prstGeom prst="rect">
            <a:avLst/>
          </a:prstGeom>
          <a:noFill/>
        </p:spPr>
        <p:txBody>
          <a:bodyPr wrap="square" lIns="45720" rIns="45720" tIns="27432" bIns="27432" anchor="ctr">
            <a:spAutoFit/>
          </a:bodyPr>
          <a:lstStyle/>
          <a:p>
            <a:pPr algn="ctr"/>
            <a:r>
              <a:rPr sz="5400" b="1" i="0">
                <a:solidFill>
                  <a:srgbClr val="8B1A4A"/>
                </a:solidFill>
                <a:latin typeface="Calibri"/>
              </a:rPr>
              <a:t>39%</a:t>
            </a:r>
          </a:p>
        </p:txBody>
      </p:sp>
      <p:sp>
        <p:nvSpPr>
          <p:cNvPr id="11" name="TextBox 10"/>
          <p:cNvSpPr txBox="1"/>
          <p:nvPr/>
        </p:nvSpPr>
        <p:spPr>
          <a:xfrm>
            <a:off x="4498848" y="2812694"/>
            <a:ext cx="3209544" cy="1072591"/>
          </a:xfrm>
          <a:prstGeom prst="rect">
            <a:avLst/>
          </a:prstGeom>
          <a:noFill/>
        </p:spPr>
        <p:txBody>
          <a:bodyPr wrap="square" lIns="45720" rIns="45720" tIns="27432" bIns="27432" anchor="t">
            <a:spAutoFit/>
          </a:bodyPr>
          <a:lstStyle/>
          <a:p>
            <a:pPr algn="ctr"/>
            <a:r>
              <a:rPr sz="1700" b="0" i="0">
                <a:solidFill>
                  <a:srgbClr val="2B2B2B"/>
                </a:solidFill>
                <a:latin typeface="Calibri"/>
              </a:rPr>
              <a:t>of breaches involve credential abuse at some stage (2026 DBIR)</a:t>
            </a:r>
          </a:p>
        </p:txBody>
      </p:sp>
      <p:sp>
        <p:nvSpPr>
          <p:cNvPr id="12" name="Rounded Rectangle 11"/>
          <p:cNvSpPr/>
          <p:nvPr/>
        </p:nvSpPr>
        <p:spPr>
          <a:xfrm>
            <a:off x="8092440" y="1600200"/>
            <a:ext cx="3429000" cy="2331720"/>
          </a:xfrm>
          <a:prstGeom prst="roundRect">
            <a:avLst>
              <a:gd name="adj" fmla="val 8000"/>
            </a:avLst>
          </a:prstGeom>
          <a:solidFill>
            <a:srgbClr val="F6ECF0"/>
          </a:solidFill>
          <a:ln w="19050">
            <a:solidFill>
              <a:srgbClr val="8B1A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183879" y="1673352"/>
            <a:ext cx="3246120" cy="1165860"/>
          </a:xfrm>
          <a:prstGeom prst="rect">
            <a:avLst/>
          </a:prstGeom>
          <a:noFill/>
        </p:spPr>
        <p:txBody>
          <a:bodyPr wrap="square" lIns="45720" rIns="45720" tIns="27432" bIns="27432" anchor="ctr">
            <a:spAutoFit/>
          </a:bodyPr>
          <a:lstStyle/>
          <a:p>
            <a:pPr algn="ctr"/>
            <a:r>
              <a:rPr sz="5400" b="1" i="0">
                <a:solidFill>
                  <a:srgbClr val="8B1A4A"/>
                </a:solidFill>
                <a:latin typeface="Calibri"/>
              </a:rPr>
              <a:t>+113%</a:t>
            </a:r>
          </a:p>
        </p:txBody>
      </p:sp>
      <p:sp>
        <p:nvSpPr>
          <p:cNvPr id="14" name="TextBox 13"/>
          <p:cNvSpPr txBox="1"/>
          <p:nvPr/>
        </p:nvSpPr>
        <p:spPr>
          <a:xfrm>
            <a:off x="8202167" y="2812694"/>
            <a:ext cx="3209544" cy="1072591"/>
          </a:xfrm>
          <a:prstGeom prst="rect">
            <a:avLst/>
          </a:prstGeom>
          <a:noFill/>
        </p:spPr>
        <p:txBody>
          <a:bodyPr wrap="square" lIns="45720" rIns="45720" tIns="27432" bIns="27432" anchor="t">
            <a:spAutoFit/>
          </a:bodyPr>
          <a:lstStyle/>
          <a:p>
            <a:pPr algn="ctr"/>
            <a:r>
              <a:rPr sz="1700" b="0" i="0">
                <a:solidFill>
                  <a:srgbClr val="2B2B2B"/>
                </a:solidFill>
                <a:latin typeface="Calibri"/>
              </a:rPr>
              <a:t>daily API attacks per enterprise in one year (Akamai, 121 → 258)</a:t>
            </a:r>
          </a:p>
        </p:txBody>
      </p:sp>
      <p:sp>
        <p:nvSpPr>
          <p:cNvPr id="15" name="Rounded Rectangle 14"/>
          <p:cNvSpPr/>
          <p:nvPr/>
        </p:nvSpPr>
        <p:spPr>
          <a:xfrm>
            <a:off x="685800" y="4251960"/>
            <a:ext cx="10835640" cy="1691640"/>
          </a:xfrm>
          <a:prstGeom prst="roundRect">
            <a:avLst>
              <a:gd name="adj" fmla="val 8000"/>
            </a:avLst>
          </a:prstGeom>
          <a:solidFill>
            <a:srgbClr val="FFFFFF"/>
          </a:solidFill>
          <a:ln w="12700">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4370832"/>
            <a:ext cx="10424160" cy="1463040"/>
          </a:xfrm>
          <a:prstGeom prst="rect">
            <a:avLst/>
          </a:prstGeom>
          <a:noFill/>
        </p:spPr>
        <p:txBody>
          <a:bodyPr wrap="square" lIns="45720" rIns="45720" tIns="27432" bIns="27432" anchor="t">
            <a:spAutoFit/>
          </a:bodyPr>
          <a:lstStyle/>
          <a:p>
            <a:pPr algn="l"/>
            <a:r>
              <a:rPr sz="2000" b="1" i="0">
                <a:solidFill>
                  <a:srgbClr val="8B1A4A"/>
                </a:solidFill>
                <a:latin typeface="Calibri"/>
              </a:rPr>
              <a:t>Official names for this attack</a:t>
            </a:r>
          </a:p>
          <a:p>
            <a:pPr algn="l">
              <a:spcBef>
                <a:spcPts val="600"/>
              </a:spcBef>
            </a:pPr>
            <a:r>
              <a:rPr sz="1900" b="0" i="0">
                <a:solidFill>
                  <a:srgbClr val="2B2B2B"/>
                </a:solidFill>
                <a:latin typeface="Calibri"/>
              </a:rPr>
              <a:t>MITRE ATT&amp;CK  T1110.003 Password Spraying   ·   OWASP  OAT-007 Credential Cracking</a:t>
            </a:r>
          </a:p>
          <a:p>
            <a:pPr algn="l">
              <a:spcBef>
                <a:spcPts val="800"/>
              </a:spcBef>
            </a:pPr>
            <a:r>
              <a:rPr sz="1800" b="0" i="1">
                <a:solidFill>
                  <a:srgbClr val="6B6B6B"/>
                </a:solidFill>
                <a:latin typeface="Calibri"/>
              </a:rPr>
              <a:t>MITRE: adversaries may deliberately throttle spraying attempts to avoid triggering alerts.</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338560" cy="685800"/>
          </a:xfrm>
          <a:prstGeom prst="rect">
            <a:avLst/>
          </a:prstGeom>
          <a:noFill/>
        </p:spPr>
        <p:txBody>
          <a:bodyPr wrap="square" lIns="45720" rIns="45720" tIns="27432" bIns="27432" anchor="ctr">
            <a:spAutoFit/>
          </a:bodyPr>
          <a:lstStyle/>
          <a:p>
            <a:pPr algn="l"/>
            <a:r>
              <a:rPr sz="3000" b="1" i="0">
                <a:solidFill>
                  <a:srgbClr val="8B1A4A"/>
                </a:solidFill>
                <a:latin typeface="Calibri"/>
              </a:rPr>
              <a:t>Why rate limits miss it</a:t>
            </a:r>
          </a:p>
        </p:txBody>
      </p:sp>
      <p:sp>
        <p:nvSpPr>
          <p:cNvPr id="3" name="TextBox 2"/>
          <p:cNvSpPr txBox="1"/>
          <p:nvPr/>
        </p:nvSpPr>
        <p:spPr>
          <a:xfrm>
            <a:off x="521207" y="841248"/>
            <a:ext cx="11155680" cy="411480"/>
          </a:xfrm>
          <a:prstGeom prst="rect">
            <a:avLst/>
          </a:prstGeom>
          <a:noFill/>
        </p:spPr>
        <p:txBody>
          <a:bodyPr wrap="square" lIns="45720" rIns="45720" tIns="27432" bIns="27432" anchor="t">
            <a:spAutoFit/>
          </a:bodyPr>
          <a:lstStyle/>
          <a:p>
            <a:pPr algn="l"/>
            <a:r>
              <a:rPr sz="1700" b="0" i="0">
                <a:solidFill>
                  <a:srgbClr val="6B6B6B"/>
                </a:solidFill>
                <a:latin typeface="Calibri"/>
              </a:rPr>
              <a:t>A per-IP limit caps each address, never the number of addresses</a:t>
            </a:r>
          </a:p>
        </p:txBody>
      </p:sp>
      <p:sp>
        <p:nvSpPr>
          <p:cNvPr id="4" name="TextBox 3"/>
          <p:cNvSpPr txBox="1"/>
          <p:nvPr/>
        </p:nvSpPr>
        <p:spPr>
          <a:xfrm>
            <a:off x="1965960" y="6327648"/>
            <a:ext cx="8778240" cy="365760"/>
          </a:xfrm>
          <a:prstGeom prst="rect">
            <a:avLst/>
          </a:prstGeom>
          <a:noFill/>
        </p:spPr>
        <p:txBody>
          <a:bodyPr wrap="square" lIns="45720" rIns="45720" tIns="27432" bIns="27432" anchor="ctr">
            <a:spAutoFit/>
          </a:bodyPr>
          <a:lstStyle/>
          <a:p>
            <a:pPr algn="l"/>
            <a:r>
              <a:rPr sz="1050" b="0" i="0">
                <a:solidFill>
                  <a:srgbClr val="6B6B6B"/>
                </a:solidFill>
                <a:latin typeface="Calibri"/>
              </a:rPr>
              <a:t>Figure 1 of the thesis (ch.1.1); OWASP Credential Stuffing Prevention Cheat Sheet [4]</a:t>
            </a:r>
          </a:p>
        </p:txBody>
      </p:sp>
      <p:sp>
        <p:nvSpPr>
          <p:cNvPr id="5" name="TextBox 4"/>
          <p:cNvSpPr txBox="1"/>
          <p:nvPr/>
        </p:nvSpPr>
        <p:spPr>
          <a:xfrm>
            <a:off x="11109960" y="6355080"/>
            <a:ext cx="822960" cy="320040"/>
          </a:xfrm>
          <a:prstGeom prst="rect">
            <a:avLst/>
          </a:prstGeom>
          <a:noFill/>
        </p:spPr>
        <p:txBody>
          <a:bodyPr wrap="square" lIns="45720" rIns="45720" tIns="27432" bIns="27432" anchor="ctr">
            <a:spAutoFit/>
          </a:bodyPr>
          <a:lstStyle/>
          <a:p>
            <a:pPr algn="r"/>
            <a:r>
              <a:rPr sz="1200" b="0" i="0">
                <a:solidFill>
                  <a:srgbClr val="6B6B6B"/>
                </a:solidFill>
                <a:latin typeface="Calibri"/>
              </a:rPr>
              <a:t>4</a:t>
            </a:r>
          </a:p>
        </p:txBody>
      </p:sp>
      <p:pic>
        <p:nvPicPr>
          <p:cNvPr id="6" name="Picture 5" descr="fig_rate_limit_evasion_plane.png"/>
          <p:cNvPicPr>
            <a:picLocks noChangeAspect="1"/>
          </p:cNvPicPr>
          <p:nvPr/>
        </p:nvPicPr>
        <p:blipFill>
          <a:blip r:embed="rId2"/>
          <a:stretch>
            <a:fillRect/>
          </a:stretch>
        </p:blipFill>
        <p:spPr>
          <a:xfrm>
            <a:off x="502920" y="1617083"/>
            <a:ext cx="6583680" cy="4309632"/>
          </a:xfrm>
          <a:prstGeom prst="rect">
            <a:avLst/>
          </a:prstGeom>
        </p:spPr>
      </p:pic>
      <p:sp>
        <p:nvSpPr>
          <p:cNvPr id="7" name="Rounded Rectangle 6"/>
          <p:cNvSpPr/>
          <p:nvPr/>
        </p:nvSpPr>
        <p:spPr>
          <a:xfrm>
            <a:off x="7315200" y="1463040"/>
            <a:ext cx="4389120" cy="1033271"/>
          </a:xfrm>
          <a:prstGeom prst="roundRect">
            <a:avLst>
              <a:gd name="adj" fmla="val 8000"/>
            </a:avLst>
          </a:prstGeom>
          <a:solidFill>
            <a:srgbClr val="F6ECF0"/>
          </a:solidFill>
          <a:ln w="12700">
            <a:solidFill>
              <a:srgbClr val="8B1A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452360" y="1517904"/>
            <a:ext cx="4160520" cy="960120"/>
          </a:xfrm>
          <a:prstGeom prst="rect">
            <a:avLst/>
          </a:prstGeom>
          <a:noFill/>
        </p:spPr>
        <p:txBody>
          <a:bodyPr wrap="square" lIns="45720" rIns="45720" tIns="27432" bIns="27432" anchor="t">
            <a:spAutoFit/>
          </a:bodyPr>
          <a:lstStyle/>
          <a:p>
            <a:pPr algn="l"/>
            <a:r>
              <a:rPr sz="1700" b="1" i="0">
                <a:solidFill>
                  <a:srgbClr val="8B1A4A"/>
                </a:solidFill>
                <a:latin typeface="Calibri"/>
              </a:rPr>
              <a:t>Total attack speed = requests per IP × number of IPs</a:t>
            </a:r>
          </a:p>
          <a:p>
            <a:pPr algn="l"/>
            <a:r>
              <a:rPr sz="1500" b="0" i="0">
                <a:solidFill>
                  <a:srgbClr val="2B2B2B"/>
                </a:solidFill>
                <a:latin typeface="Calibri"/>
              </a:rPr>
              <a:t>The limit (red) fixes only the first factor.</a:t>
            </a:r>
          </a:p>
        </p:txBody>
      </p:sp>
      <p:sp>
        <p:nvSpPr>
          <p:cNvPr id="9" name="Rounded Rectangle 8"/>
          <p:cNvSpPr/>
          <p:nvPr/>
        </p:nvSpPr>
        <p:spPr>
          <a:xfrm>
            <a:off x="7315200" y="2624328"/>
            <a:ext cx="4389120" cy="1033271"/>
          </a:xfrm>
          <a:prstGeom prst="roundRect">
            <a:avLst>
              <a:gd name="adj" fmla="val 8000"/>
            </a:avLst>
          </a:prstGeom>
          <a:solidFill>
            <a:srgbClr val="FFFFFF"/>
          </a:solidFill>
          <a:ln w="12700">
            <a:solidFill>
              <a:srgbClr val="8B1A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452360" y="2679191"/>
            <a:ext cx="4160520" cy="960120"/>
          </a:xfrm>
          <a:prstGeom prst="rect">
            <a:avLst/>
          </a:prstGeom>
          <a:noFill/>
        </p:spPr>
        <p:txBody>
          <a:bodyPr wrap="square" lIns="45720" rIns="45720" tIns="27432" bIns="27432" anchor="t">
            <a:spAutoFit/>
          </a:bodyPr>
          <a:lstStyle/>
          <a:p>
            <a:pPr algn="l"/>
            <a:r>
              <a:rPr sz="1700" b="1" i="0">
                <a:solidFill>
                  <a:srgbClr val="8B1A4A"/>
                </a:solidFill>
                <a:latin typeface="Calibri"/>
              </a:rPr>
              <a:t>More speed? Add IP addresses</a:t>
            </a:r>
          </a:p>
          <a:p>
            <a:pPr algn="l"/>
            <a:r>
              <a:rPr sz="1500" b="0" i="0">
                <a:solidFill>
                  <a:srgbClr val="2B2B2B"/>
                </a:solidFill>
                <a:latin typeface="Calibri"/>
              </a:rPr>
              <a:t>Each address stays under the quota.</a:t>
            </a:r>
          </a:p>
        </p:txBody>
      </p:sp>
      <p:sp>
        <p:nvSpPr>
          <p:cNvPr id="11" name="Rounded Rectangle 10"/>
          <p:cNvSpPr/>
          <p:nvPr/>
        </p:nvSpPr>
        <p:spPr>
          <a:xfrm>
            <a:off x="7315200" y="3785616"/>
            <a:ext cx="4389120" cy="1033271"/>
          </a:xfrm>
          <a:prstGeom prst="roundRect">
            <a:avLst>
              <a:gd name="adj" fmla="val 8000"/>
            </a:avLst>
          </a:prstGeom>
          <a:solidFill>
            <a:srgbClr val="F6ECF0"/>
          </a:solidFill>
          <a:ln w="12700">
            <a:solidFill>
              <a:srgbClr val="8B1A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452360" y="3840480"/>
            <a:ext cx="4160520" cy="960120"/>
          </a:xfrm>
          <a:prstGeom prst="rect">
            <a:avLst/>
          </a:prstGeom>
          <a:noFill/>
        </p:spPr>
        <p:txBody>
          <a:bodyPr wrap="square" lIns="45720" rIns="45720" tIns="27432" bIns="27432" anchor="t">
            <a:spAutoFit/>
          </a:bodyPr>
          <a:lstStyle/>
          <a:p>
            <a:pPr algn="l"/>
            <a:r>
              <a:rPr sz="1700" b="1" i="0">
                <a:solidFill>
                  <a:srgbClr val="8B1A4A"/>
                </a:solidFill>
                <a:latin typeface="Calibri"/>
              </a:rPr>
              <a:t>Account lockout fails too</a:t>
            </a:r>
          </a:p>
          <a:p>
            <a:pPr algn="l"/>
            <a:r>
              <a:rPr sz="1500" b="0" i="0">
                <a:solidFill>
                  <a:srgbClr val="2B2B2B"/>
                </a:solidFill>
                <a:latin typeface="Calibri"/>
              </a:rPr>
              <a:t>Spraying touches each account only occasionally.</a:t>
            </a:r>
          </a:p>
        </p:txBody>
      </p:sp>
      <p:sp>
        <p:nvSpPr>
          <p:cNvPr id="13" name="Rounded Rectangle 12"/>
          <p:cNvSpPr/>
          <p:nvPr/>
        </p:nvSpPr>
        <p:spPr>
          <a:xfrm>
            <a:off x="7315200" y="4946904"/>
            <a:ext cx="4389120" cy="1033271"/>
          </a:xfrm>
          <a:prstGeom prst="roundRect">
            <a:avLst>
              <a:gd name="adj" fmla="val 8000"/>
            </a:avLst>
          </a:prstGeom>
          <a:solidFill>
            <a:srgbClr val="FFFFFF"/>
          </a:solidFill>
          <a:ln w="12700">
            <a:solidFill>
              <a:srgbClr val="8B1A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452360" y="5001768"/>
            <a:ext cx="4160520" cy="960120"/>
          </a:xfrm>
          <a:prstGeom prst="rect">
            <a:avLst/>
          </a:prstGeom>
          <a:noFill/>
        </p:spPr>
        <p:txBody>
          <a:bodyPr wrap="square" lIns="45720" rIns="45720" tIns="27432" bIns="27432" anchor="t">
            <a:spAutoFit/>
          </a:bodyPr>
          <a:lstStyle/>
          <a:p>
            <a:pPr algn="l"/>
            <a:r>
              <a:rPr sz="1700" b="1" i="0">
                <a:solidFill>
                  <a:srgbClr val="8B1A4A"/>
                </a:solidFill>
                <a:latin typeface="Calibri"/>
              </a:rPr>
              <a:t>OWASP's own warning</a:t>
            </a:r>
          </a:p>
          <a:p>
            <a:pPr algn="l"/>
            <a:r>
              <a:rPr sz="1500" b="0" i="0">
                <a:solidFill>
                  <a:srgbClr val="2B2B2B"/>
                </a:solidFill>
                <a:latin typeface="Calibri"/>
              </a:rPr>
              <a:t>IP-based blocking is easy to circumvent; do not rely on it alone.</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0058400" cy="685800"/>
          </a:xfrm>
          <a:prstGeom prst="rect">
            <a:avLst/>
          </a:prstGeom>
          <a:noFill/>
        </p:spPr>
        <p:txBody>
          <a:bodyPr wrap="square" lIns="45720" rIns="45720" tIns="27432" bIns="27432" anchor="ctr">
            <a:spAutoFit/>
          </a:bodyPr>
          <a:lstStyle/>
          <a:p>
            <a:pPr algn="l"/>
            <a:r>
              <a:rPr sz="3000" b="1" i="0">
                <a:solidFill>
                  <a:srgbClr val="8B1A4A"/>
                </a:solidFill>
                <a:latin typeface="Calibri"/>
              </a:rPr>
              <a:t>The idea: watch the crowd, not the person</a:t>
            </a:r>
          </a:p>
        </p:txBody>
      </p:sp>
      <p:sp>
        <p:nvSpPr>
          <p:cNvPr id="3" name="Rounded Rectangle 2"/>
          <p:cNvSpPr/>
          <p:nvPr/>
        </p:nvSpPr>
        <p:spPr>
          <a:xfrm>
            <a:off x="10561320" y="329184"/>
            <a:ext cx="1417320" cy="384048"/>
          </a:xfrm>
          <a:prstGeom prst="roundRect">
            <a:avLst>
              <a:gd name="adj" fmla="val 8000"/>
            </a:avLst>
          </a:prstGeom>
          <a:solidFill>
            <a:srgbClr val="8B1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561320" y="329184"/>
            <a:ext cx="1417320" cy="384048"/>
          </a:xfrm>
          <a:prstGeom prst="rect">
            <a:avLst/>
          </a:prstGeom>
          <a:noFill/>
        </p:spPr>
        <p:txBody>
          <a:bodyPr wrap="square" lIns="45720" rIns="45720" tIns="27432" bIns="27432" anchor="ctr">
            <a:spAutoFit/>
          </a:bodyPr>
          <a:lstStyle/>
          <a:p>
            <a:pPr algn="ctr"/>
            <a:r>
              <a:rPr sz="1200" b="1" i="0">
                <a:solidFill>
                  <a:srgbClr val="FFFFFF"/>
                </a:solidFill>
                <a:latin typeface="Calibri"/>
              </a:rPr>
              <a:t>the quiet burglar</a:t>
            </a:r>
          </a:p>
        </p:txBody>
      </p:sp>
      <p:sp>
        <p:nvSpPr>
          <p:cNvPr id="5" name="TextBox 4"/>
          <p:cNvSpPr txBox="1"/>
          <p:nvPr/>
        </p:nvSpPr>
        <p:spPr>
          <a:xfrm>
            <a:off x="1965960" y="6327648"/>
            <a:ext cx="8778240" cy="365760"/>
          </a:xfrm>
          <a:prstGeom prst="rect">
            <a:avLst/>
          </a:prstGeom>
          <a:noFill/>
        </p:spPr>
        <p:txBody>
          <a:bodyPr wrap="square" lIns="45720" rIns="45720" tIns="27432" bIns="27432" anchor="ctr">
            <a:spAutoFit/>
          </a:bodyPr>
          <a:lstStyle/>
          <a:p>
            <a:pPr algn="l"/>
            <a:r>
              <a:rPr sz="1050" b="0" i="0">
                <a:solidFill>
                  <a:srgbClr val="6B6B6B"/>
                </a:solidFill>
                <a:latin typeface="Calibri"/>
              </a:rPr>
              <a:t>Left: illustration from the testbed configuration (Table 1). Right: the Chaotic Dataset, real minute-level data.</a:t>
            </a:r>
          </a:p>
        </p:txBody>
      </p:sp>
      <p:sp>
        <p:nvSpPr>
          <p:cNvPr id="6" name="TextBox 5"/>
          <p:cNvSpPr txBox="1"/>
          <p:nvPr/>
        </p:nvSpPr>
        <p:spPr>
          <a:xfrm>
            <a:off x="11109960" y="6355080"/>
            <a:ext cx="822960" cy="320040"/>
          </a:xfrm>
          <a:prstGeom prst="rect">
            <a:avLst/>
          </a:prstGeom>
          <a:noFill/>
        </p:spPr>
        <p:txBody>
          <a:bodyPr wrap="square" lIns="45720" rIns="45720" tIns="27432" bIns="27432" anchor="ctr">
            <a:spAutoFit/>
          </a:bodyPr>
          <a:lstStyle/>
          <a:p>
            <a:pPr algn="r"/>
            <a:r>
              <a:rPr sz="1200" b="0" i="0">
                <a:solidFill>
                  <a:srgbClr val="6B6B6B"/>
                </a:solidFill>
                <a:latin typeface="Calibri"/>
              </a:rPr>
              <a:t>5</a:t>
            </a:r>
          </a:p>
        </p:txBody>
      </p:sp>
      <p:pic>
        <p:nvPicPr>
          <p:cNvPr id="7" name="Picture 6" descr="v2_person_vs_crowd.png"/>
          <p:cNvPicPr>
            <a:picLocks noChangeAspect="1"/>
          </p:cNvPicPr>
          <p:nvPr/>
        </p:nvPicPr>
        <p:blipFill>
          <a:blip r:embed="rId2"/>
          <a:stretch>
            <a:fillRect/>
          </a:stretch>
        </p:blipFill>
        <p:spPr>
          <a:xfrm>
            <a:off x="919901" y="1005840"/>
            <a:ext cx="10321716" cy="4389120"/>
          </a:xfrm>
          <a:prstGeom prst="rect">
            <a:avLst/>
          </a:prstGeom>
        </p:spPr>
      </p:pic>
      <p:sp>
        <p:nvSpPr>
          <p:cNvPr id="8" name="TextBox 7"/>
          <p:cNvSpPr txBox="1"/>
          <p:nvPr/>
        </p:nvSpPr>
        <p:spPr>
          <a:xfrm>
            <a:off x="1920240" y="5486400"/>
            <a:ext cx="9692640" cy="548640"/>
          </a:xfrm>
          <a:prstGeom prst="rect">
            <a:avLst/>
          </a:prstGeom>
          <a:noFill/>
        </p:spPr>
        <p:txBody>
          <a:bodyPr wrap="square" lIns="45720" rIns="45720" tIns="27432" bIns="27432" anchor="t">
            <a:spAutoFit/>
          </a:bodyPr>
          <a:lstStyle/>
          <a:p>
            <a:pPr algn="ctr"/>
            <a:r>
              <a:rPr sz="2000" b="0" i="0">
                <a:solidFill>
                  <a:srgbClr val="2B2B2B"/>
                </a:solidFill>
                <a:latin typeface="Calibri"/>
              </a:rPr>
              <a:t>Add up every login in each minute and ask one question: </a:t>
            </a:r>
            <a:r>
              <a:rPr sz="2000" b="1" i="0">
                <a:solidFill>
                  <a:srgbClr val="8B1A4A"/>
                </a:solidFill>
                <a:latin typeface="Calibri"/>
              </a:rPr>
              <a:t>what share failed?</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338560" cy="685800"/>
          </a:xfrm>
          <a:prstGeom prst="rect">
            <a:avLst/>
          </a:prstGeom>
          <a:noFill/>
        </p:spPr>
        <p:txBody>
          <a:bodyPr wrap="square" lIns="45720" rIns="45720" tIns="27432" bIns="27432" anchor="ctr">
            <a:spAutoFit/>
          </a:bodyPr>
          <a:lstStyle/>
          <a:p>
            <a:pPr algn="l"/>
            <a:r>
              <a:rPr sz="3000" b="1" i="0">
                <a:solidFill>
                  <a:srgbClr val="8B1A4A"/>
                </a:solidFill>
                <a:latin typeface="Calibri"/>
              </a:rPr>
              <a:t>Research question and two claims</a:t>
            </a:r>
          </a:p>
        </p:txBody>
      </p:sp>
      <p:sp>
        <p:nvSpPr>
          <p:cNvPr id="3" name="TextBox 2"/>
          <p:cNvSpPr txBox="1"/>
          <p:nvPr/>
        </p:nvSpPr>
        <p:spPr>
          <a:xfrm>
            <a:off x="11109960" y="6355080"/>
            <a:ext cx="822960" cy="320040"/>
          </a:xfrm>
          <a:prstGeom prst="rect">
            <a:avLst/>
          </a:prstGeom>
          <a:noFill/>
        </p:spPr>
        <p:txBody>
          <a:bodyPr wrap="square" lIns="45720" rIns="45720" tIns="27432" bIns="27432" anchor="ctr">
            <a:spAutoFit/>
          </a:bodyPr>
          <a:lstStyle/>
          <a:p>
            <a:pPr algn="r"/>
            <a:r>
              <a:rPr sz="1200" b="0" i="0">
                <a:solidFill>
                  <a:srgbClr val="6B6B6B"/>
                </a:solidFill>
                <a:latin typeface="Calibri"/>
              </a:rPr>
              <a:t>6</a:t>
            </a:r>
          </a:p>
        </p:txBody>
      </p:sp>
      <p:sp>
        <p:nvSpPr>
          <p:cNvPr id="4" name="Rounded Rectangle 3"/>
          <p:cNvSpPr/>
          <p:nvPr/>
        </p:nvSpPr>
        <p:spPr>
          <a:xfrm>
            <a:off x="685800" y="1234440"/>
            <a:ext cx="10835640" cy="1417320"/>
          </a:xfrm>
          <a:prstGeom prst="roundRect">
            <a:avLst>
              <a:gd name="adj" fmla="val 8000"/>
            </a:avLst>
          </a:prstGeom>
          <a:solidFill>
            <a:srgbClr val="FFFFFF"/>
          </a:solidFill>
          <a:ln w="12700">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1298448"/>
            <a:ext cx="10424160" cy="1325880"/>
          </a:xfrm>
          <a:prstGeom prst="rect">
            <a:avLst/>
          </a:prstGeom>
          <a:noFill/>
        </p:spPr>
        <p:txBody>
          <a:bodyPr wrap="square" lIns="45720" rIns="45720" tIns="27432" bIns="27432" anchor="t">
            <a:spAutoFit/>
          </a:bodyPr>
          <a:lstStyle/>
          <a:p>
            <a:pPr algn="l"/>
            <a:r>
              <a:rPr sz="1700" b="1" i="0">
                <a:solidFill>
                  <a:srgbClr val="8B1A4A"/>
                </a:solidFill>
                <a:latin typeface="Calibri"/>
              </a:rPr>
              <a:t>Thesis statement (short form)</a:t>
            </a:r>
          </a:p>
          <a:p>
            <a:pPr algn="l"/>
            <a:r>
              <a:rPr sz="1700" b="0" i="0">
                <a:solidFill>
                  <a:srgbClr val="2B2B2B"/>
                </a:solidFill>
                <a:latin typeface="Calibri"/>
              </a:rPr>
              <a:t>Per-client rate limits cannot bound a low-and-slow, IP-rotating spray. One-minute campaign-level aggregates make it visible, and a compact TCN learns the campaign-level boundary, carries it to independent traffic and costs almost nothing to run.</a:t>
            </a:r>
          </a:p>
        </p:txBody>
      </p:sp>
      <p:sp>
        <p:nvSpPr>
          <p:cNvPr id="6" name="Rounded Rectangle 5"/>
          <p:cNvSpPr/>
          <p:nvPr/>
        </p:nvSpPr>
        <p:spPr>
          <a:xfrm>
            <a:off x="685800" y="2834640"/>
            <a:ext cx="5303520" cy="1920240"/>
          </a:xfrm>
          <a:prstGeom prst="roundRect">
            <a:avLst>
              <a:gd name="adj" fmla="val 8000"/>
            </a:avLst>
          </a:prstGeom>
          <a:solidFill>
            <a:srgbClr val="F6ECF0"/>
          </a:solidFill>
          <a:ln w="25400">
            <a:solidFill>
              <a:srgbClr val="8B1A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2926080"/>
            <a:ext cx="4937760" cy="1783080"/>
          </a:xfrm>
          <a:prstGeom prst="rect">
            <a:avLst/>
          </a:prstGeom>
          <a:noFill/>
        </p:spPr>
        <p:txBody>
          <a:bodyPr wrap="square" lIns="45720" rIns="45720" tIns="27432" bIns="27432" anchor="t">
            <a:spAutoFit/>
          </a:bodyPr>
          <a:lstStyle/>
          <a:p>
            <a:pPr algn="l"/>
            <a:r>
              <a:rPr sz="2100" b="1" i="0">
                <a:solidFill>
                  <a:srgbClr val="8B1A4A"/>
                </a:solidFill>
                <a:latin typeface="Calibri"/>
              </a:rPr>
              <a:t>Claim 1: fidelity and transfer</a:t>
            </a:r>
          </a:p>
          <a:p>
            <a:pPr algn="l">
              <a:spcBef>
                <a:spcPts val="600"/>
              </a:spcBef>
            </a:pPr>
            <a:r>
              <a:rPr sz="1700" b="0" i="0">
                <a:solidFill>
                  <a:srgbClr val="2B2B2B"/>
                </a:solidFill>
                <a:latin typeface="Calibri"/>
              </a:rPr>
              <a:t>The TCN reproduces the campaign labels on two independent test datasets, including one where the attack–IP relationship is reversed.</a:t>
            </a:r>
          </a:p>
        </p:txBody>
      </p:sp>
      <p:sp>
        <p:nvSpPr>
          <p:cNvPr id="8" name="Rounded Rectangle 7"/>
          <p:cNvSpPr/>
          <p:nvPr/>
        </p:nvSpPr>
        <p:spPr>
          <a:xfrm>
            <a:off x="6217920" y="2834640"/>
            <a:ext cx="5303520" cy="1920240"/>
          </a:xfrm>
          <a:prstGeom prst="roundRect">
            <a:avLst>
              <a:gd name="adj" fmla="val 8000"/>
            </a:avLst>
          </a:prstGeom>
          <a:solidFill>
            <a:srgbClr val="E8F3F5"/>
          </a:solidFill>
          <a:ln w="25400">
            <a:solidFill>
              <a:srgbClr val="2A7F8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0" y="2926080"/>
            <a:ext cx="4937760" cy="1783080"/>
          </a:xfrm>
          <a:prstGeom prst="rect">
            <a:avLst/>
          </a:prstGeom>
          <a:noFill/>
        </p:spPr>
        <p:txBody>
          <a:bodyPr wrap="square" lIns="45720" rIns="45720" tIns="27432" bIns="27432" anchor="t">
            <a:spAutoFit/>
          </a:bodyPr>
          <a:lstStyle/>
          <a:p>
            <a:pPr algn="l"/>
            <a:r>
              <a:rPr sz="2100" b="1" i="0">
                <a:solidFill>
                  <a:srgbClr val="2A7F8E"/>
                </a:solidFill>
                <a:latin typeface="Calibri"/>
              </a:rPr>
              <a:t>Claim 2: cost</a:t>
            </a:r>
          </a:p>
          <a:p>
            <a:pPr algn="l">
              <a:spcBef>
                <a:spcPts val="600"/>
              </a:spcBef>
            </a:pPr>
            <a:r>
              <a:rPr sz="1700" b="0" i="0">
                <a:solidFill>
                  <a:srgbClr val="2B2B2B"/>
                </a:solidFill>
                <a:latin typeface="Calibri"/>
              </a:rPr>
              <a:t>One forward pass is far shorter than the one-minute window on an ordinary CPU, so the gateway overhead is negligible.</a:t>
            </a:r>
          </a:p>
        </p:txBody>
      </p:sp>
      <p:sp>
        <p:nvSpPr>
          <p:cNvPr id="10" name="TextBox 9"/>
          <p:cNvSpPr txBox="1"/>
          <p:nvPr/>
        </p:nvSpPr>
        <p:spPr>
          <a:xfrm>
            <a:off x="822960" y="4937760"/>
            <a:ext cx="10607040" cy="365760"/>
          </a:xfrm>
          <a:prstGeom prst="rect">
            <a:avLst/>
          </a:prstGeom>
          <a:noFill/>
        </p:spPr>
        <p:txBody>
          <a:bodyPr wrap="square" lIns="45720" rIns="45720" tIns="27432" bIns="27432" anchor="t">
            <a:spAutoFit/>
          </a:bodyPr>
          <a:lstStyle/>
          <a:p>
            <a:pPr algn="l"/>
            <a:r>
              <a:rPr sz="1700" b="0" i="0">
                <a:solidFill>
                  <a:srgbClr val="2B2B2B"/>
                </a:solidFill>
                <a:latin typeface="Calibri"/>
              </a:rPr>
              <a:t>RQ1  Does it transfer?  (ch.4.3–4.5)</a:t>
            </a:r>
          </a:p>
        </p:txBody>
      </p:sp>
      <p:sp>
        <p:nvSpPr>
          <p:cNvPr id="11" name="TextBox 10"/>
          <p:cNvSpPr txBox="1"/>
          <p:nvPr/>
        </p:nvSpPr>
        <p:spPr>
          <a:xfrm>
            <a:off x="822960" y="5303520"/>
            <a:ext cx="10607040" cy="365760"/>
          </a:xfrm>
          <a:prstGeom prst="rect">
            <a:avLst/>
          </a:prstGeom>
          <a:noFill/>
        </p:spPr>
        <p:txBody>
          <a:bodyPr wrap="square" lIns="45720" rIns="45720" tIns="27432" bIns="27432" anchor="t">
            <a:spAutoFit/>
          </a:bodyPr>
          <a:lstStyle/>
          <a:p>
            <a:pPr algn="l"/>
            <a:r>
              <a:rPr sz="1700" b="0" i="0">
                <a:solidFill>
                  <a:srgbClr val="2B2B2B"/>
                </a:solidFill>
                <a:latin typeface="Calibri"/>
              </a:rPr>
              <a:t>RQ2  How fast does it alarm, and where does it fail?  (ch.4.7–4.9)</a:t>
            </a:r>
          </a:p>
        </p:txBody>
      </p:sp>
      <p:sp>
        <p:nvSpPr>
          <p:cNvPr id="12" name="TextBox 11"/>
          <p:cNvSpPr txBox="1"/>
          <p:nvPr/>
        </p:nvSpPr>
        <p:spPr>
          <a:xfrm>
            <a:off x="822960" y="5669280"/>
            <a:ext cx="10607040" cy="365760"/>
          </a:xfrm>
          <a:prstGeom prst="rect">
            <a:avLst/>
          </a:prstGeom>
          <a:noFill/>
        </p:spPr>
        <p:txBody>
          <a:bodyPr wrap="square" lIns="45720" rIns="45720" tIns="27432" bIns="27432" anchor="t">
            <a:spAutoFit/>
          </a:bodyPr>
          <a:lstStyle/>
          <a:p>
            <a:pPr algn="l"/>
            <a:r>
              <a:rPr sz="1700" b="0" i="0">
                <a:solidFill>
                  <a:srgbClr val="2B2B2B"/>
                </a:solidFill>
                <a:latin typeface="Calibri"/>
              </a:rPr>
              <a:t>RQ3  What does it cost?  (ch.4.6)</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338560" cy="685800"/>
          </a:xfrm>
          <a:prstGeom prst="rect">
            <a:avLst/>
          </a:prstGeom>
          <a:noFill/>
        </p:spPr>
        <p:txBody>
          <a:bodyPr wrap="square" lIns="45720" rIns="45720" tIns="27432" bIns="27432" anchor="ctr">
            <a:spAutoFit/>
          </a:bodyPr>
          <a:lstStyle/>
          <a:p>
            <a:pPr algn="l"/>
            <a:r>
              <a:rPr sz="3000" b="1" i="0">
                <a:solidFill>
                  <a:srgbClr val="8B1A4A"/>
                </a:solidFill>
                <a:latin typeface="Calibri"/>
              </a:rPr>
              <a:t>The testbed</a:t>
            </a:r>
          </a:p>
        </p:txBody>
      </p:sp>
      <p:sp>
        <p:nvSpPr>
          <p:cNvPr id="3" name="TextBox 2"/>
          <p:cNvSpPr txBox="1"/>
          <p:nvPr/>
        </p:nvSpPr>
        <p:spPr>
          <a:xfrm>
            <a:off x="521207" y="841248"/>
            <a:ext cx="11155680" cy="411480"/>
          </a:xfrm>
          <a:prstGeom prst="rect">
            <a:avLst/>
          </a:prstGeom>
          <a:noFill/>
        </p:spPr>
        <p:txBody>
          <a:bodyPr wrap="square" lIns="45720" rIns="45720" tIns="27432" bIns="27432" anchor="t">
            <a:spAutoFit/>
          </a:bodyPr>
          <a:lstStyle/>
          <a:p>
            <a:pPr algn="l"/>
            <a:r>
              <a:rPr sz="1700" b="0" i="0">
                <a:solidFill>
                  <a:srgbClr val="6B6B6B"/>
                </a:solidFill>
                <a:latin typeface="Calibri"/>
              </a:rPr>
              <a:t>Simulated login traffic against a real HTTPS endpoint</a:t>
            </a:r>
          </a:p>
        </p:txBody>
      </p:sp>
      <p:sp>
        <p:nvSpPr>
          <p:cNvPr id="4" name="TextBox 3"/>
          <p:cNvSpPr txBox="1"/>
          <p:nvPr/>
        </p:nvSpPr>
        <p:spPr>
          <a:xfrm>
            <a:off x="1965960" y="6327648"/>
            <a:ext cx="8778240" cy="365760"/>
          </a:xfrm>
          <a:prstGeom prst="rect">
            <a:avLst/>
          </a:prstGeom>
          <a:noFill/>
        </p:spPr>
        <p:txBody>
          <a:bodyPr wrap="square" lIns="45720" rIns="45720" tIns="27432" bIns="27432" anchor="ctr">
            <a:spAutoFit/>
          </a:bodyPr>
          <a:lstStyle/>
          <a:p>
            <a:pPr algn="l"/>
            <a:r>
              <a:rPr sz="1050" b="0" i="0">
                <a:solidFill>
                  <a:srgbClr val="6B6B6B"/>
                </a:solidFill>
                <a:latin typeface="Calibri"/>
              </a:rPr>
              <a:t>Table 1 of the thesis (ch.3.1); values taken from the traffic generator's source code</a:t>
            </a:r>
          </a:p>
        </p:txBody>
      </p:sp>
      <p:sp>
        <p:nvSpPr>
          <p:cNvPr id="5" name="TextBox 4"/>
          <p:cNvSpPr txBox="1"/>
          <p:nvPr/>
        </p:nvSpPr>
        <p:spPr>
          <a:xfrm>
            <a:off x="11109960" y="6355080"/>
            <a:ext cx="822960" cy="320040"/>
          </a:xfrm>
          <a:prstGeom prst="rect">
            <a:avLst/>
          </a:prstGeom>
          <a:noFill/>
        </p:spPr>
        <p:txBody>
          <a:bodyPr wrap="square" lIns="45720" rIns="45720" tIns="27432" bIns="27432" anchor="ctr">
            <a:spAutoFit/>
          </a:bodyPr>
          <a:lstStyle/>
          <a:p>
            <a:pPr algn="r"/>
            <a:r>
              <a:rPr sz="1200" b="0" i="0">
                <a:solidFill>
                  <a:srgbClr val="6B6B6B"/>
                </a:solidFill>
                <a:latin typeface="Calibri"/>
              </a:rPr>
              <a:t>7</a:t>
            </a:r>
          </a:p>
        </p:txBody>
      </p:sp>
      <p:pic>
        <p:nvPicPr>
          <p:cNvPr id="6" name="Picture 5" descr="v3_testbed.png"/>
          <p:cNvPicPr>
            <a:picLocks noChangeAspect="1"/>
          </p:cNvPicPr>
          <p:nvPr/>
        </p:nvPicPr>
        <p:blipFill>
          <a:blip r:embed="rId2"/>
          <a:stretch>
            <a:fillRect/>
          </a:stretch>
        </p:blipFill>
        <p:spPr>
          <a:xfrm>
            <a:off x="588771" y="1325880"/>
            <a:ext cx="10983977" cy="4160520"/>
          </a:xfrm>
          <a:prstGeom prst="rect">
            <a:avLst/>
          </a:prstGeom>
        </p:spPr>
      </p:pic>
      <p:sp>
        <p:nvSpPr>
          <p:cNvPr id="7" name="Rounded Rectangle 6"/>
          <p:cNvSpPr/>
          <p:nvPr/>
        </p:nvSpPr>
        <p:spPr>
          <a:xfrm>
            <a:off x="2011680" y="5577840"/>
            <a:ext cx="8778240" cy="502920"/>
          </a:xfrm>
          <a:prstGeom prst="roundRect">
            <a:avLst>
              <a:gd name="adj" fmla="val 8000"/>
            </a:avLst>
          </a:prstGeom>
          <a:solidFill>
            <a:srgbClr val="FFFFFF"/>
          </a:solidFill>
          <a:ln w="19050">
            <a:solidFill>
              <a:srgbClr val="EB1C2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011680" y="5577840"/>
            <a:ext cx="8778240" cy="502920"/>
          </a:xfrm>
          <a:prstGeom prst="rect">
            <a:avLst/>
          </a:prstGeom>
          <a:noFill/>
        </p:spPr>
        <p:txBody>
          <a:bodyPr wrap="square" lIns="45720" rIns="45720" tIns="27432" bIns="27432" anchor="ctr">
            <a:spAutoFit/>
          </a:bodyPr>
          <a:lstStyle/>
          <a:p>
            <a:pPr algn="ctr"/>
            <a:r>
              <a:rPr sz="1700" b="0" i="0">
                <a:solidFill>
                  <a:srgbClr val="EB1C23"/>
                </a:solidFill>
                <a:latin typeface="Calibri"/>
              </a:rPr>
              <a:t>Honest caveat: lab-generated traffic, controlled but not production traffic</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338560" cy="685800"/>
          </a:xfrm>
          <a:prstGeom prst="rect">
            <a:avLst/>
          </a:prstGeom>
          <a:noFill/>
        </p:spPr>
        <p:txBody>
          <a:bodyPr wrap="square" lIns="45720" rIns="45720" tIns="27432" bIns="27432" anchor="ctr">
            <a:spAutoFit/>
          </a:bodyPr>
          <a:lstStyle/>
          <a:p>
            <a:pPr algn="l"/>
            <a:r>
              <a:rPr sz="3000" b="1" i="0">
                <a:solidFill>
                  <a:srgbClr val="8B1A4A"/>
                </a:solidFill>
                <a:latin typeface="Calibri"/>
              </a:rPr>
              <a:t>From requests to features</a:t>
            </a:r>
          </a:p>
        </p:txBody>
      </p:sp>
      <p:sp>
        <p:nvSpPr>
          <p:cNvPr id="3" name="TextBox 2"/>
          <p:cNvSpPr txBox="1"/>
          <p:nvPr/>
        </p:nvSpPr>
        <p:spPr>
          <a:xfrm>
            <a:off x="521207" y="841248"/>
            <a:ext cx="11155680" cy="411480"/>
          </a:xfrm>
          <a:prstGeom prst="rect">
            <a:avLst/>
          </a:prstGeom>
          <a:noFill/>
        </p:spPr>
        <p:txBody>
          <a:bodyPr wrap="square" lIns="45720" rIns="45720" tIns="27432" bIns="27432" anchor="t">
            <a:spAutoFit/>
          </a:bodyPr>
          <a:lstStyle/>
          <a:p>
            <a:pPr algn="l"/>
            <a:r>
              <a:rPr sz="1700" b="0" i="0">
                <a:solidFill>
                  <a:srgbClr val="6B6B6B"/>
                </a:solidFill>
                <a:latin typeface="Calibri"/>
              </a:rPr>
              <a:t>Millions of requests become a 10 × 3 table per decision</a:t>
            </a:r>
          </a:p>
        </p:txBody>
      </p:sp>
      <p:sp>
        <p:nvSpPr>
          <p:cNvPr id="4" name="TextBox 3"/>
          <p:cNvSpPr txBox="1"/>
          <p:nvPr/>
        </p:nvSpPr>
        <p:spPr>
          <a:xfrm>
            <a:off x="1965960" y="6327648"/>
            <a:ext cx="8778240" cy="365760"/>
          </a:xfrm>
          <a:prstGeom prst="rect">
            <a:avLst/>
          </a:prstGeom>
          <a:noFill/>
        </p:spPr>
        <p:txBody>
          <a:bodyPr wrap="square" lIns="45720" rIns="45720" tIns="27432" bIns="27432" anchor="ctr">
            <a:spAutoFit/>
          </a:bodyPr>
          <a:lstStyle/>
          <a:p>
            <a:pPr algn="l"/>
            <a:r>
              <a:rPr sz="1050" b="0" i="0">
                <a:solidFill>
                  <a:srgbClr val="6B6B6B"/>
                </a:solidFill>
                <a:latin typeface="Calibri"/>
              </a:rPr>
              <a:t>ch.3.2; JA3 was exactly 1 in all 17,198 windows of all datasets</a:t>
            </a:r>
          </a:p>
        </p:txBody>
      </p:sp>
      <p:sp>
        <p:nvSpPr>
          <p:cNvPr id="5" name="TextBox 4"/>
          <p:cNvSpPr txBox="1"/>
          <p:nvPr/>
        </p:nvSpPr>
        <p:spPr>
          <a:xfrm>
            <a:off x="11109960" y="6355080"/>
            <a:ext cx="822960" cy="320040"/>
          </a:xfrm>
          <a:prstGeom prst="rect">
            <a:avLst/>
          </a:prstGeom>
          <a:noFill/>
        </p:spPr>
        <p:txBody>
          <a:bodyPr wrap="square" lIns="45720" rIns="45720" tIns="27432" bIns="27432" anchor="ctr">
            <a:spAutoFit/>
          </a:bodyPr>
          <a:lstStyle/>
          <a:p>
            <a:pPr algn="r"/>
            <a:r>
              <a:rPr sz="1200" b="0" i="0">
                <a:solidFill>
                  <a:srgbClr val="6B6B6B"/>
                </a:solidFill>
                <a:latin typeface="Calibri"/>
              </a:rPr>
              <a:t>8</a:t>
            </a:r>
          </a:p>
        </p:txBody>
      </p:sp>
      <p:pic>
        <p:nvPicPr>
          <p:cNvPr id="6" name="Picture 5" descr="v4_pipeline.png"/>
          <p:cNvPicPr>
            <a:picLocks noChangeAspect="1"/>
          </p:cNvPicPr>
          <p:nvPr/>
        </p:nvPicPr>
        <p:blipFill>
          <a:blip r:embed="rId2"/>
          <a:stretch>
            <a:fillRect/>
          </a:stretch>
        </p:blipFill>
        <p:spPr>
          <a:xfrm>
            <a:off x="850063" y="1325880"/>
            <a:ext cx="10461393" cy="3383280"/>
          </a:xfrm>
          <a:prstGeom prst="rect">
            <a:avLst/>
          </a:prstGeom>
        </p:spPr>
      </p:pic>
      <p:sp>
        <p:nvSpPr>
          <p:cNvPr id="7" name="Rounded Rectangle 6"/>
          <p:cNvSpPr/>
          <p:nvPr/>
        </p:nvSpPr>
        <p:spPr>
          <a:xfrm>
            <a:off x="1965960" y="4846320"/>
            <a:ext cx="2240280" cy="1188720"/>
          </a:xfrm>
          <a:prstGeom prst="roundRect">
            <a:avLst>
              <a:gd name="adj" fmla="val 8000"/>
            </a:avLst>
          </a:prstGeom>
          <a:solidFill>
            <a:srgbClr val="F6ECF0"/>
          </a:solidFill>
          <a:ln w="19050">
            <a:solidFill>
              <a:srgbClr val="8B1A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057400" y="4919472"/>
            <a:ext cx="2057400" cy="594360"/>
          </a:xfrm>
          <a:prstGeom prst="rect">
            <a:avLst/>
          </a:prstGeom>
          <a:noFill/>
        </p:spPr>
        <p:txBody>
          <a:bodyPr wrap="square" lIns="45720" rIns="45720" tIns="27432" bIns="27432" anchor="ctr">
            <a:spAutoFit/>
          </a:bodyPr>
          <a:lstStyle/>
          <a:p>
            <a:pPr algn="ctr"/>
            <a:r>
              <a:rPr sz="2600" b="1" i="0">
                <a:solidFill>
                  <a:srgbClr val="8B1A4A"/>
                </a:solidFill>
                <a:latin typeface="Calibri"/>
              </a:rPr>
              <a:t>1 minute</a:t>
            </a:r>
          </a:p>
        </p:txBody>
      </p:sp>
      <p:sp>
        <p:nvSpPr>
          <p:cNvPr id="9" name="TextBox 8"/>
          <p:cNvSpPr txBox="1"/>
          <p:nvPr/>
        </p:nvSpPr>
        <p:spPr>
          <a:xfrm>
            <a:off x="2075688" y="5464454"/>
            <a:ext cx="2020824" cy="546811"/>
          </a:xfrm>
          <a:prstGeom prst="rect">
            <a:avLst/>
          </a:prstGeom>
          <a:noFill/>
        </p:spPr>
        <p:txBody>
          <a:bodyPr wrap="square" lIns="45720" rIns="45720" tIns="27432" bIns="27432" anchor="t">
            <a:spAutoFit/>
          </a:bodyPr>
          <a:lstStyle/>
          <a:p>
            <a:pPr algn="ctr"/>
            <a:r>
              <a:rPr sz="1400" b="0" i="0">
                <a:solidFill>
                  <a:srgbClr val="2B2B2B"/>
                </a:solidFill>
                <a:latin typeface="Calibri"/>
              </a:rPr>
              <a:t>window length</a:t>
            </a:r>
          </a:p>
        </p:txBody>
      </p:sp>
      <p:sp>
        <p:nvSpPr>
          <p:cNvPr id="10" name="Rounded Rectangle 9"/>
          <p:cNvSpPr/>
          <p:nvPr/>
        </p:nvSpPr>
        <p:spPr>
          <a:xfrm>
            <a:off x="4434840" y="4846320"/>
            <a:ext cx="2240280" cy="1188720"/>
          </a:xfrm>
          <a:prstGeom prst="roundRect">
            <a:avLst>
              <a:gd name="adj" fmla="val 8000"/>
            </a:avLst>
          </a:prstGeom>
          <a:solidFill>
            <a:srgbClr val="F6ECF0"/>
          </a:solidFill>
          <a:ln w="19050">
            <a:solidFill>
              <a:srgbClr val="8B1A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526279" y="4919472"/>
            <a:ext cx="2057400" cy="594360"/>
          </a:xfrm>
          <a:prstGeom prst="rect">
            <a:avLst/>
          </a:prstGeom>
          <a:noFill/>
        </p:spPr>
        <p:txBody>
          <a:bodyPr wrap="square" lIns="45720" rIns="45720" tIns="27432" bIns="27432" anchor="ctr">
            <a:spAutoFit/>
          </a:bodyPr>
          <a:lstStyle/>
          <a:p>
            <a:pPr algn="ctr"/>
            <a:r>
              <a:rPr sz="2600" b="1" i="0">
                <a:solidFill>
                  <a:srgbClr val="8B1A4A"/>
                </a:solidFill>
                <a:latin typeface="Calibri"/>
              </a:rPr>
              <a:t>3</a:t>
            </a:r>
          </a:p>
        </p:txBody>
      </p:sp>
      <p:sp>
        <p:nvSpPr>
          <p:cNvPr id="12" name="TextBox 11"/>
          <p:cNvSpPr txBox="1"/>
          <p:nvPr/>
        </p:nvSpPr>
        <p:spPr>
          <a:xfrm>
            <a:off x="4544568" y="5464454"/>
            <a:ext cx="2020824" cy="546811"/>
          </a:xfrm>
          <a:prstGeom prst="rect">
            <a:avLst/>
          </a:prstGeom>
          <a:noFill/>
        </p:spPr>
        <p:txBody>
          <a:bodyPr wrap="square" lIns="45720" rIns="45720" tIns="27432" bIns="27432" anchor="t">
            <a:spAutoFit/>
          </a:bodyPr>
          <a:lstStyle/>
          <a:p>
            <a:pPr algn="ctr"/>
            <a:r>
              <a:rPr sz="1400" b="0" i="0">
                <a:solidFill>
                  <a:srgbClr val="2B2B2B"/>
                </a:solidFill>
                <a:latin typeface="Calibri"/>
              </a:rPr>
              <a:t>informative numbers per minute</a:t>
            </a:r>
          </a:p>
        </p:txBody>
      </p:sp>
      <p:sp>
        <p:nvSpPr>
          <p:cNvPr id="13" name="Rounded Rectangle 12"/>
          <p:cNvSpPr/>
          <p:nvPr/>
        </p:nvSpPr>
        <p:spPr>
          <a:xfrm>
            <a:off x="6903720" y="4846320"/>
            <a:ext cx="2240280" cy="1188720"/>
          </a:xfrm>
          <a:prstGeom prst="roundRect">
            <a:avLst>
              <a:gd name="adj" fmla="val 8000"/>
            </a:avLst>
          </a:prstGeom>
          <a:solidFill>
            <a:srgbClr val="F6ECF0"/>
          </a:solidFill>
          <a:ln w="19050">
            <a:solidFill>
              <a:srgbClr val="8B1A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995160" y="4919472"/>
            <a:ext cx="2057400" cy="594360"/>
          </a:xfrm>
          <a:prstGeom prst="rect">
            <a:avLst/>
          </a:prstGeom>
          <a:noFill/>
        </p:spPr>
        <p:txBody>
          <a:bodyPr wrap="square" lIns="45720" rIns="45720" tIns="27432" bIns="27432" anchor="ctr">
            <a:spAutoFit/>
          </a:bodyPr>
          <a:lstStyle/>
          <a:p>
            <a:pPr algn="ctr"/>
            <a:r>
              <a:rPr sz="2600" b="1" i="0">
                <a:solidFill>
                  <a:srgbClr val="8B1A4A"/>
                </a:solidFill>
                <a:latin typeface="Calibri"/>
              </a:rPr>
              <a:t>10</a:t>
            </a:r>
          </a:p>
        </p:txBody>
      </p:sp>
      <p:sp>
        <p:nvSpPr>
          <p:cNvPr id="15" name="TextBox 14"/>
          <p:cNvSpPr txBox="1"/>
          <p:nvPr/>
        </p:nvSpPr>
        <p:spPr>
          <a:xfrm>
            <a:off x="7013448" y="5464454"/>
            <a:ext cx="2020824" cy="546811"/>
          </a:xfrm>
          <a:prstGeom prst="rect">
            <a:avLst/>
          </a:prstGeom>
          <a:noFill/>
        </p:spPr>
        <p:txBody>
          <a:bodyPr wrap="square" lIns="45720" rIns="45720" tIns="27432" bIns="27432" anchor="t">
            <a:spAutoFit/>
          </a:bodyPr>
          <a:lstStyle/>
          <a:p>
            <a:pPr algn="ctr"/>
            <a:r>
              <a:rPr sz="1400" b="0" i="0">
                <a:solidFill>
                  <a:srgbClr val="2B2B2B"/>
                </a:solidFill>
                <a:latin typeface="Calibri"/>
              </a:rPr>
              <a:t>minutes per sequence</a:t>
            </a:r>
          </a:p>
        </p:txBody>
      </p:sp>
      <p:sp>
        <p:nvSpPr>
          <p:cNvPr id="16" name="Rounded Rectangle 15"/>
          <p:cNvSpPr/>
          <p:nvPr/>
        </p:nvSpPr>
        <p:spPr>
          <a:xfrm>
            <a:off x="9372600" y="4846320"/>
            <a:ext cx="2240280" cy="1188720"/>
          </a:xfrm>
          <a:prstGeom prst="roundRect">
            <a:avLst>
              <a:gd name="adj" fmla="val 8000"/>
            </a:avLst>
          </a:prstGeom>
          <a:solidFill>
            <a:srgbClr val="F6ECF0"/>
          </a:solidFill>
          <a:ln w="19050">
            <a:solidFill>
              <a:srgbClr val="8B1A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464040" y="4919472"/>
            <a:ext cx="2057400" cy="594360"/>
          </a:xfrm>
          <a:prstGeom prst="rect">
            <a:avLst/>
          </a:prstGeom>
          <a:noFill/>
        </p:spPr>
        <p:txBody>
          <a:bodyPr wrap="square" lIns="45720" rIns="45720" tIns="27432" bIns="27432" anchor="ctr">
            <a:spAutoFit/>
          </a:bodyPr>
          <a:lstStyle/>
          <a:p>
            <a:pPr algn="ctr"/>
            <a:r>
              <a:rPr sz="2600" b="1" i="0">
                <a:solidFill>
                  <a:srgbClr val="8B1A4A"/>
                </a:solidFill>
                <a:latin typeface="Calibri"/>
              </a:rPr>
              <a:t>1</a:t>
            </a:r>
          </a:p>
        </p:txBody>
      </p:sp>
      <p:sp>
        <p:nvSpPr>
          <p:cNvPr id="18" name="TextBox 17"/>
          <p:cNvSpPr txBox="1"/>
          <p:nvPr/>
        </p:nvSpPr>
        <p:spPr>
          <a:xfrm>
            <a:off x="9482328" y="5464454"/>
            <a:ext cx="2020824" cy="546811"/>
          </a:xfrm>
          <a:prstGeom prst="rect">
            <a:avLst/>
          </a:prstGeom>
          <a:noFill/>
        </p:spPr>
        <p:txBody>
          <a:bodyPr wrap="square" lIns="45720" rIns="45720" tIns="27432" bIns="27432" anchor="t">
            <a:spAutoFit/>
          </a:bodyPr>
          <a:lstStyle/>
          <a:p>
            <a:pPr algn="ctr"/>
            <a:r>
              <a:rPr sz="1400" b="0" i="0">
                <a:solidFill>
                  <a:srgbClr val="2B2B2B"/>
                </a:solidFill>
                <a:latin typeface="Calibri"/>
              </a:rPr>
              <a:t>score per minute</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338560" cy="685800"/>
          </a:xfrm>
          <a:prstGeom prst="rect">
            <a:avLst/>
          </a:prstGeom>
          <a:noFill/>
        </p:spPr>
        <p:txBody>
          <a:bodyPr wrap="square" lIns="45720" rIns="45720" tIns="27432" bIns="27432" anchor="ctr">
            <a:spAutoFit/>
          </a:bodyPr>
          <a:lstStyle/>
          <a:p>
            <a:pPr algn="l"/>
            <a:r>
              <a:rPr sz="3000" b="1" i="0">
                <a:solidFill>
                  <a:srgbClr val="8B1A4A"/>
                </a:solidFill>
                <a:latin typeface="Calibri"/>
              </a:rPr>
              <a:t>How an attack minute is labelled</a:t>
            </a:r>
          </a:p>
        </p:txBody>
      </p:sp>
      <p:sp>
        <p:nvSpPr>
          <p:cNvPr id="3" name="TextBox 2"/>
          <p:cNvSpPr txBox="1"/>
          <p:nvPr/>
        </p:nvSpPr>
        <p:spPr>
          <a:xfrm>
            <a:off x="1965960" y="6327648"/>
            <a:ext cx="8778240" cy="365760"/>
          </a:xfrm>
          <a:prstGeom prst="rect">
            <a:avLst/>
          </a:prstGeom>
          <a:noFill/>
        </p:spPr>
        <p:txBody>
          <a:bodyPr wrap="square" lIns="45720" rIns="45720" tIns="27432" bIns="27432" anchor="ctr">
            <a:spAutoFit/>
          </a:bodyPr>
          <a:lstStyle/>
          <a:p>
            <a:pPr algn="l"/>
            <a:r>
              <a:rPr sz="1050" b="0" i="0">
                <a:solidFill>
                  <a:srgbClr val="6B6B6B"/>
                </a:solidFill>
                <a:latin typeface="Calibri"/>
              </a:rPr>
              <a:t>ch.3.3, Proposition 1 and Table 2; limitation L1</a:t>
            </a:r>
          </a:p>
        </p:txBody>
      </p:sp>
      <p:sp>
        <p:nvSpPr>
          <p:cNvPr id="4" name="TextBox 3"/>
          <p:cNvSpPr txBox="1"/>
          <p:nvPr/>
        </p:nvSpPr>
        <p:spPr>
          <a:xfrm>
            <a:off x="11109960" y="6355080"/>
            <a:ext cx="822960" cy="320040"/>
          </a:xfrm>
          <a:prstGeom prst="rect">
            <a:avLst/>
          </a:prstGeom>
          <a:noFill/>
        </p:spPr>
        <p:txBody>
          <a:bodyPr wrap="square" lIns="45720" rIns="45720" tIns="27432" bIns="27432" anchor="ctr">
            <a:spAutoFit/>
          </a:bodyPr>
          <a:lstStyle/>
          <a:p>
            <a:pPr algn="r"/>
            <a:r>
              <a:rPr sz="1200" b="0" i="0">
                <a:solidFill>
                  <a:srgbClr val="6B6B6B"/>
                </a:solidFill>
                <a:latin typeface="Calibri"/>
              </a:rPr>
              <a:t>9</a:t>
            </a:r>
          </a:p>
        </p:txBody>
      </p:sp>
      <p:pic>
        <p:nvPicPr>
          <p:cNvPr id="5" name="Picture 4" descr="v5_label_rule.png"/>
          <p:cNvPicPr>
            <a:picLocks noChangeAspect="1"/>
          </p:cNvPicPr>
          <p:nvPr/>
        </p:nvPicPr>
        <p:blipFill>
          <a:blip r:embed="rId2"/>
          <a:stretch>
            <a:fillRect/>
          </a:stretch>
        </p:blipFill>
        <p:spPr>
          <a:xfrm>
            <a:off x="457200" y="1337411"/>
            <a:ext cx="6675120" cy="4548936"/>
          </a:xfrm>
          <a:prstGeom prst="rect">
            <a:avLst/>
          </a:prstGeom>
        </p:spPr>
      </p:pic>
      <p:sp>
        <p:nvSpPr>
          <p:cNvPr id="6" name="Rounded Rectangle 5"/>
          <p:cNvSpPr/>
          <p:nvPr/>
        </p:nvSpPr>
        <p:spPr>
          <a:xfrm>
            <a:off x="7360920" y="1234440"/>
            <a:ext cx="4389120" cy="1417320"/>
          </a:xfrm>
          <a:prstGeom prst="roundRect">
            <a:avLst>
              <a:gd name="adj" fmla="val 8000"/>
            </a:avLst>
          </a:prstGeom>
          <a:solidFill>
            <a:srgbClr val="F6ECF0"/>
          </a:solidFill>
          <a:ln w="25400">
            <a:solidFill>
              <a:srgbClr val="8B1A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498079" y="1298448"/>
            <a:ext cx="4114800" cy="1325880"/>
          </a:xfrm>
          <a:prstGeom prst="rect">
            <a:avLst/>
          </a:prstGeom>
          <a:noFill/>
        </p:spPr>
        <p:txBody>
          <a:bodyPr wrap="square" lIns="45720" rIns="45720" tIns="27432" bIns="27432" anchor="t">
            <a:spAutoFit/>
          </a:bodyPr>
          <a:lstStyle/>
          <a:p>
            <a:pPr algn="l"/>
            <a:r>
              <a:rPr sz="1900" b="1" i="0">
                <a:solidFill>
                  <a:srgbClr val="8B1A4A"/>
                </a:solidFill>
                <a:latin typeface="Calibri"/>
              </a:rPr>
              <a:t>The campaign rule</a:t>
            </a:r>
          </a:p>
          <a:p>
            <a:pPr algn="l">
              <a:spcBef>
                <a:spcPts val="400"/>
              </a:spcBef>
            </a:pPr>
            <a:r>
              <a:rPr sz="1800" b="0" i="0">
                <a:solidFill>
                  <a:srgbClr val="2B2B2B"/>
                </a:solidFill>
                <a:latin typeface="Calibri"/>
              </a:rPr>
              <a:t>attack if failure rate &gt; 0.30</a:t>
            </a:r>
          </a:p>
          <a:p>
            <a:pPr algn="l"/>
            <a:r>
              <a:rPr sz="1800" b="0" i="0">
                <a:solidFill>
                  <a:srgbClr val="2B2B2B"/>
                </a:solidFill>
                <a:latin typeface="Calibri"/>
              </a:rPr>
              <a:t>and distinct IPs &gt; 5</a:t>
            </a:r>
          </a:p>
        </p:txBody>
      </p:sp>
      <p:sp>
        <p:nvSpPr>
          <p:cNvPr id="8" name="TextBox 7"/>
          <p:cNvSpPr txBox="1"/>
          <p:nvPr/>
        </p:nvSpPr>
        <p:spPr>
          <a:xfrm>
            <a:off x="7406640" y="2788920"/>
            <a:ext cx="4343400" cy="1188720"/>
          </a:xfrm>
          <a:prstGeom prst="rect">
            <a:avLst/>
          </a:prstGeom>
          <a:noFill/>
        </p:spPr>
        <p:txBody>
          <a:bodyPr wrap="square" lIns="45720" rIns="45720" tIns="27432" bIns="27432" anchor="t">
            <a:spAutoFit/>
          </a:bodyPr>
          <a:lstStyle/>
          <a:p>
            <a:pPr algn="l"/>
            <a:r>
              <a:rPr sz="1600" b="0" i="0">
                <a:solidFill>
                  <a:srgbClr val="2B2B2B"/>
                </a:solidFill>
                <a:latin typeface="Calibri"/>
              </a:rPr>
              <a:t>In practice the IP condition almost never matters: </a:t>
            </a:r>
            <a:r>
              <a:rPr sz="1600" b="1" i="0">
                <a:solidFill>
                  <a:srgbClr val="2B2B2B"/>
                </a:solidFill>
                <a:latin typeface="Calibri"/>
              </a:rPr>
              <a:t>the label is a failure-rate threshold</a:t>
            </a:r>
          </a:p>
          <a:p>
            <a:pPr algn="l">
              <a:spcBef>
                <a:spcPts val="400"/>
              </a:spcBef>
            </a:pPr>
            <a:r>
              <a:rPr sz="1400" b="0" i="0">
                <a:solidFill>
                  <a:srgbClr val="6B6B6B"/>
                </a:solidFill>
                <a:latin typeface="Calibri"/>
              </a:rPr>
              <a:t>(agreement 100%, 100% and 99.99% across the three datasets)</a:t>
            </a:r>
          </a:p>
        </p:txBody>
      </p:sp>
      <p:sp>
        <p:nvSpPr>
          <p:cNvPr id="9" name="Rounded Rectangle 8"/>
          <p:cNvSpPr/>
          <p:nvPr/>
        </p:nvSpPr>
        <p:spPr>
          <a:xfrm>
            <a:off x="7360920" y="4114800"/>
            <a:ext cx="4389120" cy="1965960"/>
          </a:xfrm>
          <a:prstGeom prst="roundRect">
            <a:avLst>
              <a:gd name="adj" fmla="val 8000"/>
            </a:avLst>
          </a:prstGeom>
          <a:solidFill>
            <a:srgbClr val="FFFFFF"/>
          </a:solidFill>
          <a:ln w="19050">
            <a:solidFill>
              <a:srgbClr val="EB1C2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498079" y="4178808"/>
            <a:ext cx="4114800" cy="1874519"/>
          </a:xfrm>
          <a:prstGeom prst="rect">
            <a:avLst/>
          </a:prstGeom>
          <a:noFill/>
        </p:spPr>
        <p:txBody>
          <a:bodyPr wrap="square" lIns="45720" rIns="45720" tIns="27432" bIns="27432" anchor="t">
            <a:spAutoFit/>
          </a:bodyPr>
          <a:lstStyle/>
          <a:p>
            <a:pPr algn="l"/>
            <a:r>
              <a:rPr sz="1700" b="1" i="0">
                <a:solidFill>
                  <a:srgbClr val="EB1C23"/>
                </a:solidFill>
                <a:latin typeface="Calibri"/>
              </a:rPr>
              <a:t>What this means</a:t>
            </a:r>
          </a:p>
          <a:p>
            <a:pPr algn="l">
              <a:spcBef>
                <a:spcPts val="400"/>
              </a:spcBef>
            </a:pPr>
            <a:r>
              <a:rPr sz="1500" b="0" i="0">
                <a:solidFill>
                  <a:srgbClr val="2B2B2B"/>
                </a:solidFill>
                <a:latin typeface="Calibri"/>
              </a:rPr>
              <a:t>The label is computed from the model's own inputs. The model therefore learns a rule; it is not discovering unknown attacks. The results measure how faithfully it learns and transfers that rule.</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338560" cy="685800"/>
          </a:xfrm>
          <a:prstGeom prst="rect">
            <a:avLst/>
          </a:prstGeom>
          <a:noFill/>
        </p:spPr>
        <p:txBody>
          <a:bodyPr wrap="square" lIns="45720" rIns="45720" tIns="27432" bIns="27432" anchor="ctr">
            <a:spAutoFit/>
          </a:bodyPr>
          <a:lstStyle/>
          <a:p>
            <a:pPr algn="l"/>
            <a:r>
              <a:rPr sz="3000" b="1" i="0">
                <a:solidFill>
                  <a:srgbClr val="8B1A4A"/>
                </a:solidFill>
                <a:latin typeface="Calibri"/>
              </a:rPr>
              <a:t>Three datasets</a:t>
            </a:r>
          </a:p>
        </p:txBody>
      </p:sp>
      <p:sp>
        <p:nvSpPr>
          <p:cNvPr id="3" name="TextBox 2"/>
          <p:cNvSpPr txBox="1"/>
          <p:nvPr/>
        </p:nvSpPr>
        <p:spPr>
          <a:xfrm>
            <a:off x="521207" y="841248"/>
            <a:ext cx="11155680" cy="411480"/>
          </a:xfrm>
          <a:prstGeom prst="rect">
            <a:avLst/>
          </a:prstGeom>
          <a:noFill/>
        </p:spPr>
        <p:txBody>
          <a:bodyPr wrap="square" lIns="45720" rIns="45720" tIns="27432" bIns="27432" anchor="t">
            <a:spAutoFit/>
          </a:bodyPr>
          <a:lstStyle/>
          <a:p>
            <a:pPr algn="l"/>
            <a:r>
              <a:rPr sz="1700" b="0" i="0">
                <a:solidFill>
                  <a:srgbClr val="6B6B6B"/>
                </a:solidFill>
                <a:latin typeface="Calibri"/>
              </a:rPr>
              <a:t>Chronological split; two independent test datasets the model never saw</a:t>
            </a:r>
          </a:p>
        </p:txBody>
      </p:sp>
      <p:sp>
        <p:nvSpPr>
          <p:cNvPr id="4" name="TextBox 3"/>
          <p:cNvSpPr txBox="1"/>
          <p:nvPr/>
        </p:nvSpPr>
        <p:spPr>
          <a:xfrm>
            <a:off x="1965960" y="6327648"/>
            <a:ext cx="8778240" cy="365760"/>
          </a:xfrm>
          <a:prstGeom prst="rect">
            <a:avLst/>
          </a:prstGeom>
          <a:noFill/>
        </p:spPr>
        <p:txBody>
          <a:bodyPr wrap="square" lIns="45720" rIns="45720" tIns="27432" bIns="27432" anchor="ctr">
            <a:spAutoFit/>
          </a:bodyPr>
          <a:lstStyle/>
          <a:p>
            <a:pPr algn="l"/>
            <a:r>
              <a:rPr sz="1050" b="0" i="0">
                <a:solidFill>
                  <a:srgbClr val="6B6B6B"/>
                </a:solidFill>
                <a:latin typeface="Calibri"/>
              </a:rPr>
              <a:t>Table 3 and Figure 2 of the thesis (ch.3.4)</a:t>
            </a:r>
          </a:p>
        </p:txBody>
      </p:sp>
      <p:sp>
        <p:nvSpPr>
          <p:cNvPr id="5" name="TextBox 4"/>
          <p:cNvSpPr txBox="1"/>
          <p:nvPr/>
        </p:nvSpPr>
        <p:spPr>
          <a:xfrm>
            <a:off x="11109960" y="6355080"/>
            <a:ext cx="822960" cy="320040"/>
          </a:xfrm>
          <a:prstGeom prst="rect">
            <a:avLst/>
          </a:prstGeom>
          <a:noFill/>
        </p:spPr>
        <p:txBody>
          <a:bodyPr wrap="square" lIns="45720" rIns="45720" tIns="27432" bIns="27432" anchor="ctr">
            <a:spAutoFit/>
          </a:bodyPr>
          <a:lstStyle/>
          <a:p>
            <a:pPr algn="r"/>
            <a:r>
              <a:rPr sz="1200" b="0" i="0">
                <a:solidFill>
                  <a:srgbClr val="6B6B6B"/>
                </a:solidFill>
                <a:latin typeface="Calibri"/>
              </a:rPr>
              <a:t>10</a:t>
            </a:r>
          </a:p>
        </p:txBody>
      </p:sp>
      <p:pic>
        <p:nvPicPr>
          <p:cNvPr id="6" name="Picture 5" descr="fig_split_class_composition_v12.png"/>
          <p:cNvPicPr>
            <a:picLocks noChangeAspect="1"/>
          </p:cNvPicPr>
          <p:nvPr/>
        </p:nvPicPr>
        <p:blipFill>
          <a:blip r:embed="rId2"/>
          <a:stretch>
            <a:fillRect/>
          </a:stretch>
        </p:blipFill>
        <p:spPr>
          <a:xfrm>
            <a:off x="457200" y="1800956"/>
            <a:ext cx="6949440" cy="3621847"/>
          </a:xfrm>
          <a:prstGeom prst="rect">
            <a:avLst/>
          </a:prstGeom>
        </p:spPr>
      </p:pic>
      <p:sp>
        <p:nvSpPr>
          <p:cNvPr id="7" name="Rounded Rectangle 6"/>
          <p:cNvSpPr/>
          <p:nvPr/>
        </p:nvSpPr>
        <p:spPr>
          <a:xfrm>
            <a:off x="7589520" y="1371600"/>
            <a:ext cx="4160520" cy="1417320"/>
          </a:xfrm>
          <a:prstGeom prst="roundRect">
            <a:avLst>
              <a:gd name="adj" fmla="val 8000"/>
            </a:avLst>
          </a:prstGeom>
          <a:solidFill>
            <a:srgbClr val="FFFFFF"/>
          </a:solidFill>
          <a:ln w="19050">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699248" y="1417320"/>
            <a:ext cx="3931920" cy="1325880"/>
          </a:xfrm>
          <a:prstGeom prst="rect">
            <a:avLst/>
          </a:prstGeom>
          <a:noFill/>
        </p:spPr>
        <p:txBody>
          <a:bodyPr wrap="square" lIns="45720" rIns="45720" tIns="27432" bIns="27432" anchor="t">
            <a:spAutoFit/>
          </a:bodyPr>
          <a:lstStyle/>
          <a:p>
            <a:pPr algn="l"/>
            <a:r>
              <a:rPr sz="1800" b="1" i="0">
                <a:solidFill>
                  <a:srgbClr val="6B6B6B"/>
                </a:solidFill>
                <a:latin typeface="Calibri"/>
              </a:rPr>
              <a:t>Training Dataset</a:t>
            </a:r>
          </a:p>
          <a:p>
            <a:pPr algn="l"/>
            <a:r>
              <a:rPr sz="1500" b="1" i="0">
                <a:solidFill>
                  <a:srgbClr val="2B2B2B"/>
                </a:solidFill>
                <a:latin typeface="Calibri"/>
              </a:rPr>
              <a:t>53.1 h · 8.1 M requests · 3,187 minutes</a:t>
            </a:r>
          </a:p>
          <a:p>
            <a:pPr algn="l"/>
            <a:r>
              <a:rPr sz="1400" b="0" i="0">
                <a:solidFill>
                  <a:srgbClr val="2B2B2B"/>
                </a:solidFill>
                <a:latin typeface="Calibri"/>
              </a:rPr>
              <a:t>70 / 15 / 15 split in time order; validation and hold-out test set contain no attacks</a:t>
            </a:r>
          </a:p>
        </p:txBody>
      </p:sp>
      <p:sp>
        <p:nvSpPr>
          <p:cNvPr id="9" name="Rounded Rectangle 8"/>
          <p:cNvSpPr/>
          <p:nvPr/>
        </p:nvSpPr>
        <p:spPr>
          <a:xfrm>
            <a:off x="7589520" y="2944368"/>
            <a:ext cx="4160520" cy="1417320"/>
          </a:xfrm>
          <a:prstGeom prst="roundRect">
            <a:avLst>
              <a:gd name="adj" fmla="val 8000"/>
            </a:avLst>
          </a:prstGeom>
          <a:solidFill>
            <a:srgbClr val="F6ECF0"/>
          </a:solidFill>
          <a:ln w="19050">
            <a:solidFill>
              <a:srgbClr val="8B1A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99248" y="2990087"/>
            <a:ext cx="3931920" cy="1325880"/>
          </a:xfrm>
          <a:prstGeom prst="rect">
            <a:avLst/>
          </a:prstGeom>
          <a:noFill/>
        </p:spPr>
        <p:txBody>
          <a:bodyPr wrap="square" lIns="45720" rIns="45720" tIns="27432" bIns="27432" anchor="t">
            <a:spAutoFit/>
          </a:bodyPr>
          <a:lstStyle/>
          <a:p>
            <a:pPr algn="l"/>
            <a:r>
              <a:rPr sz="1800" b="1" i="0">
                <a:solidFill>
                  <a:srgbClr val="8B1A4A"/>
                </a:solidFill>
                <a:latin typeface="Calibri"/>
              </a:rPr>
              <a:t>Chaotic Dataset</a:t>
            </a:r>
          </a:p>
          <a:p>
            <a:pPr algn="l"/>
            <a:r>
              <a:rPr sz="1500" b="1" i="0">
                <a:solidFill>
                  <a:srgbClr val="2B2B2B"/>
                </a:solidFill>
                <a:latin typeface="Calibri"/>
              </a:rPr>
              <a:t>154 min · stop-start attacks</a:t>
            </a:r>
          </a:p>
          <a:p>
            <a:pPr algn="l"/>
            <a:r>
              <a:rPr sz="1400" b="0" i="0">
                <a:solidFill>
                  <a:srgbClr val="2B2B2B"/>
                </a:solidFill>
                <a:latin typeface="Calibri"/>
              </a:rPr>
              <a:t>bursts of 1–4 min, plus 28- and 13-min attacks · 145 sequences</a:t>
            </a:r>
          </a:p>
        </p:txBody>
      </p:sp>
      <p:sp>
        <p:nvSpPr>
          <p:cNvPr id="11" name="Rounded Rectangle 10"/>
          <p:cNvSpPr/>
          <p:nvPr/>
        </p:nvSpPr>
        <p:spPr>
          <a:xfrm>
            <a:off x="7589520" y="4517136"/>
            <a:ext cx="4160520" cy="1417320"/>
          </a:xfrm>
          <a:prstGeom prst="roundRect">
            <a:avLst>
              <a:gd name="adj" fmla="val 8000"/>
            </a:avLst>
          </a:prstGeom>
          <a:solidFill>
            <a:srgbClr val="F6ECF0"/>
          </a:solidFill>
          <a:ln w="19050">
            <a:solidFill>
              <a:srgbClr val="8B1A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699248" y="4562855"/>
            <a:ext cx="3931920" cy="1325880"/>
          </a:xfrm>
          <a:prstGeom prst="rect">
            <a:avLst/>
          </a:prstGeom>
          <a:noFill/>
        </p:spPr>
        <p:txBody>
          <a:bodyPr wrap="square" lIns="45720" rIns="45720" tIns="27432" bIns="27432" anchor="t">
            <a:spAutoFit/>
          </a:bodyPr>
          <a:lstStyle/>
          <a:p>
            <a:pPr algn="l"/>
            <a:r>
              <a:rPr sz="1800" b="1" i="0">
                <a:solidFill>
                  <a:srgbClr val="8B1A4A"/>
                </a:solidFill>
                <a:latin typeface="Calibri"/>
              </a:rPr>
              <a:t>Large Dataset</a:t>
            </a:r>
          </a:p>
          <a:p>
            <a:pPr algn="l"/>
            <a:r>
              <a:rPr sz="1500" b="1" i="0">
                <a:solidFill>
                  <a:srgbClr val="2B2B2B"/>
                </a:solidFill>
                <a:latin typeface="Calibri"/>
              </a:rPr>
              <a:t>233.4 h · 33.7 M requests</a:t>
            </a:r>
          </a:p>
          <a:p>
            <a:pPr algn="l"/>
            <a:r>
              <a:rPr sz="1400" b="0" i="0">
                <a:solidFill>
                  <a:srgbClr val="2B2B2B"/>
                </a:solidFill>
                <a:latin typeface="Calibri"/>
              </a:rPr>
              <a:t>four long attack blocks · 13,351 sequences</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338560" cy="685800"/>
          </a:xfrm>
          <a:prstGeom prst="rect">
            <a:avLst/>
          </a:prstGeom>
          <a:noFill/>
        </p:spPr>
        <p:txBody>
          <a:bodyPr wrap="square" lIns="45720" rIns="45720" tIns="27432" bIns="27432" anchor="ctr">
            <a:spAutoFit/>
          </a:bodyPr>
          <a:lstStyle/>
          <a:p>
            <a:pPr algn="l"/>
            <a:r>
              <a:rPr sz="3000" b="1" i="0">
                <a:solidFill>
                  <a:srgbClr val="8B1A4A"/>
                </a:solidFill>
                <a:latin typeface="Calibri"/>
              </a:rPr>
              <a:t>The model: a Temporal Convolutional Network</a:t>
            </a:r>
          </a:p>
        </p:txBody>
      </p:sp>
      <p:sp>
        <p:nvSpPr>
          <p:cNvPr id="3" name="TextBox 2"/>
          <p:cNvSpPr txBox="1"/>
          <p:nvPr/>
        </p:nvSpPr>
        <p:spPr>
          <a:xfrm>
            <a:off x="1965960" y="6327648"/>
            <a:ext cx="8778240" cy="365760"/>
          </a:xfrm>
          <a:prstGeom prst="rect">
            <a:avLst/>
          </a:prstGeom>
          <a:noFill/>
        </p:spPr>
        <p:txBody>
          <a:bodyPr wrap="square" lIns="45720" rIns="45720" tIns="27432" bIns="27432" anchor="ctr">
            <a:spAutoFit/>
          </a:bodyPr>
          <a:lstStyle/>
          <a:p>
            <a:pPr algn="l"/>
            <a:r>
              <a:rPr sz="1050" b="0" i="0">
                <a:solidFill>
                  <a:srgbClr val="6B6B6B"/>
                </a:solidFill>
                <a:latin typeface="Calibri"/>
              </a:rPr>
              <a:t>Figure 4 and Table 5 of the thesis (ch.3.5); architecture verified against the trained weights</a:t>
            </a:r>
          </a:p>
        </p:txBody>
      </p:sp>
      <p:sp>
        <p:nvSpPr>
          <p:cNvPr id="4" name="TextBox 3"/>
          <p:cNvSpPr txBox="1"/>
          <p:nvPr/>
        </p:nvSpPr>
        <p:spPr>
          <a:xfrm>
            <a:off x="11109960" y="6355080"/>
            <a:ext cx="822960" cy="320040"/>
          </a:xfrm>
          <a:prstGeom prst="rect">
            <a:avLst/>
          </a:prstGeom>
          <a:noFill/>
        </p:spPr>
        <p:txBody>
          <a:bodyPr wrap="square" lIns="45720" rIns="45720" tIns="27432" bIns="27432" anchor="ctr">
            <a:spAutoFit/>
          </a:bodyPr>
          <a:lstStyle/>
          <a:p>
            <a:pPr algn="r"/>
            <a:r>
              <a:rPr sz="1200" b="0" i="0">
                <a:solidFill>
                  <a:srgbClr val="6B6B6B"/>
                </a:solidFill>
                <a:latin typeface="Calibri"/>
              </a:rPr>
              <a:t>11</a:t>
            </a:r>
          </a:p>
        </p:txBody>
      </p:sp>
      <p:pic>
        <p:nvPicPr>
          <p:cNvPr id="5" name="Picture 4" descr="fig_tcn_architecture.png"/>
          <p:cNvPicPr>
            <a:picLocks noChangeAspect="1"/>
          </p:cNvPicPr>
          <p:nvPr/>
        </p:nvPicPr>
        <p:blipFill>
          <a:blip r:embed="rId2"/>
          <a:stretch>
            <a:fillRect/>
          </a:stretch>
        </p:blipFill>
        <p:spPr>
          <a:xfrm>
            <a:off x="778625" y="1005840"/>
            <a:ext cx="10604269" cy="3931920"/>
          </a:xfrm>
          <a:prstGeom prst="rect">
            <a:avLst/>
          </a:prstGeom>
        </p:spPr>
      </p:pic>
      <p:sp>
        <p:nvSpPr>
          <p:cNvPr id="6" name="Rounded Rectangle 5"/>
          <p:cNvSpPr/>
          <p:nvPr/>
        </p:nvSpPr>
        <p:spPr>
          <a:xfrm>
            <a:off x="1965960" y="4983480"/>
            <a:ext cx="3108960" cy="1051560"/>
          </a:xfrm>
          <a:prstGeom prst="roundRect">
            <a:avLst>
              <a:gd name="adj" fmla="val 8000"/>
            </a:avLst>
          </a:prstGeom>
          <a:solidFill>
            <a:srgbClr val="F6ECF0"/>
          </a:solidFill>
          <a:ln w="19050">
            <a:solidFill>
              <a:srgbClr val="8B1A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2057400" y="5056632"/>
            <a:ext cx="2926079" cy="525780"/>
          </a:xfrm>
          <a:prstGeom prst="rect">
            <a:avLst/>
          </a:prstGeom>
          <a:noFill/>
        </p:spPr>
        <p:txBody>
          <a:bodyPr wrap="square" lIns="45720" rIns="45720" tIns="27432" bIns="27432" anchor="ctr">
            <a:spAutoFit/>
          </a:bodyPr>
          <a:lstStyle/>
          <a:p>
            <a:pPr algn="ctr"/>
            <a:r>
              <a:rPr sz="2200" b="1" i="0">
                <a:solidFill>
                  <a:srgbClr val="8B1A4A"/>
                </a:solidFill>
                <a:latin typeface="Calibri"/>
              </a:rPr>
              <a:t>causal</a:t>
            </a:r>
          </a:p>
        </p:txBody>
      </p:sp>
      <p:sp>
        <p:nvSpPr>
          <p:cNvPr id="8" name="TextBox 7"/>
          <p:cNvSpPr txBox="1"/>
          <p:nvPr/>
        </p:nvSpPr>
        <p:spPr>
          <a:xfrm>
            <a:off x="2075688" y="5530291"/>
            <a:ext cx="2889504" cy="483717"/>
          </a:xfrm>
          <a:prstGeom prst="rect">
            <a:avLst/>
          </a:prstGeom>
          <a:noFill/>
        </p:spPr>
        <p:txBody>
          <a:bodyPr wrap="square" lIns="45720" rIns="45720" tIns="27432" bIns="27432" anchor="t">
            <a:spAutoFit/>
          </a:bodyPr>
          <a:lstStyle/>
          <a:p>
            <a:pPr algn="ctr"/>
            <a:r>
              <a:rPr sz="1300" b="0" i="0">
                <a:solidFill>
                  <a:srgbClr val="2B2B2B"/>
                </a:solidFill>
                <a:latin typeface="Calibri"/>
              </a:rPr>
              <a:t>looks only backwards in time, so it can run live</a:t>
            </a:r>
          </a:p>
        </p:txBody>
      </p:sp>
      <p:sp>
        <p:nvSpPr>
          <p:cNvPr id="9" name="Rounded Rectangle 8"/>
          <p:cNvSpPr/>
          <p:nvPr/>
        </p:nvSpPr>
        <p:spPr>
          <a:xfrm>
            <a:off x="5257800" y="4983480"/>
            <a:ext cx="3108960" cy="1051560"/>
          </a:xfrm>
          <a:prstGeom prst="roundRect">
            <a:avLst>
              <a:gd name="adj" fmla="val 8000"/>
            </a:avLst>
          </a:prstGeom>
          <a:solidFill>
            <a:srgbClr val="F6ECF0"/>
          </a:solidFill>
          <a:ln w="19050">
            <a:solidFill>
              <a:srgbClr val="8B1A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49240" y="5056632"/>
            <a:ext cx="2926079" cy="525780"/>
          </a:xfrm>
          <a:prstGeom prst="rect">
            <a:avLst/>
          </a:prstGeom>
          <a:noFill/>
        </p:spPr>
        <p:txBody>
          <a:bodyPr wrap="square" lIns="45720" rIns="45720" tIns="27432" bIns="27432" anchor="ctr">
            <a:spAutoFit/>
          </a:bodyPr>
          <a:lstStyle/>
          <a:p>
            <a:pPr algn="ctr"/>
            <a:r>
              <a:rPr sz="2200" b="1" i="0">
                <a:solidFill>
                  <a:srgbClr val="8B1A4A"/>
                </a:solidFill>
                <a:latin typeface="Calibri"/>
              </a:rPr>
              <a:t>dilations 1 · 2 · 4</a:t>
            </a:r>
          </a:p>
        </p:txBody>
      </p:sp>
      <p:sp>
        <p:nvSpPr>
          <p:cNvPr id="11" name="TextBox 10"/>
          <p:cNvSpPr txBox="1"/>
          <p:nvPr/>
        </p:nvSpPr>
        <p:spPr>
          <a:xfrm>
            <a:off x="5367528" y="5530291"/>
            <a:ext cx="2889504" cy="483717"/>
          </a:xfrm>
          <a:prstGeom prst="rect">
            <a:avLst/>
          </a:prstGeom>
          <a:noFill/>
        </p:spPr>
        <p:txBody>
          <a:bodyPr wrap="square" lIns="45720" rIns="45720" tIns="27432" bIns="27432" anchor="t">
            <a:spAutoFit/>
          </a:bodyPr>
          <a:lstStyle/>
          <a:p>
            <a:pPr algn="ctr"/>
            <a:r>
              <a:rPr sz="1300" b="0" i="0">
                <a:solidFill>
                  <a:srgbClr val="2B2B2B"/>
                </a:solidFill>
                <a:latin typeface="Calibri"/>
              </a:rPr>
              <a:t>covers the whole 10-minute window (receptive field 29)</a:t>
            </a:r>
          </a:p>
        </p:txBody>
      </p:sp>
      <p:sp>
        <p:nvSpPr>
          <p:cNvPr id="12" name="Rounded Rectangle 11"/>
          <p:cNvSpPr/>
          <p:nvPr/>
        </p:nvSpPr>
        <p:spPr>
          <a:xfrm>
            <a:off x="8549640" y="4983480"/>
            <a:ext cx="3108960" cy="1051560"/>
          </a:xfrm>
          <a:prstGeom prst="roundRect">
            <a:avLst>
              <a:gd name="adj" fmla="val 8000"/>
            </a:avLst>
          </a:prstGeom>
          <a:solidFill>
            <a:srgbClr val="F6ECF0"/>
          </a:solidFill>
          <a:ln w="19050">
            <a:solidFill>
              <a:srgbClr val="8B1A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641080" y="5056632"/>
            <a:ext cx="2926079" cy="525780"/>
          </a:xfrm>
          <a:prstGeom prst="rect">
            <a:avLst/>
          </a:prstGeom>
          <a:noFill/>
        </p:spPr>
        <p:txBody>
          <a:bodyPr wrap="square" lIns="45720" rIns="45720" tIns="27432" bIns="27432" anchor="ctr">
            <a:spAutoFit/>
          </a:bodyPr>
          <a:lstStyle/>
          <a:p>
            <a:pPr algn="ctr"/>
            <a:r>
              <a:rPr sz="2200" b="1" i="0">
                <a:solidFill>
                  <a:srgbClr val="8B1A4A"/>
                </a:solidFill>
                <a:latin typeface="Calibri"/>
              </a:rPr>
              <a:t>28,241</a:t>
            </a:r>
          </a:p>
        </p:txBody>
      </p:sp>
      <p:sp>
        <p:nvSpPr>
          <p:cNvPr id="14" name="TextBox 13"/>
          <p:cNvSpPr txBox="1"/>
          <p:nvPr/>
        </p:nvSpPr>
        <p:spPr>
          <a:xfrm>
            <a:off x="8659367" y="5530291"/>
            <a:ext cx="2889504" cy="483717"/>
          </a:xfrm>
          <a:prstGeom prst="rect">
            <a:avLst/>
          </a:prstGeom>
          <a:noFill/>
        </p:spPr>
        <p:txBody>
          <a:bodyPr wrap="square" lIns="45720" rIns="45720" tIns="27432" bIns="27432" anchor="t">
            <a:spAutoFit/>
          </a:bodyPr>
          <a:lstStyle/>
          <a:p>
            <a:pPr algn="ctr"/>
            <a:r>
              <a:rPr sz="1300" b="0" i="0">
                <a:solidFill>
                  <a:srgbClr val="2B2B2B"/>
                </a:solidFill>
                <a:latin typeface="Calibri"/>
              </a:rPr>
              <a:t>parameters, about 113 KB of weights</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338560" cy="685800"/>
          </a:xfrm>
          <a:prstGeom prst="rect">
            <a:avLst/>
          </a:prstGeom>
          <a:noFill/>
        </p:spPr>
        <p:txBody>
          <a:bodyPr wrap="square" lIns="45720" rIns="45720" tIns="27432" bIns="27432" anchor="ctr">
            <a:spAutoFit/>
          </a:bodyPr>
          <a:lstStyle/>
          <a:p>
            <a:pPr algn="l"/>
            <a:r>
              <a:rPr sz="3000" b="1" i="0">
                <a:solidFill>
                  <a:srgbClr val="8B1A4A"/>
                </a:solidFill>
                <a:latin typeface="Calibri"/>
              </a:rPr>
              <a:t>Training</a:t>
            </a:r>
          </a:p>
        </p:txBody>
      </p:sp>
      <p:sp>
        <p:nvSpPr>
          <p:cNvPr id="3" name="TextBox 2"/>
          <p:cNvSpPr txBox="1"/>
          <p:nvPr/>
        </p:nvSpPr>
        <p:spPr>
          <a:xfrm>
            <a:off x="521207" y="841248"/>
            <a:ext cx="11155680" cy="411480"/>
          </a:xfrm>
          <a:prstGeom prst="rect">
            <a:avLst/>
          </a:prstGeom>
          <a:noFill/>
        </p:spPr>
        <p:txBody>
          <a:bodyPr wrap="square" lIns="45720" rIns="45720" tIns="27432" bIns="27432" anchor="t">
            <a:spAutoFit/>
          </a:bodyPr>
          <a:lstStyle/>
          <a:p>
            <a:pPr algn="l"/>
            <a:r>
              <a:rPr sz="1700" b="0" i="0">
                <a:solidFill>
                  <a:srgbClr val="6B6B6B"/>
                </a:solidFill>
                <a:latin typeface="Calibri"/>
              </a:rPr>
              <a:t>30 epochs; checkpoint from epoch 27 (lowest validation loss)</a:t>
            </a:r>
          </a:p>
        </p:txBody>
      </p:sp>
      <p:sp>
        <p:nvSpPr>
          <p:cNvPr id="4" name="TextBox 3"/>
          <p:cNvSpPr txBox="1"/>
          <p:nvPr/>
        </p:nvSpPr>
        <p:spPr>
          <a:xfrm>
            <a:off x="1965960" y="6327648"/>
            <a:ext cx="8778240" cy="365760"/>
          </a:xfrm>
          <a:prstGeom prst="rect">
            <a:avLst/>
          </a:prstGeom>
          <a:noFill/>
        </p:spPr>
        <p:txBody>
          <a:bodyPr wrap="square" lIns="45720" rIns="45720" tIns="27432" bIns="27432" anchor="ctr">
            <a:spAutoFit/>
          </a:bodyPr>
          <a:lstStyle/>
          <a:p>
            <a:pPr algn="l"/>
            <a:r>
              <a:rPr sz="1050" b="0" i="0">
                <a:solidFill>
                  <a:srgbClr val="6B6B6B"/>
                </a:solidFill>
                <a:latin typeface="Calibri"/>
              </a:rPr>
              <a:t>Figure 5 of the thesis (ch.4.1); Table 6</a:t>
            </a:r>
          </a:p>
        </p:txBody>
      </p:sp>
      <p:sp>
        <p:nvSpPr>
          <p:cNvPr id="5" name="TextBox 4"/>
          <p:cNvSpPr txBox="1"/>
          <p:nvPr/>
        </p:nvSpPr>
        <p:spPr>
          <a:xfrm>
            <a:off x="11109960" y="6355080"/>
            <a:ext cx="822960" cy="320040"/>
          </a:xfrm>
          <a:prstGeom prst="rect">
            <a:avLst/>
          </a:prstGeom>
          <a:noFill/>
        </p:spPr>
        <p:txBody>
          <a:bodyPr wrap="square" lIns="45720" rIns="45720" tIns="27432" bIns="27432" anchor="ctr">
            <a:spAutoFit/>
          </a:bodyPr>
          <a:lstStyle/>
          <a:p>
            <a:pPr algn="r"/>
            <a:r>
              <a:rPr sz="1200" b="0" i="0">
                <a:solidFill>
                  <a:srgbClr val="6B6B6B"/>
                </a:solidFill>
                <a:latin typeface="Calibri"/>
              </a:rPr>
              <a:t>12</a:t>
            </a:r>
          </a:p>
        </p:txBody>
      </p:sp>
      <p:pic>
        <p:nvPicPr>
          <p:cNvPr id="6" name="Picture 5" descr="v2_training_loss_curve.png"/>
          <p:cNvPicPr>
            <a:picLocks noChangeAspect="1"/>
          </p:cNvPicPr>
          <p:nvPr/>
        </p:nvPicPr>
        <p:blipFill>
          <a:blip r:embed="rId2"/>
          <a:stretch>
            <a:fillRect/>
          </a:stretch>
        </p:blipFill>
        <p:spPr>
          <a:xfrm>
            <a:off x="457200" y="1614595"/>
            <a:ext cx="7589520" cy="4177449"/>
          </a:xfrm>
          <a:prstGeom prst="rect">
            <a:avLst/>
          </a:prstGeom>
        </p:spPr>
      </p:pic>
      <p:sp>
        <p:nvSpPr>
          <p:cNvPr id="7" name="Rounded Rectangle 6"/>
          <p:cNvSpPr/>
          <p:nvPr/>
        </p:nvSpPr>
        <p:spPr>
          <a:xfrm>
            <a:off x="8275320" y="1645920"/>
            <a:ext cx="3474720" cy="3566160"/>
          </a:xfrm>
          <a:prstGeom prst="roundRect">
            <a:avLst>
              <a:gd name="adj" fmla="val 8000"/>
            </a:avLst>
          </a:prstGeom>
          <a:solidFill>
            <a:srgbClr val="FFFFFF"/>
          </a:solidFill>
          <a:ln w="19050">
            <a:solidFill>
              <a:srgbClr val="EB1C2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412480" y="1737360"/>
            <a:ext cx="3200400" cy="3383280"/>
          </a:xfrm>
          <a:prstGeom prst="rect">
            <a:avLst/>
          </a:prstGeom>
          <a:noFill/>
        </p:spPr>
        <p:txBody>
          <a:bodyPr wrap="square" lIns="45720" rIns="45720" tIns="27432" bIns="27432" anchor="t">
            <a:spAutoFit/>
          </a:bodyPr>
          <a:lstStyle/>
          <a:p>
            <a:pPr algn="l"/>
            <a:r>
              <a:rPr sz="1800" b="1" i="0">
                <a:solidFill>
                  <a:srgbClr val="EB1C23"/>
                </a:solidFill>
                <a:latin typeface="Calibri"/>
              </a:rPr>
              <a:t>Why is validation loss almost zero?</a:t>
            </a:r>
          </a:p>
          <a:p>
            <a:pPr algn="l">
              <a:spcBef>
                <a:spcPts val="800"/>
              </a:spcBef>
            </a:pPr>
            <a:r>
              <a:rPr sz="1600" b="0" i="0">
                <a:solidFill>
                  <a:srgbClr val="2B2B2B"/>
                </a:solidFill>
                <a:latin typeface="Calibri"/>
              </a:rPr>
              <a:t>The validation set contains only normal traffic.</a:t>
            </a:r>
          </a:p>
          <a:p>
            <a:pPr algn="l">
              <a:spcBef>
                <a:spcPts val="800"/>
              </a:spcBef>
            </a:pPr>
            <a:r>
              <a:rPr sz="1600" b="0" i="0">
                <a:solidFill>
                  <a:srgbClr val="2B2B2B"/>
                </a:solidFill>
                <a:latin typeface="Calibri"/>
              </a:rPr>
              <a:t>It measures false alarms, not whether attacks are caught.</a:t>
            </a:r>
          </a:p>
          <a:p>
            <a:pPr algn="l">
              <a:spcBef>
                <a:spcPts val="800"/>
              </a:spcBef>
            </a:pPr>
            <a:r>
              <a:rPr sz="1600" b="1" i="0">
                <a:solidFill>
                  <a:srgbClr val="2B2B2B"/>
                </a:solidFill>
                <a:latin typeface="Calibri"/>
              </a:rPr>
              <a:t>Recall is measured on the independent test datasets.</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338560" cy="685800"/>
          </a:xfrm>
          <a:prstGeom prst="rect">
            <a:avLst/>
          </a:prstGeom>
          <a:noFill/>
        </p:spPr>
        <p:txBody>
          <a:bodyPr wrap="square" lIns="45720" rIns="45720" tIns="27432" bIns="27432" anchor="ctr">
            <a:spAutoFit/>
          </a:bodyPr>
          <a:lstStyle/>
          <a:p>
            <a:pPr algn="l"/>
            <a:r>
              <a:rPr sz="3000" b="1" i="0">
                <a:solidFill>
                  <a:srgbClr val="8B1A4A"/>
                </a:solidFill>
                <a:latin typeface="Calibri"/>
              </a:rPr>
              <a:t>Results: the headline</a:t>
            </a:r>
          </a:p>
        </p:txBody>
      </p:sp>
      <p:sp>
        <p:nvSpPr>
          <p:cNvPr id="3" name="TextBox 2"/>
          <p:cNvSpPr txBox="1"/>
          <p:nvPr/>
        </p:nvSpPr>
        <p:spPr>
          <a:xfrm>
            <a:off x="521207" y="841248"/>
            <a:ext cx="11155680" cy="411480"/>
          </a:xfrm>
          <a:prstGeom prst="rect">
            <a:avLst/>
          </a:prstGeom>
          <a:noFill/>
        </p:spPr>
        <p:txBody>
          <a:bodyPr wrap="square" lIns="45720" rIns="45720" tIns="27432" bIns="27432" anchor="t">
            <a:spAutoFit/>
          </a:bodyPr>
          <a:lstStyle/>
          <a:p>
            <a:pPr algn="l"/>
            <a:r>
              <a:rPr sz="1700" b="0" i="0">
                <a:solidFill>
                  <a:srgbClr val="6B6B6B"/>
                </a:solidFill>
                <a:latin typeface="Calibri"/>
              </a:rPr>
              <a:t>Frozen model, independent test datasets, threshold 0.50</a:t>
            </a:r>
          </a:p>
        </p:txBody>
      </p:sp>
      <p:sp>
        <p:nvSpPr>
          <p:cNvPr id="4" name="TextBox 3"/>
          <p:cNvSpPr txBox="1"/>
          <p:nvPr/>
        </p:nvSpPr>
        <p:spPr>
          <a:xfrm>
            <a:off x="1965960" y="6327648"/>
            <a:ext cx="8778240" cy="365760"/>
          </a:xfrm>
          <a:prstGeom prst="rect">
            <a:avLst/>
          </a:prstGeom>
          <a:noFill/>
        </p:spPr>
        <p:txBody>
          <a:bodyPr wrap="square" lIns="45720" rIns="45720" tIns="27432" bIns="27432" anchor="ctr">
            <a:spAutoFit/>
          </a:bodyPr>
          <a:lstStyle/>
          <a:p>
            <a:pPr algn="l"/>
            <a:r>
              <a:rPr sz="1050" b="0" i="0">
                <a:solidFill>
                  <a:srgbClr val="6B6B6B"/>
                </a:solidFill>
                <a:latin typeface="Calibri"/>
              </a:rPr>
              <a:t>Tables 7 and 8, Figure 7 of the thesis (ch.4.2–4.3)</a:t>
            </a:r>
          </a:p>
        </p:txBody>
      </p:sp>
      <p:sp>
        <p:nvSpPr>
          <p:cNvPr id="5" name="TextBox 4"/>
          <p:cNvSpPr txBox="1"/>
          <p:nvPr/>
        </p:nvSpPr>
        <p:spPr>
          <a:xfrm>
            <a:off x="11109960" y="6355080"/>
            <a:ext cx="822960" cy="320040"/>
          </a:xfrm>
          <a:prstGeom prst="rect">
            <a:avLst/>
          </a:prstGeom>
          <a:noFill/>
        </p:spPr>
        <p:txBody>
          <a:bodyPr wrap="square" lIns="45720" rIns="45720" tIns="27432" bIns="27432" anchor="ctr">
            <a:spAutoFit/>
          </a:bodyPr>
          <a:lstStyle/>
          <a:p>
            <a:pPr algn="r"/>
            <a:r>
              <a:rPr sz="1200" b="0" i="0">
                <a:solidFill>
                  <a:srgbClr val="6B6B6B"/>
                </a:solidFill>
                <a:latin typeface="Calibri"/>
              </a:rPr>
              <a:t>13</a:t>
            </a:r>
          </a:p>
        </p:txBody>
      </p:sp>
      <p:sp>
        <p:nvSpPr>
          <p:cNvPr id="6" name="Rounded Rectangle 5"/>
          <p:cNvSpPr/>
          <p:nvPr/>
        </p:nvSpPr>
        <p:spPr>
          <a:xfrm>
            <a:off x="548640" y="1280160"/>
            <a:ext cx="2651760" cy="1417320"/>
          </a:xfrm>
          <a:prstGeom prst="roundRect">
            <a:avLst>
              <a:gd name="adj" fmla="val 8000"/>
            </a:avLst>
          </a:prstGeom>
          <a:solidFill>
            <a:srgbClr val="F6ECF0"/>
          </a:solidFill>
          <a:ln w="19050">
            <a:solidFill>
              <a:srgbClr val="8B1A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40080" y="1353312"/>
            <a:ext cx="2468879" cy="708660"/>
          </a:xfrm>
          <a:prstGeom prst="rect">
            <a:avLst/>
          </a:prstGeom>
          <a:noFill/>
        </p:spPr>
        <p:txBody>
          <a:bodyPr wrap="square" lIns="45720" rIns="45720" tIns="27432" bIns="27432" anchor="ctr">
            <a:spAutoFit/>
          </a:bodyPr>
          <a:lstStyle/>
          <a:p>
            <a:pPr algn="ctr"/>
            <a:r>
              <a:rPr sz="2800" b="1" i="0">
                <a:solidFill>
                  <a:srgbClr val="8B1A4A"/>
                </a:solidFill>
                <a:latin typeface="Calibri"/>
              </a:rPr>
              <a:t>1,992 / 1,992</a:t>
            </a:r>
          </a:p>
        </p:txBody>
      </p:sp>
      <p:sp>
        <p:nvSpPr>
          <p:cNvPr id="8" name="TextBox 7"/>
          <p:cNvSpPr txBox="1"/>
          <p:nvPr/>
        </p:nvSpPr>
        <p:spPr>
          <a:xfrm>
            <a:off x="658368" y="2017166"/>
            <a:ext cx="2432304" cy="651967"/>
          </a:xfrm>
          <a:prstGeom prst="rect">
            <a:avLst/>
          </a:prstGeom>
          <a:noFill/>
        </p:spPr>
        <p:txBody>
          <a:bodyPr wrap="square" lIns="45720" rIns="45720" tIns="27432" bIns="27432" anchor="t">
            <a:spAutoFit/>
          </a:bodyPr>
          <a:lstStyle/>
          <a:p>
            <a:pPr algn="ctr"/>
            <a:r>
              <a:rPr sz="1300" b="0" i="0">
                <a:solidFill>
                  <a:srgbClr val="2B2B2B"/>
                </a:solidFill>
                <a:latin typeface="Calibri"/>
              </a:rPr>
              <a:t>Large Dataset attack sequences found (recall 1.0)</a:t>
            </a:r>
          </a:p>
        </p:txBody>
      </p:sp>
      <p:sp>
        <p:nvSpPr>
          <p:cNvPr id="9" name="Rounded Rectangle 8"/>
          <p:cNvSpPr/>
          <p:nvPr/>
        </p:nvSpPr>
        <p:spPr>
          <a:xfrm>
            <a:off x="3355848" y="1280160"/>
            <a:ext cx="2651760" cy="1417320"/>
          </a:xfrm>
          <a:prstGeom prst="roundRect">
            <a:avLst>
              <a:gd name="adj" fmla="val 8000"/>
            </a:avLst>
          </a:prstGeom>
          <a:solidFill>
            <a:srgbClr val="F6ECF0"/>
          </a:solidFill>
          <a:ln w="19050">
            <a:solidFill>
              <a:srgbClr val="8B1A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447288" y="1353312"/>
            <a:ext cx="2468879" cy="708660"/>
          </a:xfrm>
          <a:prstGeom prst="rect">
            <a:avLst/>
          </a:prstGeom>
          <a:noFill/>
        </p:spPr>
        <p:txBody>
          <a:bodyPr wrap="square" lIns="45720" rIns="45720" tIns="27432" bIns="27432" anchor="ctr">
            <a:spAutoFit/>
          </a:bodyPr>
          <a:lstStyle/>
          <a:p>
            <a:pPr algn="ctr"/>
            <a:r>
              <a:rPr sz="2800" b="1" i="0">
                <a:solidFill>
                  <a:srgbClr val="8B1A4A"/>
                </a:solidFill>
                <a:latin typeface="Calibri"/>
              </a:rPr>
              <a:t>11</a:t>
            </a:r>
          </a:p>
        </p:txBody>
      </p:sp>
      <p:sp>
        <p:nvSpPr>
          <p:cNvPr id="11" name="TextBox 10"/>
          <p:cNvSpPr txBox="1"/>
          <p:nvPr/>
        </p:nvSpPr>
        <p:spPr>
          <a:xfrm>
            <a:off x="3465576" y="2017166"/>
            <a:ext cx="2432304" cy="651967"/>
          </a:xfrm>
          <a:prstGeom prst="rect">
            <a:avLst/>
          </a:prstGeom>
          <a:noFill/>
        </p:spPr>
        <p:txBody>
          <a:bodyPr wrap="square" lIns="45720" rIns="45720" tIns="27432" bIns="27432" anchor="t">
            <a:spAutoFit/>
          </a:bodyPr>
          <a:lstStyle/>
          <a:p>
            <a:pPr algn="ctr"/>
            <a:r>
              <a:rPr sz="1300" b="0" i="0">
                <a:solidFill>
                  <a:srgbClr val="2B2B2B"/>
                </a:solidFill>
                <a:latin typeface="Calibri"/>
              </a:rPr>
              <a:t>false alarms in 11,359 normal sequences</a:t>
            </a:r>
          </a:p>
        </p:txBody>
      </p:sp>
      <p:sp>
        <p:nvSpPr>
          <p:cNvPr id="12" name="Rounded Rectangle 11"/>
          <p:cNvSpPr/>
          <p:nvPr/>
        </p:nvSpPr>
        <p:spPr>
          <a:xfrm>
            <a:off x="6163055" y="1280160"/>
            <a:ext cx="2651760" cy="1417320"/>
          </a:xfrm>
          <a:prstGeom prst="roundRect">
            <a:avLst>
              <a:gd name="adj" fmla="val 8000"/>
            </a:avLst>
          </a:prstGeom>
          <a:solidFill>
            <a:srgbClr val="F6ECF0"/>
          </a:solidFill>
          <a:ln w="19050">
            <a:solidFill>
              <a:srgbClr val="8B1A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254495" y="1353312"/>
            <a:ext cx="2468879" cy="708660"/>
          </a:xfrm>
          <a:prstGeom prst="rect">
            <a:avLst/>
          </a:prstGeom>
          <a:noFill/>
        </p:spPr>
        <p:txBody>
          <a:bodyPr wrap="square" lIns="45720" rIns="45720" tIns="27432" bIns="27432" anchor="ctr">
            <a:spAutoFit/>
          </a:bodyPr>
          <a:lstStyle/>
          <a:p>
            <a:pPr algn="ctr"/>
            <a:r>
              <a:rPr sz="2800" b="1" i="0">
                <a:solidFill>
                  <a:srgbClr val="8B1A4A"/>
                </a:solidFill>
                <a:latin typeface="Calibri"/>
              </a:rPr>
              <a:t>0.9972</a:t>
            </a:r>
          </a:p>
        </p:txBody>
      </p:sp>
      <p:sp>
        <p:nvSpPr>
          <p:cNvPr id="14" name="TextBox 13"/>
          <p:cNvSpPr txBox="1"/>
          <p:nvPr/>
        </p:nvSpPr>
        <p:spPr>
          <a:xfrm>
            <a:off x="6272783" y="2017166"/>
            <a:ext cx="2432304" cy="651967"/>
          </a:xfrm>
          <a:prstGeom prst="rect">
            <a:avLst/>
          </a:prstGeom>
          <a:noFill/>
        </p:spPr>
        <p:txBody>
          <a:bodyPr wrap="square" lIns="45720" rIns="45720" tIns="27432" bIns="27432" anchor="t">
            <a:spAutoFit/>
          </a:bodyPr>
          <a:lstStyle/>
          <a:p>
            <a:pPr algn="ctr"/>
            <a:r>
              <a:rPr sz="1300" b="0" i="0">
                <a:solidFill>
                  <a:srgbClr val="2B2B2B"/>
                </a:solidFill>
                <a:latin typeface="Calibri"/>
              </a:rPr>
              <a:t>F1 on the Large Dataset (precision 0.9945)</a:t>
            </a:r>
          </a:p>
        </p:txBody>
      </p:sp>
      <p:sp>
        <p:nvSpPr>
          <p:cNvPr id="15" name="Rounded Rectangle 14"/>
          <p:cNvSpPr/>
          <p:nvPr/>
        </p:nvSpPr>
        <p:spPr>
          <a:xfrm>
            <a:off x="8970263" y="1280160"/>
            <a:ext cx="2651760" cy="1417320"/>
          </a:xfrm>
          <a:prstGeom prst="roundRect">
            <a:avLst>
              <a:gd name="adj" fmla="val 8000"/>
            </a:avLst>
          </a:prstGeom>
          <a:solidFill>
            <a:srgbClr val="F6ECF0"/>
          </a:solidFill>
          <a:ln w="19050">
            <a:solidFill>
              <a:srgbClr val="8B1A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061703" y="1353312"/>
            <a:ext cx="2468879" cy="708660"/>
          </a:xfrm>
          <a:prstGeom prst="rect">
            <a:avLst/>
          </a:prstGeom>
          <a:noFill/>
        </p:spPr>
        <p:txBody>
          <a:bodyPr wrap="square" lIns="45720" rIns="45720" tIns="27432" bIns="27432" anchor="ctr">
            <a:spAutoFit/>
          </a:bodyPr>
          <a:lstStyle/>
          <a:p>
            <a:pPr algn="ctr"/>
            <a:r>
              <a:rPr sz="2800" b="1" i="0">
                <a:solidFill>
                  <a:srgbClr val="8B1A4A"/>
                </a:solidFill>
                <a:latin typeface="Calibri"/>
              </a:rPr>
              <a:t>≈ 1.4 / day</a:t>
            </a:r>
          </a:p>
        </p:txBody>
      </p:sp>
      <p:sp>
        <p:nvSpPr>
          <p:cNvPr id="17" name="TextBox 16"/>
          <p:cNvSpPr txBox="1"/>
          <p:nvPr/>
        </p:nvSpPr>
        <p:spPr>
          <a:xfrm>
            <a:off x="9079991" y="2017166"/>
            <a:ext cx="2432304" cy="651967"/>
          </a:xfrm>
          <a:prstGeom prst="rect">
            <a:avLst/>
          </a:prstGeom>
          <a:noFill/>
        </p:spPr>
        <p:txBody>
          <a:bodyPr wrap="square" lIns="45720" rIns="45720" tIns="27432" bIns="27432" anchor="t">
            <a:spAutoFit/>
          </a:bodyPr>
          <a:lstStyle/>
          <a:p>
            <a:pPr algn="ctr"/>
            <a:r>
              <a:rPr sz="1300" b="0" i="0">
                <a:solidFill>
                  <a:srgbClr val="2B2B2B"/>
                </a:solidFill>
                <a:latin typeface="Calibri"/>
              </a:rPr>
              <a:t>false alerts on the Large Dataset</a:t>
            </a:r>
          </a:p>
        </p:txBody>
      </p:sp>
      <p:pic>
        <p:nvPicPr>
          <p:cNvPr id="18" name="Picture 17" descr="fig_confusion_matrices_v11.png"/>
          <p:cNvPicPr>
            <a:picLocks noChangeAspect="1"/>
          </p:cNvPicPr>
          <p:nvPr/>
        </p:nvPicPr>
        <p:blipFill>
          <a:blip r:embed="rId2"/>
          <a:stretch>
            <a:fillRect/>
          </a:stretch>
        </p:blipFill>
        <p:spPr>
          <a:xfrm>
            <a:off x="502920" y="3299876"/>
            <a:ext cx="8229600" cy="2407086"/>
          </a:xfrm>
          <a:prstGeom prst="rect">
            <a:avLst/>
          </a:prstGeom>
        </p:spPr>
      </p:pic>
      <p:sp>
        <p:nvSpPr>
          <p:cNvPr id="19" name="Rounded Rectangle 18"/>
          <p:cNvSpPr/>
          <p:nvPr/>
        </p:nvSpPr>
        <p:spPr>
          <a:xfrm>
            <a:off x="8915400" y="2926080"/>
            <a:ext cx="2834640" cy="1463040"/>
          </a:xfrm>
          <a:prstGeom prst="roundRect">
            <a:avLst>
              <a:gd name="adj" fmla="val 8000"/>
            </a:avLst>
          </a:prstGeom>
          <a:solidFill>
            <a:srgbClr val="E8F3F5"/>
          </a:solidFill>
          <a:ln w="19050">
            <a:solidFill>
              <a:srgbClr val="2A7F8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006840" y="2971800"/>
            <a:ext cx="2651760" cy="1371600"/>
          </a:xfrm>
          <a:prstGeom prst="rect">
            <a:avLst/>
          </a:prstGeom>
          <a:noFill/>
        </p:spPr>
        <p:txBody>
          <a:bodyPr wrap="square" lIns="45720" rIns="45720" tIns="27432" bIns="27432" anchor="t">
            <a:spAutoFit/>
          </a:bodyPr>
          <a:lstStyle/>
          <a:p>
            <a:pPr algn="ctr"/>
            <a:r>
              <a:rPr sz="1600" b="1" i="0">
                <a:solidFill>
                  <a:srgbClr val="2A7F8E"/>
                </a:solidFill>
                <a:latin typeface="Calibri"/>
              </a:rPr>
              <a:t>Chaotic Dataset</a:t>
            </a:r>
          </a:p>
          <a:p>
            <a:pPr algn="ctr"/>
            <a:r>
              <a:rPr sz="2200" b="1" i="0">
                <a:solidFill>
                  <a:srgbClr val="2B2B2B"/>
                </a:solidFill>
                <a:latin typeface="Calibri"/>
              </a:rPr>
              <a:t>F1 0.83</a:t>
            </a:r>
          </a:p>
          <a:p>
            <a:pPr algn="ctr"/>
            <a:r>
              <a:rPr sz="1300" b="0" i="0">
                <a:solidFill>
                  <a:srgbClr val="2B2B2B"/>
                </a:solidFill>
                <a:latin typeface="Calibri"/>
              </a:rPr>
              <a:t>precision 0.89 · recall 0.77</a:t>
            </a:r>
          </a:p>
        </p:txBody>
      </p:sp>
      <p:sp>
        <p:nvSpPr>
          <p:cNvPr id="21" name="Rounded Rectangle 20"/>
          <p:cNvSpPr/>
          <p:nvPr/>
        </p:nvSpPr>
        <p:spPr>
          <a:xfrm>
            <a:off x="8915400" y="4572000"/>
            <a:ext cx="2834640" cy="1463040"/>
          </a:xfrm>
          <a:prstGeom prst="roundRect">
            <a:avLst>
              <a:gd name="adj" fmla="val 8000"/>
            </a:avLst>
          </a:prstGeom>
          <a:solidFill>
            <a:srgbClr val="FFFFFF"/>
          </a:solidFill>
          <a:ln w="19050">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006840" y="4617720"/>
            <a:ext cx="2651760" cy="1371600"/>
          </a:xfrm>
          <a:prstGeom prst="rect">
            <a:avLst/>
          </a:prstGeom>
          <a:noFill/>
        </p:spPr>
        <p:txBody>
          <a:bodyPr wrap="square" lIns="45720" rIns="45720" tIns="27432" bIns="27432" anchor="t">
            <a:spAutoFit/>
          </a:bodyPr>
          <a:lstStyle/>
          <a:p>
            <a:pPr algn="ctr"/>
            <a:r>
              <a:rPr sz="1600" b="1" i="0">
                <a:solidFill>
                  <a:srgbClr val="6B6B6B"/>
                </a:solidFill>
                <a:latin typeface="Calibri"/>
              </a:rPr>
              <a:t>Hold-out test set</a:t>
            </a:r>
          </a:p>
          <a:p>
            <a:pPr algn="ctr"/>
            <a:r>
              <a:rPr sz="2200" b="1" i="0">
                <a:solidFill>
                  <a:srgbClr val="2B2B2B"/>
                </a:solidFill>
                <a:latin typeface="Calibri"/>
              </a:rPr>
              <a:t>0 false alarms</a:t>
            </a:r>
          </a:p>
          <a:p>
            <a:pPr algn="ctr"/>
            <a:r>
              <a:rPr sz="1300" b="0" i="0">
                <a:solidFill>
                  <a:srgbClr val="2B2B2B"/>
                </a:solidFill>
                <a:latin typeface="Calibri"/>
              </a:rPr>
              <a:t>in 470 normal sequences</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0058400" cy="685800"/>
          </a:xfrm>
          <a:prstGeom prst="rect">
            <a:avLst/>
          </a:prstGeom>
          <a:noFill/>
        </p:spPr>
        <p:txBody>
          <a:bodyPr wrap="square" lIns="45720" rIns="45720" tIns="27432" bIns="27432" anchor="ctr">
            <a:spAutoFit/>
          </a:bodyPr>
          <a:lstStyle/>
          <a:p>
            <a:pPr algn="l"/>
            <a:r>
              <a:rPr sz="3000" b="1" i="0">
                <a:solidFill>
                  <a:srgbClr val="8B1A4A"/>
                </a:solidFill>
                <a:latin typeface="Calibri"/>
              </a:rPr>
              <a:t>Spot the attack</a:t>
            </a:r>
          </a:p>
        </p:txBody>
      </p:sp>
      <p:sp>
        <p:nvSpPr>
          <p:cNvPr id="3" name="TextBox 2"/>
          <p:cNvSpPr txBox="1"/>
          <p:nvPr/>
        </p:nvSpPr>
        <p:spPr>
          <a:xfrm>
            <a:off x="521207" y="841248"/>
            <a:ext cx="11155680" cy="411480"/>
          </a:xfrm>
          <a:prstGeom prst="rect">
            <a:avLst/>
          </a:prstGeom>
          <a:noFill/>
        </p:spPr>
        <p:txBody>
          <a:bodyPr wrap="square" lIns="45720" rIns="45720" tIns="27432" bIns="27432" anchor="t">
            <a:spAutoFit/>
          </a:bodyPr>
          <a:lstStyle/>
          <a:p>
            <a:pPr algn="l"/>
            <a:r>
              <a:rPr sz="1700" b="0" i="0">
                <a:solidFill>
                  <a:srgbClr val="6B6B6B"/>
                </a:solidFill>
                <a:latin typeface="Calibri"/>
              </a:rPr>
              <a:t>Two 10-minute sequences from the Large Dataset. One is an attack. A or B?</a:t>
            </a:r>
          </a:p>
        </p:txBody>
      </p:sp>
      <p:sp>
        <p:nvSpPr>
          <p:cNvPr id="4" name="Rounded Rectangle 3"/>
          <p:cNvSpPr/>
          <p:nvPr/>
        </p:nvSpPr>
        <p:spPr>
          <a:xfrm>
            <a:off x="10561320" y="329184"/>
            <a:ext cx="1417320" cy="384048"/>
          </a:xfrm>
          <a:prstGeom prst="roundRect">
            <a:avLst>
              <a:gd name="adj" fmla="val 8000"/>
            </a:avLst>
          </a:prstGeom>
          <a:solidFill>
            <a:srgbClr val="8B1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561320" y="329184"/>
            <a:ext cx="1417320" cy="384048"/>
          </a:xfrm>
          <a:prstGeom prst="rect">
            <a:avLst/>
          </a:prstGeom>
          <a:noFill/>
        </p:spPr>
        <p:txBody>
          <a:bodyPr wrap="square" lIns="45720" rIns="45720" tIns="27432" bIns="27432" anchor="ctr">
            <a:spAutoFit/>
          </a:bodyPr>
          <a:lstStyle/>
          <a:p>
            <a:pPr algn="ctr"/>
            <a:r>
              <a:rPr sz="1200" b="1" i="0">
                <a:solidFill>
                  <a:srgbClr val="FFFFFF"/>
                </a:solidFill>
                <a:latin typeface="Calibri"/>
              </a:rPr>
              <a:t>the quiet burglar</a:t>
            </a:r>
          </a:p>
        </p:txBody>
      </p:sp>
      <p:sp>
        <p:nvSpPr>
          <p:cNvPr id="6" name="TextBox 5"/>
          <p:cNvSpPr txBox="1"/>
          <p:nvPr/>
        </p:nvSpPr>
        <p:spPr>
          <a:xfrm>
            <a:off x="11109960" y="6355080"/>
            <a:ext cx="822960" cy="320040"/>
          </a:xfrm>
          <a:prstGeom prst="rect">
            <a:avLst/>
          </a:prstGeom>
          <a:noFill/>
        </p:spPr>
        <p:txBody>
          <a:bodyPr wrap="square" lIns="45720" rIns="45720" tIns="27432" bIns="27432" anchor="ctr">
            <a:spAutoFit/>
          </a:bodyPr>
          <a:lstStyle/>
          <a:p>
            <a:pPr algn="r"/>
            <a:r>
              <a:rPr sz="1200" b="0" i="0">
                <a:solidFill>
                  <a:srgbClr val="6B6B6B"/>
                </a:solidFill>
                <a:latin typeface="Calibri"/>
              </a:rPr>
              <a:t>14</a:t>
            </a:r>
          </a:p>
        </p:txBody>
      </p:sp>
      <p:pic>
        <p:nvPicPr>
          <p:cNvPr id="7" name="Picture 6" descr="v8_spot_the_attack_question.png"/>
          <p:cNvPicPr>
            <a:picLocks noChangeAspect="1"/>
          </p:cNvPicPr>
          <p:nvPr/>
        </p:nvPicPr>
        <p:blipFill>
          <a:blip r:embed="rId2"/>
          <a:stretch>
            <a:fillRect/>
          </a:stretch>
        </p:blipFill>
        <p:spPr>
          <a:xfrm>
            <a:off x="548640" y="2037233"/>
            <a:ext cx="9052560" cy="3423613"/>
          </a:xfrm>
          <a:prstGeom prst="rect">
            <a:avLst/>
          </a:prstGeom>
        </p:spPr>
      </p:pic>
      <p:sp>
        <p:nvSpPr>
          <p:cNvPr id="8" name="Rounded Rectangle 7"/>
          <p:cNvSpPr/>
          <p:nvPr/>
        </p:nvSpPr>
        <p:spPr>
          <a:xfrm>
            <a:off x="9829800" y="2194560"/>
            <a:ext cx="1920240" cy="2377440"/>
          </a:xfrm>
          <a:prstGeom prst="roundRect">
            <a:avLst>
              <a:gd name="adj" fmla="val 8000"/>
            </a:avLst>
          </a:prstGeom>
          <a:solidFill>
            <a:srgbClr val="8B1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829800" y="2194560"/>
            <a:ext cx="1920240" cy="2377440"/>
          </a:xfrm>
          <a:prstGeom prst="rect">
            <a:avLst/>
          </a:prstGeom>
          <a:noFill/>
        </p:spPr>
        <p:txBody>
          <a:bodyPr wrap="square" lIns="45720" rIns="45720" tIns="27432" bIns="27432" anchor="ctr">
            <a:spAutoFit/>
          </a:bodyPr>
          <a:lstStyle/>
          <a:p>
            <a:pPr algn="ctr"/>
            <a:r>
              <a:rPr sz="4800" b="1" i="0">
                <a:solidFill>
                  <a:srgbClr val="FFFFFF"/>
                </a:solidFill>
                <a:latin typeface="Calibri"/>
              </a:rPr>
              <a:t>A</a:t>
            </a:r>
          </a:p>
          <a:p>
            <a:pPr algn="ctr"/>
            <a:r>
              <a:rPr sz="2200" b="0" i="0">
                <a:solidFill>
                  <a:srgbClr val="FFFFFF"/>
                </a:solidFill>
                <a:latin typeface="Calibri"/>
              </a:rPr>
              <a:t>or</a:t>
            </a:r>
          </a:p>
          <a:p>
            <a:pPr algn="ctr"/>
            <a:r>
              <a:rPr sz="4800" b="1" i="0">
                <a:solidFill>
                  <a:srgbClr val="FFFFFF"/>
                </a:solidFill>
                <a:latin typeface="Calibri"/>
              </a:rPr>
              <a:t>B ?</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0058400" cy="685800"/>
          </a:xfrm>
          <a:prstGeom prst="rect">
            <a:avLst/>
          </a:prstGeom>
          <a:noFill/>
        </p:spPr>
        <p:txBody>
          <a:bodyPr wrap="square" lIns="45720" rIns="45720" tIns="27432" bIns="27432" anchor="ctr">
            <a:spAutoFit/>
          </a:bodyPr>
          <a:lstStyle/>
          <a:p>
            <a:pPr algn="l"/>
            <a:r>
              <a:rPr sz="3000" b="1" i="0">
                <a:solidFill>
                  <a:srgbClr val="8B1A4A"/>
                </a:solidFill>
                <a:latin typeface="Calibri"/>
              </a:rPr>
              <a:t>Spot the attack: the answer is B</a:t>
            </a:r>
          </a:p>
        </p:txBody>
      </p:sp>
      <p:sp>
        <p:nvSpPr>
          <p:cNvPr id="3" name="TextBox 2"/>
          <p:cNvSpPr txBox="1"/>
          <p:nvPr/>
        </p:nvSpPr>
        <p:spPr>
          <a:xfrm>
            <a:off x="521207" y="841248"/>
            <a:ext cx="11155680" cy="411480"/>
          </a:xfrm>
          <a:prstGeom prst="rect">
            <a:avLst/>
          </a:prstGeom>
          <a:noFill/>
        </p:spPr>
        <p:txBody>
          <a:bodyPr wrap="square" lIns="45720" rIns="45720" tIns="27432" bIns="27432" anchor="t">
            <a:spAutoFit/>
          </a:bodyPr>
          <a:lstStyle/>
          <a:p>
            <a:pPr algn="l"/>
            <a:r>
              <a:rPr sz="1700" b="0" i="0">
                <a:solidFill>
                  <a:srgbClr val="6B6B6B"/>
                </a:solidFill>
                <a:latin typeface="Calibri"/>
              </a:rPr>
              <a:t>Few IPs, little traffic, but more than a third of its logins fail</a:t>
            </a:r>
          </a:p>
        </p:txBody>
      </p:sp>
      <p:sp>
        <p:nvSpPr>
          <p:cNvPr id="4" name="Rounded Rectangle 3"/>
          <p:cNvSpPr/>
          <p:nvPr/>
        </p:nvSpPr>
        <p:spPr>
          <a:xfrm>
            <a:off x="10561320" y="329184"/>
            <a:ext cx="1417320" cy="384048"/>
          </a:xfrm>
          <a:prstGeom prst="roundRect">
            <a:avLst>
              <a:gd name="adj" fmla="val 8000"/>
            </a:avLst>
          </a:prstGeom>
          <a:solidFill>
            <a:srgbClr val="8B1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561320" y="329184"/>
            <a:ext cx="1417320" cy="384048"/>
          </a:xfrm>
          <a:prstGeom prst="rect">
            <a:avLst/>
          </a:prstGeom>
          <a:noFill/>
        </p:spPr>
        <p:txBody>
          <a:bodyPr wrap="square" lIns="45720" rIns="45720" tIns="27432" bIns="27432" anchor="ctr">
            <a:spAutoFit/>
          </a:bodyPr>
          <a:lstStyle/>
          <a:p>
            <a:pPr algn="ctr"/>
            <a:r>
              <a:rPr sz="1200" b="1" i="0">
                <a:solidFill>
                  <a:srgbClr val="FFFFFF"/>
                </a:solidFill>
                <a:latin typeface="Calibri"/>
              </a:rPr>
              <a:t>the quiet burglar</a:t>
            </a:r>
          </a:p>
        </p:txBody>
      </p:sp>
      <p:sp>
        <p:nvSpPr>
          <p:cNvPr id="6" name="TextBox 5"/>
          <p:cNvSpPr txBox="1"/>
          <p:nvPr/>
        </p:nvSpPr>
        <p:spPr>
          <a:xfrm>
            <a:off x="1965960" y="6327648"/>
            <a:ext cx="8778240" cy="365760"/>
          </a:xfrm>
          <a:prstGeom prst="rect">
            <a:avLst/>
          </a:prstGeom>
          <a:noFill/>
        </p:spPr>
        <p:txBody>
          <a:bodyPr wrap="square" lIns="45720" rIns="45720" tIns="27432" bIns="27432" anchor="ctr">
            <a:spAutoFit/>
          </a:bodyPr>
          <a:lstStyle/>
          <a:p>
            <a:pPr algn="l"/>
            <a:r>
              <a:rPr sz="1050" b="0" i="0">
                <a:solidFill>
                  <a:srgbClr val="6B6B6B"/>
                </a:solidFill>
                <a:latin typeface="Calibri"/>
              </a:rPr>
              <a:t>Large Dataset sequences ending at window 2,854 (A) and window 1,188 (B); scores from the trained model</a:t>
            </a:r>
          </a:p>
        </p:txBody>
      </p:sp>
      <p:sp>
        <p:nvSpPr>
          <p:cNvPr id="7" name="TextBox 6"/>
          <p:cNvSpPr txBox="1"/>
          <p:nvPr/>
        </p:nvSpPr>
        <p:spPr>
          <a:xfrm>
            <a:off x="11109960" y="6355080"/>
            <a:ext cx="822960" cy="320040"/>
          </a:xfrm>
          <a:prstGeom prst="rect">
            <a:avLst/>
          </a:prstGeom>
          <a:noFill/>
        </p:spPr>
        <p:txBody>
          <a:bodyPr wrap="square" lIns="45720" rIns="45720" tIns="27432" bIns="27432" anchor="ctr">
            <a:spAutoFit/>
          </a:bodyPr>
          <a:lstStyle/>
          <a:p>
            <a:pPr algn="r"/>
            <a:r>
              <a:rPr sz="1200" b="0" i="0">
                <a:solidFill>
                  <a:srgbClr val="6B6B6B"/>
                </a:solidFill>
                <a:latin typeface="Calibri"/>
              </a:rPr>
              <a:t>15</a:t>
            </a:r>
          </a:p>
        </p:txBody>
      </p:sp>
      <p:pic>
        <p:nvPicPr>
          <p:cNvPr id="8" name="Picture 7" descr="v8_spot_the_attack_reveal.png"/>
          <p:cNvPicPr>
            <a:picLocks noChangeAspect="1"/>
          </p:cNvPicPr>
          <p:nvPr/>
        </p:nvPicPr>
        <p:blipFill>
          <a:blip r:embed="rId2"/>
          <a:stretch>
            <a:fillRect/>
          </a:stretch>
        </p:blipFill>
        <p:spPr>
          <a:xfrm>
            <a:off x="502920" y="1685260"/>
            <a:ext cx="11155680" cy="4218999"/>
          </a:xfrm>
          <a:prstGeom prst="rect">
            <a:avLst/>
          </a:prstGeom>
        </p:spPr>
      </p:pic>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0058400" cy="685800"/>
          </a:xfrm>
          <a:prstGeom prst="rect">
            <a:avLst/>
          </a:prstGeom>
          <a:noFill/>
        </p:spPr>
        <p:txBody>
          <a:bodyPr wrap="square" lIns="45720" rIns="45720" tIns="27432" bIns="27432" anchor="ctr">
            <a:spAutoFit/>
          </a:bodyPr>
          <a:lstStyle/>
          <a:p>
            <a:pPr algn="l"/>
            <a:r>
              <a:rPr sz="3000" b="1" i="0">
                <a:solidFill>
                  <a:srgbClr val="8B1A4A"/>
                </a:solidFill>
                <a:latin typeface="Calibri"/>
              </a:rPr>
              <a:t>The plot twist</a:t>
            </a:r>
          </a:p>
        </p:txBody>
      </p:sp>
      <p:sp>
        <p:nvSpPr>
          <p:cNvPr id="3" name="TextBox 2"/>
          <p:cNvSpPr txBox="1"/>
          <p:nvPr/>
        </p:nvSpPr>
        <p:spPr>
          <a:xfrm>
            <a:off x="521207" y="841248"/>
            <a:ext cx="11155680" cy="411480"/>
          </a:xfrm>
          <a:prstGeom prst="rect">
            <a:avLst/>
          </a:prstGeom>
          <a:noFill/>
        </p:spPr>
        <p:txBody>
          <a:bodyPr wrap="square" lIns="45720" rIns="45720" tIns="27432" bIns="27432" anchor="t">
            <a:spAutoFit/>
          </a:bodyPr>
          <a:lstStyle/>
          <a:p>
            <a:pPr algn="l"/>
            <a:r>
              <a:rPr sz="1700" b="0" i="0">
                <a:solidFill>
                  <a:srgbClr val="6B6B6B"/>
                </a:solidFill>
                <a:latin typeface="Calibri"/>
              </a:rPr>
              <a:t>The IP signal flips between datasets, and the model still works</a:t>
            </a:r>
          </a:p>
        </p:txBody>
      </p:sp>
      <p:sp>
        <p:nvSpPr>
          <p:cNvPr id="4" name="Rounded Rectangle 3"/>
          <p:cNvSpPr/>
          <p:nvPr/>
        </p:nvSpPr>
        <p:spPr>
          <a:xfrm>
            <a:off x="10561320" y="329184"/>
            <a:ext cx="1417320" cy="384048"/>
          </a:xfrm>
          <a:prstGeom prst="roundRect">
            <a:avLst>
              <a:gd name="adj" fmla="val 8000"/>
            </a:avLst>
          </a:prstGeom>
          <a:solidFill>
            <a:srgbClr val="8B1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561320" y="329184"/>
            <a:ext cx="1417320" cy="384048"/>
          </a:xfrm>
          <a:prstGeom prst="rect">
            <a:avLst/>
          </a:prstGeom>
          <a:noFill/>
        </p:spPr>
        <p:txBody>
          <a:bodyPr wrap="square" lIns="45720" rIns="45720" tIns="27432" bIns="27432" anchor="ctr">
            <a:spAutoFit/>
          </a:bodyPr>
          <a:lstStyle/>
          <a:p>
            <a:pPr algn="ctr"/>
            <a:r>
              <a:rPr sz="1200" b="1" i="0">
                <a:solidFill>
                  <a:srgbClr val="FFFFFF"/>
                </a:solidFill>
                <a:latin typeface="Calibri"/>
              </a:rPr>
              <a:t>the quiet burglar</a:t>
            </a:r>
          </a:p>
        </p:txBody>
      </p:sp>
      <p:sp>
        <p:nvSpPr>
          <p:cNvPr id="6" name="TextBox 5"/>
          <p:cNvSpPr txBox="1"/>
          <p:nvPr/>
        </p:nvSpPr>
        <p:spPr>
          <a:xfrm>
            <a:off x="1965960" y="6327648"/>
            <a:ext cx="8778240" cy="365760"/>
          </a:xfrm>
          <a:prstGeom prst="rect">
            <a:avLst/>
          </a:prstGeom>
          <a:noFill/>
        </p:spPr>
        <p:txBody>
          <a:bodyPr wrap="square" lIns="45720" rIns="45720" tIns="27432" bIns="27432" anchor="ctr">
            <a:spAutoFit/>
          </a:bodyPr>
          <a:lstStyle/>
          <a:p>
            <a:pPr algn="l"/>
            <a:r>
              <a:rPr sz="1050" b="0" i="0">
                <a:solidFill>
                  <a:srgbClr val="6B6B6B"/>
                </a:solidFill>
                <a:latin typeface="Calibri"/>
              </a:rPr>
              <a:t>Tables 4, 9 and 10 of the thesis (ch.3.4, 4.4, 4.5)</a:t>
            </a:r>
          </a:p>
        </p:txBody>
      </p:sp>
      <p:sp>
        <p:nvSpPr>
          <p:cNvPr id="7" name="TextBox 6"/>
          <p:cNvSpPr txBox="1"/>
          <p:nvPr/>
        </p:nvSpPr>
        <p:spPr>
          <a:xfrm>
            <a:off x="11109960" y="6355080"/>
            <a:ext cx="822960" cy="320040"/>
          </a:xfrm>
          <a:prstGeom prst="rect">
            <a:avLst/>
          </a:prstGeom>
          <a:noFill/>
        </p:spPr>
        <p:txBody>
          <a:bodyPr wrap="square" lIns="45720" rIns="45720" tIns="27432" bIns="27432" anchor="ctr">
            <a:spAutoFit/>
          </a:bodyPr>
          <a:lstStyle/>
          <a:p>
            <a:pPr algn="r"/>
            <a:r>
              <a:rPr sz="1200" b="0" i="0">
                <a:solidFill>
                  <a:srgbClr val="6B6B6B"/>
                </a:solidFill>
                <a:latin typeface="Calibri"/>
              </a:rPr>
              <a:t>16</a:t>
            </a:r>
          </a:p>
        </p:txBody>
      </p:sp>
      <p:pic>
        <p:nvPicPr>
          <p:cNvPr id="8" name="Picture 7" descr="v6_plot_twist.png"/>
          <p:cNvPicPr>
            <a:picLocks noChangeAspect="1"/>
          </p:cNvPicPr>
          <p:nvPr/>
        </p:nvPicPr>
        <p:blipFill>
          <a:blip r:embed="rId2"/>
          <a:stretch>
            <a:fillRect/>
          </a:stretch>
        </p:blipFill>
        <p:spPr>
          <a:xfrm>
            <a:off x="457200" y="1602219"/>
            <a:ext cx="6766560" cy="4293640"/>
          </a:xfrm>
          <a:prstGeom prst="rect">
            <a:avLst/>
          </a:prstGeom>
        </p:spPr>
      </p:pic>
      <p:sp>
        <p:nvSpPr>
          <p:cNvPr id="9" name="Rounded Rectangle 8"/>
          <p:cNvSpPr/>
          <p:nvPr/>
        </p:nvSpPr>
        <p:spPr>
          <a:xfrm>
            <a:off x="7452360" y="1417320"/>
            <a:ext cx="4297680" cy="1417320"/>
          </a:xfrm>
          <a:prstGeom prst="roundRect">
            <a:avLst>
              <a:gd name="adj" fmla="val 8000"/>
            </a:avLst>
          </a:prstGeom>
          <a:solidFill>
            <a:srgbClr val="FFFFFF"/>
          </a:solidFill>
          <a:ln w="19050">
            <a:solidFill>
              <a:srgbClr val="6B6B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589520" y="1481328"/>
            <a:ext cx="4023360" cy="1325880"/>
          </a:xfrm>
          <a:prstGeom prst="rect">
            <a:avLst/>
          </a:prstGeom>
          <a:noFill/>
        </p:spPr>
        <p:txBody>
          <a:bodyPr wrap="square" lIns="45720" rIns="45720" tIns="27432" bIns="27432" anchor="t">
            <a:spAutoFit/>
          </a:bodyPr>
          <a:lstStyle/>
          <a:p>
            <a:pPr algn="l"/>
            <a:r>
              <a:rPr sz="1800" b="1" i="0">
                <a:solidFill>
                  <a:srgbClr val="6B6B6B"/>
                </a:solidFill>
                <a:latin typeface="Calibri"/>
              </a:rPr>
              <a:t>Earlier exploratory model</a:t>
            </a:r>
          </a:p>
          <a:p>
            <a:pPr algn="l"/>
            <a:r>
              <a:rPr sz="1600" b="0" i="0">
                <a:solidFill>
                  <a:srgbClr val="2B2B2B"/>
                </a:solidFill>
                <a:latin typeface="Calibri"/>
              </a:rPr>
              <a:t>recall 0.26 on the Large Dataset: it followed the IP count</a:t>
            </a:r>
          </a:p>
        </p:txBody>
      </p:sp>
      <p:sp>
        <p:nvSpPr>
          <p:cNvPr id="11" name="Rounded Rectangle 10"/>
          <p:cNvSpPr/>
          <p:nvPr/>
        </p:nvSpPr>
        <p:spPr>
          <a:xfrm>
            <a:off x="7452360" y="3017520"/>
            <a:ext cx="4297680" cy="1417320"/>
          </a:xfrm>
          <a:prstGeom prst="roundRect">
            <a:avLst>
              <a:gd name="adj" fmla="val 8000"/>
            </a:avLst>
          </a:prstGeom>
          <a:solidFill>
            <a:srgbClr val="F6ECF0"/>
          </a:solidFill>
          <a:ln w="19050">
            <a:solidFill>
              <a:srgbClr val="8B1A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589520" y="3081527"/>
            <a:ext cx="4023360" cy="1325880"/>
          </a:xfrm>
          <a:prstGeom prst="rect">
            <a:avLst/>
          </a:prstGeom>
          <a:noFill/>
        </p:spPr>
        <p:txBody>
          <a:bodyPr wrap="square" lIns="45720" rIns="45720" tIns="27432" bIns="27432" anchor="t">
            <a:spAutoFit/>
          </a:bodyPr>
          <a:lstStyle/>
          <a:p>
            <a:pPr algn="l"/>
            <a:r>
              <a:rPr sz="1800" b="1" i="0">
                <a:solidFill>
                  <a:srgbClr val="8B1A4A"/>
                </a:solidFill>
                <a:latin typeface="Calibri"/>
              </a:rPr>
              <a:t>Final model</a:t>
            </a:r>
          </a:p>
          <a:p>
            <a:pPr algn="l"/>
            <a:r>
              <a:rPr sz="1600" b="0" i="0">
                <a:solidFill>
                  <a:srgbClr val="2B2B2B"/>
                </a:solidFill>
                <a:latin typeface="Calibri"/>
              </a:rPr>
              <a:t>recall 1.00 on the Large Dataset</a:t>
            </a:r>
          </a:p>
        </p:txBody>
      </p:sp>
      <p:sp>
        <p:nvSpPr>
          <p:cNvPr id="13" name="Rounded Rectangle 12"/>
          <p:cNvSpPr/>
          <p:nvPr/>
        </p:nvSpPr>
        <p:spPr>
          <a:xfrm>
            <a:off x="7452360" y="4617720"/>
            <a:ext cx="4297680" cy="1417320"/>
          </a:xfrm>
          <a:prstGeom prst="roundRect">
            <a:avLst>
              <a:gd name="adj" fmla="val 8000"/>
            </a:avLst>
          </a:prstGeom>
          <a:solidFill>
            <a:srgbClr val="E8F3F5"/>
          </a:solidFill>
          <a:ln w="19050">
            <a:solidFill>
              <a:srgbClr val="2A7F8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589520" y="4681728"/>
            <a:ext cx="4023360" cy="1325880"/>
          </a:xfrm>
          <a:prstGeom prst="rect">
            <a:avLst/>
          </a:prstGeom>
          <a:noFill/>
        </p:spPr>
        <p:txBody>
          <a:bodyPr wrap="square" lIns="45720" rIns="45720" tIns="27432" bIns="27432" anchor="t">
            <a:spAutoFit/>
          </a:bodyPr>
          <a:lstStyle/>
          <a:p>
            <a:pPr algn="l"/>
            <a:r>
              <a:rPr sz="1800" b="1" i="0">
                <a:solidFill>
                  <a:srgbClr val="2A7F8E"/>
                </a:solidFill>
                <a:latin typeface="Calibri"/>
              </a:rPr>
              <a:t>What its scores follow</a:t>
            </a:r>
          </a:p>
          <a:p>
            <a:pPr algn="l"/>
            <a:r>
              <a:rPr sz="1600" b="0" i="0">
                <a:solidFill>
                  <a:srgbClr val="2B2B2B"/>
                </a:solidFill>
                <a:latin typeface="Calibri"/>
              </a:rPr>
              <a:t>failure rate: +0.71 (Spearman)</a:t>
            </a:r>
          </a:p>
          <a:p>
            <a:pPr algn="l"/>
            <a:r>
              <a:rPr sz="1600" b="0" i="0">
                <a:solidFill>
                  <a:srgbClr val="2B2B2B"/>
                </a:solidFill>
                <a:latin typeface="Calibri"/>
              </a:rPr>
              <a:t>distinct IPs: −0.39</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338560" cy="685800"/>
          </a:xfrm>
          <a:prstGeom prst="rect">
            <a:avLst/>
          </a:prstGeom>
          <a:noFill/>
        </p:spPr>
        <p:txBody>
          <a:bodyPr wrap="square" lIns="45720" rIns="45720" tIns="27432" bIns="27432" anchor="ctr">
            <a:spAutoFit/>
          </a:bodyPr>
          <a:lstStyle/>
          <a:p>
            <a:pPr algn="l"/>
            <a:r>
              <a:rPr sz="3000" b="1" i="0">
                <a:solidFill>
                  <a:srgbClr val="8B1A4A"/>
                </a:solidFill>
                <a:latin typeface="Calibri"/>
              </a:rPr>
              <a:t>Fast enough for a gateway</a:t>
            </a:r>
          </a:p>
        </p:txBody>
      </p:sp>
      <p:sp>
        <p:nvSpPr>
          <p:cNvPr id="3" name="TextBox 2"/>
          <p:cNvSpPr txBox="1"/>
          <p:nvPr/>
        </p:nvSpPr>
        <p:spPr>
          <a:xfrm>
            <a:off x="521207" y="841248"/>
            <a:ext cx="11155680" cy="411480"/>
          </a:xfrm>
          <a:prstGeom prst="rect">
            <a:avLst/>
          </a:prstGeom>
          <a:noFill/>
        </p:spPr>
        <p:txBody>
          <a:bodyPr wrap="square" lIns="45720" rIns="45720" tIns="27432" bIns="27432" anchor="t">
            <a:spAutoFit/>
          </a:bodyPr>
          <a:lstStyle/>
          <a:p>
            <a:pPr algn="l"/>
            <a:r>
              <a:rPr sz="1700" b="0" i="0">
                <a:solidFill>
                  <a:srgbClr val="6B6B6B"/>
                </a:solidFill>
                <a:latin typeface="Calibri"/>
              </a:rPr>
              <a:t>Claim 2: one decision per minute, measured on an ordinary CPU</a:t>
            </a:r>
          </a:p>
        </p:txBody>
      </p:sp>
      <p:sp>
        <p:nvSpPr>
          <p:cNvPr id="4" name="TextBox 3"/>
          <p:cNvSpPr txBox="1"/>
          <p:nvPr/>
        </p:nvSpPr>
        <p:spPr>
          <a:xfrm>
            <a:off x="1965960" y="6327648"/>
            <a:ext cx="8778240" cy="365760"/>
          </a:xfrm>
          <a:prstGeom prst="rect">
            <a:avLst/>
          </a:prstGeom>
          <a:noFill/>
        </p:spPr>
        <p:txBody>
          <a:bodyPr wrap="square" lIns="45720" rIns="45720" tIns="27432" bIns="27432" anchor="ctr">
            <a:spAutoFit/>
          </a:bodyPr>
          <a:lstStyle/>
          <a:p>
            <a:pPr algn="l"/>
            <a:r>
              <a:rPr sz="1050" b="0" i="0">
                <a:solidFill>
                  <a:srgbClr val="6B6B6B"/>
                </a:solidFill>
                <a:latin typeface="Calibri"/>
              </a:rPr>
              <a:t>Table 11 of the thesis (ch.4.6): 500 timed forward passes, batch size 1, 6 CPU threads</a:t>
            </a:r>
          </a:p>
        </p:txBody>
      </p:sp>
      <p:sp>
        <p:nvSpPr>
          <p:cNvPr id="5" name="TextBox 4"/>
          <p:cNvSpPr txBox="1"/>
          <p:nvPr/>
        </p:nvSpPr>
        <p:spPr>
          <a:xfrm>
            <a:off x="11109960" y="6355080"/>
            <a:ext cx="822960" cy="320040"/>
          </a:xfrm>
          <a:prstGeom prst="rect">
            <a:avLst/>
          </a:prstGeom>
          <a:noFill/>
        </p:spPr>
        <p:txBody>
          <a:bodyPr wrap="square" lIns="45720" rIns="45720" tIns="27432" bIns="27432" anchor="ctr">
            <a:spAutoFit/>
          </a:bodyPr>
          <a:lstStyle/>
          <a:p>
            <a:pPr algn="r"/>
            <a:r>
              <a:rPr sz="1200" b="0" i="0">
                <a:solidFill>
                  <a:srgbClr val="6B6B6B"/>
                </a:solidFill>
                <a:latin typeface="Calibri"/>
              </a:rPr>
              <a:t>17</a:t>
            </a:r>
          </a:p>
        </p:txBody>
      </p:sp>
      <p:pic>
        <p:nvPicPr>
          <p:cNvPr id="6" name="Picture 5" descr="v7_latency_track.png"/>
          <p:cNvPicPr>
            <a:picLocks noChangeAspect="1"/>
          </p:cNvPicPr>
          <p:nvPr/>
        </p:nvPicPr>
        <p:blipFill>
          <a:blip r:embed="rId2"/>
          <a:stretch>
            <a:fillRect/>
          </a:stretch>
        </p:blipFill>
        <p:spPr>
          <a:xfrm>
            <a:off x="749512" y="1371600"/>
            <a:ext cx="10662495" cy="2651760"/>
          </a:xfrm>
          <a:prstGeom prst="rect">
            <a:avLst/>
          </a:prstGeom>
        </p:spPr>
      </p:pic>
      <p:sp>
        <p:nvSpPr>
          <p:cNvPr id="7" name="Rounded Rectangle 6"/>
          <p:cNvSpPr/>
          <p:nvPr/>
        </p:nvSpPr>
        <p:spPr>
          <a:xfrm>
            <a:off x="685800" y="4114800"/>
            <a:ext cx="2560320" cy="1371600"/>
          </a:xfrm>
          <a:prstGeom prst="roundRect">
            <a:avLst>
              <a:gd name="adj" fmla="val 8000"/>
            </a:avLst>
          </a:prstGeom>
          <a:solidFill>
            <a:srgbClr val="F6ECF0"/>
          </a:solidFill>
          <a:ln w="19050">
            <a:solidFill>
              <a:srgbClr val="8B1A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4187952"/>
            <a:ext cx="2377439" cy="685800"/>
          </a:xfrm>
          <a:prstGeom prst="rect">
            <a:avLst/>
          </a:prstGeom>
          <a:noFill/>
        </p:spPr>
        <p:txBody>
          <a:bodyPr wrap="square" lIns="45720" rIns="45720" tIns="27432" bIns="27432" anchor="ctr">
            <a:spAutoFit/>
          </a:bodyPr>
          <a:lstStyle/>
          <a:p>
            <a:pPr algn="ctr"/>
            <a:r>
              <a:rPr sz="2800" b="1" i="0">
                <a:solidFill>
                  <a:srgbClr val="8B1A4A"/>
                </a:solidFill>
                <a:latin typeface="Calibri"/>
              </a:rPr>
              <a:t>0.65 ms</a:t>
            </a:r>
          </a:p>
        </p:txBody>
      </p:sp>
      <p:sp>
        <p:nvSpPr>
          <p:cNvPr id="9" name="TextBox 8"/>
          <p:cNvSpPr txBox="1"/>
          <p:nvPr/>
        </p:nvSpPr>
        <p:spPr>
          <a:xfrm>
            <a:off x="795528" y="4828032"/>
            <a:ext cx="2340863" cy="630936"/>
          </a:xfrm>
          <a:prstGeom prst="rect">
            <a:avLst/>
          </a:prstGeom>
          <a:noFill/>
        </p:spPr>
        <p:txBody>
          <a:bodyPr wrap="square" lIns="45720" rIns="45720" tIns="27432" bIns="27432" anchor="t">
            <a:spAutoFit/>
          </a:bodyPr>
          <a:lstStyle/>
          <a:p>
            <a:pPr algn="ctr"/>
            <a:r>
              <a:rPr sz="1400" b="0" i="0">
                <a:solidFill>
                  <a:srgbClr val="2B2B2B"/>
                </a:solidFill>
                <a:latin typeface="Calibri"/>
              </a:rPr>
              <a:t>mean time per decision</a:t>
            </a:r>
          </a:p>
        </p:txBody>
      </p:sp>
      <p:sp>
        <p:nvSpPr>
          <p:cNvPr id="10" name="Rounded Rectangle 9"/>
          <p:cNvSpPr/>
          <p:nvPr/>
        </p:nvSpPr>
        <p:spPr>
          <a:xfrm>
            <a:off x="3456432" y="4114800"/>
            <a:ext cx="2560320" cy="1371600"/>
          </a:xfrm>
          <a:prstGeom prst="roundRect">
            <a:avLst>
              <a:gd name="adj" fmla="val 8000"/>
            </a:avLst>
          </a:prstGeom>
          <a:solidFill>
            <a:srgbClr val="F6ECF0"/>
          </a:solidFill>
          <a:ln w="19050">
            <a:solidFill>
              <a:srgbClr val="8B1A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547872" y="4187952"/>
            <a:ext cx="2377439" cy="685800"/>
          </a:xfrm>
          <a:prstGeom prst="rect">
            <a:avLst/>
          </a:prstGeom>
          <a:noFill/>
        </p:spPr>
        <p:txBody>
          <a:bodyPr wrap="square" lIns="45720" rIns="45720" tIns="27432" bIns="27432" anchor="ctr">
            <a:spAutoFit/>
          </a:bodyPr>
          <a:lstStyle/>
          <a:p>
            <a:pPr algn="ctr"/>
            <a:r>
              <a:rPr sz="2800" b="1" i="0">
                <a:solidFill>
                  <a:srgbClr val="8B1A4A"/>
                </a:solidFill>
                <a:latin typeface="Calibri"/>
              </a:rPr>
              <a:t>1.64 ms</a:t>
            </a:r>
          </a:p>
        </p:txBody>
      </p:sp>
      <p:sp>
        <p:nvSpPr>
          <p:cNvPr id="12" name="TextBox 11"/>
          <p:cNvSpPr txBox="1"/>
          <p:nvPr/>
        </p:nvSpPr>
        <p:spPr>
          <a:xfrm>
            <a:off x="3566160" y="4828032"/>
            <a:ext cx="2340863" cy="630936"/>
          </a:xfrm>
          <a:prstGeom prst="rect">
            <a:avLst/>
          </a:prstGeom>
          <a:noFill/>
        </p:spPr>
        <p:txBody>
          <a:bodyPr wrap="square" lIns="45720" rIns="45720" tIns="27432" bIns="27432" anchor="t">
            <a:spAutoFit/>
          </a:bodyPr>
          <a:lstStyle/>
          <a:p>
            <a:pPr algn="ctr"/>
            <a:r>
              <a:rPr sz="1400" b="0" i="0">
                <a:solidFill>
                  <a:srgbClr val="2B2B2B"/>
                </a:solidFill>
                <a:latin typeface="Calibri"/>
              </a:rPr>
              <a:t>99th percentile</a:t>
            </a:r>
          </a:p>
        </p:txBody>
      </p:sp>
      <p:sp>
        <p:nvSpPr>
          <p:cNvPr id="13" name="Rounded Rectangle 12"/>
          <p:cNvSpPr/>
          <p:nvPr/>
        </p:nvSpPr>
        <p:spPr>
          <a:xfrm>
            <a:off x="6227064" y="4114800"/>
            <a:ext cx="2560320" cy="1371600"/>
          </a:xfrm>
          <a:prstGeom prst="roundRect">
            <a:avLst>
              <a:gd name="adj" fmla="val 8000"/>
            </a:avLst>
          </a:prstGeom>
          <a:solidFill>
            <a:srgbClr val="F6ECF0"/>
          </a:solidFill>
          <a:ln w="19050">
            <a:solidFill>
              <a:srgbClr val="8B1A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18503" y="4187952"/>
            <a:ext cx="2377439" cy="685800"/>
          </a:xfrm>
          <a:prstGeom prst="rect">
            <a:avLst/>
          </a:prstGeom>
          <a:noFill/>
        </p:spPr>
        <p:txBody>
          <a:bodyPr wrap="square" lIns="45720" rIns="45720" tIns="27432" bIns="27432" anchor="ctr">
            <a:spAutoFit/>
          </a:bodyPr>
          <a:lstStyle/>
          <a:p>
            <a:pPr algn="ctr"/>
            <a:r>
              <a:rPr sz="2800" b="1" i="0">
                <a:solidFill>
                  <a:srgbClr val="8B1A4A"/>
                </a:solidFill>
                <a:latin typeface="Calibri"/>
              </a:rPr>
              <a:t>≈ 0.001%</a:t>
            </a:r>
          </a:p>
        </p:txBody>
      </p:sp>
      <p:sp>
        <p:nvSpPr>
          <p:cNvPr id="15" name="TextBox 14"/>
          <p:cNvSpPr txBox="1"/>
          <p:nvPr/>
        </p:nvSpPr>
        <p:spPr>
          <a:xfrm>
            <a:off x="6336792" y="4828032"/>
            <a:ext cx="2340863" cy="630936"/>
          </a:xfrm>
          <a:prstGeom prst="rect">
            <a:avLst/>
          </a:prstGeom>
          <a:noFill/>
        </p:spPr>
        <p:txBody>
          <a:bodyPr wrap="square" lIns="45720" rIns="45720" tIns="27432" bIns="27432" anchor="t">
            <a:spAutoFit/>
          </a:bodyPr>
          <a:lstStyle/>
          <a:p>
            <a:pPr algn="ctr"/>
            <a:r>
              <a:rPr sz="1400" b="0" i="0">
                <a:solidFill>
                  <a:srgbClr val="2B2B2B"/>
                </a:solidFill>
                <a:latin typeface="Calibri"/>
              </a:rPr>
              <a:t>of one CPU core</a:t>
            </a:r>
          </a:p>
        </p:txBody>
      </p:sp>
      <p:sp>
        <p:nvSpPr>
          <p:cNvPr id="16" name="Rounded Rectangle 15"/>
          <p:cNvSpPr/>
          <p:nvPr/>
        </p:nvSpPr>
        <p:spPr>
          <a:xfrm>
            <a:off x="8997696" y="4114800"/>
            <a:ext cx="2560320" cy="1371600"/>
          </a:xfrm>
          <a:prstGeom prst="roundRect">
            <a:avLst>
              <a:gd name="adj" fmla="val 8000"/>
            </a:avLst>
          </a:prstGeom>
          <a:solidFill>
            <a:srgbClr val="F6ECF0"/>
          </a:solidFill>
          <a:ln w="19050">
            <a:solidFill>
              <a:srgbClr val="8B1A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089136" y="4187952"/>
            <a:ext cx="2377439" cy="685800"/>
          </a:xfrm>
          <a:prstGeom prst="rect">
            <a:avLst/>
          </a:prstGeom>
          <a:noFill/>
        </p:spPr>
        <p:txBody>
          <a:bodyPr wrap="square" lIns="45720" rIns="45720" tIns="27432" bIns="27432" anchor="ctr">
            <a:spAutoFit/>
          </a:bodyPr>
          <a:lstStyle/>
          <a:p>
            <a:pPr algn="ctr"/>
            <a:r>
              <a:rPr sz="2800" b="1" i="0">
                <a:solidFill>
                  <a:srgbClr val="8B1A4A"/>
                </a:solidFill>
                <a:latin typeface="Calibri"/>
              </a:rPr>
              <a:t>same cost</a:t>
            </a:r>
          </a:p>
        </p:txBody>
      </p:sp>
      <p:sp>
        <p:nvSpPr>
          <p:cNvPr id="18" name="TextBox 17"/>
          <p:cNvSpPr txBox="1"/>
          <p:nvPr/>
        </p:nvSpPr>
        <p:spPr>
          <a:xfrm>
            <a:off x="9107424" y="4828032"/>
            <a:ext cx="2340863" cy="630936"/>
          </a:xfrm>
          <a:prstGeom prst="rect">
            <a:avLst/>
          </a:prstGeom>
          <a:noFill/>
        </p:spPr>
        <p:txBody>
          <a:bodyPr wrap="square" lIns="45720" rIns="45720" tIns="27432" bIns="27432" anchor="t">
            <a:spAutoFit/>
          </a:bodyPr>
          <a:lstStyle/>
          <a:p>
            <a:pPr algn="ctr"/>
            <a:r>
              <a:rPr sz="1400" b="0" i="0">
                <a:solidFill>
                  <a:srgbClr val="2B2B2B"/>
                </a:solidFill>
                <a:latin typeface="Calibri"/>
              </a:rPr>
              <a:t>at 10 or 10,000 requests per second</a:t>
            </a:r>
          </a:p>
        </p:txBody>
      </p:sp>
      <p:sp>
        <p:nvSpPr>
          <p:cNvPr id="19" name="TextBox 18"/>
          <p:cNvSpPr txBox="1"/>
          <p:nvPr/>
        </p:nvSpPr>
        <p:spPr>
          <a:xfrm>
            <a:off x="1920240" y="5623560"/>
            <a:ext cx="9601200" cy="411480"/>
          </a:xfrm>
          <a:prstGeom prst="rect">
            <a:avLst/>
          </a:prstGeom>
          <a:noFill/>
        </p:spPr>
        <p:txBody>
          <a:bodyPr wrap="square" lIns="45720" rIns="45720" tIns="27432" bIns="27432" anchor="t">
            <a:spAutoFit/>
          </a:bodyPr>
          <a:lstStyle/>
          <a:p>
            <a:pPr algn="ctr"/>
            <a:r>
              <a:rPr sz="1500" b="0" i="1">
                <a:solidFill>
                  <a:srgbClr val="6B6B6B"/>
                </a:solidFill>
                <a:latin typeface="Calibri"/>
              </a:rPr>
              <a:t>Not measured: the cost of computing the per-minute aggregates.</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338560" cy="685800"/>
          </a:xfrm>
          <a:prstGeom prst="rect">
            <a:avLst/>
          </a:prstGeom>
          <a:noFill/>
        </p:spPr>
        <p:txBody>
          <a:bodyPr wrap="square" lIns="45720" rIns="45720" tIns="27432" bIns="27432" anchor="ctr">
            <a:spAutoFit/>
          </a:bodyPr>
          <a:lstStyle/>
          <a:p>
            <a:pPr algn="l"/>
            <a:r>
              <a:rPr sz="3000" b="1" i="0">
                <a:solidFill>
                  <a:srgbClr val="8B1A4A"/>
                </a:solidFill>
                <a:latin typeface="Calibri"/>
              </a:rPr>
              <a:t>When it fires and where it errs</a:t>
            </a:r>
          </a:p>
        </p:txBody>
      </p:sp>
      <p:sp>
        <p:nvSpPr>
          <p:cNvPr id="3" name="TextBox 2"/>
          <p:cNvSpPr txBox="1"/>
          <p:nvPr/>
        </p:nvSpPr>
        <p:spPr>
          <a:xfrm>
            <a:off x="1965960" y="6327648"/>
            <a:ext cx="8778240" cy="365760"/>
          </a:xfrm>
          <a:prstGeom prst="rect">
            <a:avLst/>
          </a:prstGeom>
          <a:noFill/>
        </p:spPr>
        <p:txBody>
          <a:bodyPr wrap="square" lIns="45720" rIns="45720" tIns="27432" bIns="27432" anchor="ctr">
            <a:spAutoFit/>
          </a:bodyPr>
          <a:lstStyle/>
          <a:p>
            <a:pPr algn="l"/>
            <a:r>
              <a:rPr sz="1050" b="0" i="0">
                <a:solidFill>
                  <a:srgbClr val="6B6B6B"/>
                </a:solidFill>
                <a:latin typeface="Calibri"/>
              </a:rPr>
              <a:t>Figure 10 and Tables 12–13 of the thesis (ch.4.7–4.8); threshold 0.50</a:t>
            </a:r>
          </a:p>
        </p:txBody>
      </p:sp>
      <p:sp>
        <p:nvSpPr>
          <p:cNvPr id="4" name="TextBox 3"/>
          <p:cNvSpPr txBox="1"/>
          <p:nvPr/>
        </p:nvSpPr>
        <p:spPr>
          <a:xfrm>
            <a:off x="11109960" y="6355080"/>
            <a:ext cx="822960" cy="320040"/>
          </a:xfrm>
          <a:prstGeom prst="rect">
            <a:avLst/>
          </a:prstGeom>
          <a:noFill/>
        </p:spPr>
        <p:txBody>
          <a:bodyPr wrap="square" lIns="45720" rIns="45720" tIns="27432" bIns="27432" anchor="ctr">
            <a:spAutoFit/>
          </a:bodyPr>
          <a:lstStyle/>
          <a:p>
            <a:pPr algn="r"/>
            <a:r>
              <a:rPr sz="1200" b="0" i="0">
                <a:solidFill>
                  <a:srgbClr val="6B6B6B"/>
                </a:solidFill>
                <a:latin typeface="Calibri"/>
              </a:rPr>
              <a:t>18</a:t>
            </a:r>
          </a:p>
        </p:txBody>
      </p:sp>
      <p:pic>
        <p:nvPicPr>
          <p:cNvPr id="5" name="Picture 4" descr="fig_detection_timeline_v16.png"/>
          <p:cNvPicPr>
            <a:picLocks noChangeAspect="1"/>
          </p:cNvPicPr>
          <p:nvPr/>
        </p:nvPicPr>
        <p:blipFill>
          <a:blip r:embed="rId2"/>
          <a:stretch>
            <a:fillRect/>
          </a:stretch>
        </p:blipFill>
        <p:spPr>
          <a:xfrm>
            <a:off x="411480" y="1142013"/>
            <a:ext cx="7772400" cy="4894012"/>
          </a:xfrm>
          <a:prstGeom prst="rect">
            <a:avLst/>
          </a:prstGeom>
        </p:spPr>
      </p:pic>
      <p:sp>
        <p:nvSpPr>
          <p:cNvPr id="6" name="Rounded Rectangle 5"/>
          <p:cNvSpPr/>
          <p:nvPr/>
        </p:nvSpPr>
        <p:spPr>
          <a:xfrm>
            <a:off x="8321040" y="1143000"/>
            <a:ext cx="3474720" cy="1115568"/>
          </a:xfrm>
          <a:prstGeom prst="roundRect">
            <a:avLst>
              <a:gd name="adj" fmla="val 8000"/>
            </a:avLst>
          </a:prstGeom>
          <a:solidFill>
            <a:srgbClr val="F6ECF0"/>
          </a:solidFill>
          <a:ln w="19050">
            <a:solidFill>
              <a:srgbClr val="8B1A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430768" y="1179576"/>
            <a:ext cx="3291840" cy="1051560"/>
          </a:xfrm>
          <a:prstGeom prst="rect">
            <a:avLst/>
          </a:prstGeom>
          <a:noFill/>
        </p:spPr>
        <p:txBody>
          <a:bodyPr wrap="square" lIns="45720" rIns="45720" tIns="27432" bIns="27432" anchor="t">
            <a:spAutoFit/>
          </a:bodyPr>
          <a:lstStyle/>
          <a:p>
            <a:pPr algn="l"/>
            <a:r>
              <a:rPr sz="1700" b="1" i="0">
                <a:solidFill>
                  <a:srgbClr val="8B1A4A"/>
                </a:solidFill>
                <a:latin typeface="Calibri"/>
              </a:rPr>
              <a:t>First minute</a:t>
            </a:r>
          </a:p>
          <a:p>
            <a:pPr algn="l"/>
            <a:r>
              <a:rPr sz="1400" b="0" i="0">
                <a:solidFill>
                  <a:srgbClr val="2B2B2B"/>
                </a:solidFill>
                <a:latin typeface="Calibri"/>
              </a:rPr>
              <a:t>alarm in the first scorable minute of every attack episode</a:t>
            </a:r>
          </a:p>
        </p:txBody>
      </p:sp>
      <p:sp>
        <p:nvSpPr>
          <p:cNvPr id="8" name="Rounded Rectangle 7"/>
          <p:cNvSpPr/>
          <p:nvPr/>
        </p:nvSpPr>
        <p:spPr>
          <a:xfrm>
            <a:off x="8321040" y="2395728"/>
            <a:ext cx="3474720" cy="1115568"/>
          </a:xfrm>
          <a:prstGeom prst="roundRect">
            <a:avLst>
              <a:gd name="adj" fmla="val 8000"/>
            </a:avLst>
          </a:prstGeom>
          <a:solidFill>
            <a:srgbClr val="FFFFFF"/>
          </a:solidFill>
          <a:ln w="19050">
            <a:solidFill>
              <a:srgbClr val="EB1C2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430768" y="2432304"/>
            <a:ext cx="3291840" cy="1051560"/>
          </a:xfrm>
          <a:prstGeom prst="rect">
            <a:avLst/>
          </a:prstGeom>
          <a:noFill/>
        </p:spPr>
        <p:txBody>
          <a:bodyPr wrap="square" lIns="45720" rIns="45720" tIns="27432" bIns="27432" anchor="t">
            <a:spAutoFit/>
          </a:bodyPr>
          <a:lstStyle/>
          <a:p>
            <a:pPr algn="l"/>
            <a:r>
              <a:rPr sz="1700" b="1" i="0">
                <a:solidFill>
                  <a:srgbClr val="EB1C23"/>
                </a:solidFill>
                <a:latin typeface="Calibri"/>
              </a:rPr>
              <a:t>15 false alarms</a:t>
            </a:r>
          </a:p>
          <a:p>
            <a:pPr algn="l"/>
            <a:r>
              <a:rPr sz="1400" b="0" i="0">
                <a:solidFill>
                  <a:srgbClr val="2B2B2B"/>
                </a:solidFill>
                <a:latin typeface="Calibri"/>
              </a:rPr>
              <a:t>all within 15 min of an attack; failure rate 0.19–0.30</a:t>
            </a:r>
          </a:p>
        </p:txBody>
      </p:sp>
      <p:sp>
        <p:nvSpPr>
          <p:cNvPr id="10" name="Rounded Rectangle 9"/>
          <p:cNvSpPr/>
          <p:nvPr/>
        </p:nvSpPr>
        <p:spPr>
          <a:xfrm>
            <a:off x="8321040" y="3648456"/>
            <a:ext cx="3474720" cy="1115568"/>
          </a:xfrm>
          <a:prstGeom prst="roundRect">
            <a:avLst>
              <a:gd name="adj" fmla="val 8000"/>
            </a:avLst>
          </a:prstGeom>
          <a:solidFill>
            <a:srgbClr val="FFFFFF"/>
          </a:solidFill>
          <a:ln w="19050">
            <a:solidFill>
              <a:srgbClr val="EB1C2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430768" y="3685032"/>
            <a:ext cx="3291840" cy="1051560"/>
          </a:xfrm>
          <a:prstGeom prst="rect">
            <a:avLst/>
          </a:prstGeom>
          <a:noFill/>
        </p:spPr>
        <p:txBody>
          <a:bodyPr wrap="square" lIns="45720" rIns="45720" tIns="27432" bIns="27432" anchor="t">
            <a:spAutoFit/>
          </a:bodyPr>
          <a:lstStyle/>
          <a:p>
            <a:pPr algn="l"/>
            <a:r>
              <a:rPr sz="1700" b="1" i="0">
                <a:solidFill>
                  <a:srgbClr val="EB1C23"/>
                </a:solidFill>
                <a:latin typeface="Calibri"/>
              </a:rPr>
              <a:t>10 misses</a:t>
            </a:r>
          </a:p>
          <a:p>
            <a:pPr algn="l"/>
            <a:r>
              <a:rPr sz="1400" b="0" i="0">
                <a:solidFill>
                  <a:srgbClr val="2B2B2B"/>
                </a:solidFill>
                <a:latin typeface="Calibri"/>
              </a:rPr>
              <a:t>all in the last Chaotic attack; failure rate 0.32–0.36</a:t>
            </a:r>
          </a:p>
        </p:txBody>
      </p:sp>
      <p:sp>
        <p:nvSpPr>
          <p:cNvPr id="12" name="Rounded Rectangle 11"/>
          <p:cNvSpPr/>
          <p:nvPr/>
        </p:nvSpPr>
        <p:spPr>
          <a:xfrm>
            <a:off x="8321040" y="4901184"/>
            <a:ext cx="3474720" cy="1115568"/>
          </a:xfrm>
          <a:prstGeom prst="roundRect">
            <a:avLst>
              <a:gd name="adj" fmla="val 8000"/>
            </a:avLst>
          </a:prstGeom>
          <a:solidFill>
            <a:srgbClr val="E8F3F5"/>
          </a:solidFill>
          <a:ln w="19050">
            <a:solidFill>
              <a:srgbClr val="2A7F8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430768" y="4937760"/>
            <a:ext cx="3291840" cy="1051560"/>
          </a:xfrm>
          <a:prstGeom prst="rect">
            <a:avLst/>
          </a:prstGeom>
          <a:noFill/>
        </p:spPr>
        <p:txBody>
          <a:bodyPr wrap="square" lIns="45720" rIns="45720" tIns="27432" bIns="27432" anchor="t">
            <a:spAutoFit/>
          </a:bodyPr>
          <a:lstStyle/>
          <a:p>
            <a:pPr algn="l"/>
            <a:r>
              <a:rPr sz="1700" b="1" i="0">
                <a:solidFill>
                  <a:srgbClr val="2A7F8E"/>
                </a:solidFill>
                <a:latin typeface="Calibri"/>
              </a:rPr>
              <a:t>0 false alarms</a:t>
            </a:r>
          </a:p>
          <a:p>
            <a:pPr algn="l"/>
            <a:r>
              <a:rPr sz="1400" b="0" i="0">
                <a:solidFill>
                  <a:srgbClr val="2B2B2B"/>
                </a:solidFill>
                <a:latin typeface="Calibri"/>
              </a:rPr>
              <a:t>in more than 11,000 normal minutes far from any attack</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338560" cy="685800"/>
          </a:xfrm>
          <a:prstGeom prst="rect">
            <a:avLst/>
          </a:prstGeom>
          <a:noFill/>
        </p:spPr>
        <p:txBody>
          <a:bodyPr wrap="square" lIns="45720" rIns="45720" tIns="27432" bIns="27432" anchor="ctr">
            <a:spAutoFit/>
          </a:bodyPr>
          <a:lstStyle/>
          <a:p>
            <a:pPr algn="l"/>
            <a:r>
              <a:rPr sz="3000" b="1" i="0">
                <a:solidFill>
                  <a:srgbClr val="8B1A4A"/>
                </a:solidFill>
                <a:latin typeface="Calibri"/>
              </a:rPr>
              <a:t>Limitations, honestly</a:t>
            </a:r>
          </a:p>
        </p:txBody>
      </p:sp>
      <p:sp>
        <p:nvSpPr>
          <p:cNvPr id="3" name="TextBox 2"/>
          <p:cNvSpPr txBox="1"/>
          <p:nvPr/>
        </p:nvSpPr>
        <p:spPr>
          <a:xfrm>
            <a:off x="521207" y="841248"/>
            <a:ext cx="11155680" cy="411480"/>
          </a:xfrm>
          <a:prstGeom prst="rect">
            <a:avLst/>
          </a:prstGeom>
          <a:noFill/>
        </p:spPr>
        <p:txBody>
          <a:bodyPr wrap="square" lIns="45720" rIns="45720" tIns="27432" bIns="27432" anchor="t">
            <a:spAutoFit/>
          </a:bodyPr>
          <a:lstStyle/>
          <a:p>
            <a:pPr algn="l"/>
            <a:r>
              <a:rPr sz="1700" b="0" i="0">
                <a:solidFill>
                  <a:srgbClr val="6B6B6B"/>
                </a:solidFill>
                <a:latin typeface="Calibri"/>
              </a:rPr>
              <a:t>What this thesis does not show</a:t>
            </a:r>
          </a:p>
        </p:txBody>
      </p:sp>
      <p:sp>
        <p:nvSpPr>
          <p:cNvPr id="4" name="TextBox 3"/>
          <p:cNvSpPr txBox="1"/>
          <p:nvPr/>
        </p:nvSpPr>
        <p:spPr>
          <a:xfrm>
            <a:off x="1965960" y="6327648"/>
            <a:ext cx="8778240" cy="365760"/>
          </a:xfrm>
          <a:prstGeom prst="rect">
            <a:avLst/>
          </a:prstGeom>
          <a:noFill/>
        </p:spPr>
        <p:txBody>
          <a:bodyPr wrap="square" lIns="45720" rIns="45720" tIns="27432" bIns="27432" anchor="ctr">
            <a:spAutoFit/>
          </a:bodyPr>
          <a:lstStyle/>
          <a:p>
            <a:pPr algn="l"/>
            <a:r>
              <a:rPr sz="1050" b="0" i="0">
                <a:solidFill>
                  <a:srgbClr val="6B6B6B"/>
                </a:solidFill>
                <a:latin typeface="Calibri"/>
              </a:rPr>
              <a:t>ch.5.2 (L1–L7) and Table 15 of the thesis</a:t>
            </a:r>
          </a:p>
        </p:txBody>
      </p:sp>
      <p:sp>
        <p:nvSpPr>
          <p:cNvPr id="5" name="TextBox 4"/>
          <p:cNvSpPr txBox="1"/>
          <p:nvPr/>
        </p:nvSpPr>
        <p:spPr>
          <a:xfrm>
            <a:off x="11109960" y="6355080"/>
            <a:ext cx="822960" cy="320040"/>
          </a:xfrm>
          <a:prstGeom prst="rect">
            <a:avLst/>
          </a:prstGeom>
          <a:noFill/>
        </p:spPr>
        <p:txBody>
          <a:bodyPr wrap="square" lIns="45720" rIns="45720" tIns="27432" bIns="27432" anchor="ctr">
            <a:spAutoFit/>
          </a:bodyPr>
          <a:lstStyle/>
          <a:p>
            <a:pPr algn="r"/>
            <a:r>
              <a:rPr sz="1200" b="0" i="0">
                <a:solidFill>
                  <a:srgbClr val="6B6B6B"/>
                </a:solidFill>
                <a:latin typeface="Calibri"/>
              </a:rPr>
              <a:t>19</a:t>
            </a:r>
          </a:p>
        </p:txBody>
      </p:sp>
      <p:sp>
        <p:nvSpPr>
          <p:cNvPr id="6" name="Oval 5"/>
          <p:cNvSpPr/>
          <p:nvPr/>
        </p:nvSpPr>
        <p:spPr>
          <a:xfrm>
            <a:off x="731520" y="1435608"/>
            <a:ext cx="566928" cy="566928"/>
          </a:xfrm>
          <a:prstGeom prst="ellipse">
            <a:avLst/>
          </a:prstGeom>
          <a:solidFill>
            <a:srgbClr val="8B1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31520" y="1435608"/>
            <a:ext cx="566928" cy="566928"/>
          </a:xfrm>
          <a:prstGeom prst="rect">
            <a:avLst/>
          </a:prstGeom>
          <a:noFill/>
        </p:spPr>
        <p:txBody>
          <a:bodyPr wrap="square" lIns="45720" rIns="45720" tIns="27432" bIns="27432" anchor="ctr">
            <a:spAutoFit/>
          </a:bodyPr>
          <a:lstStyle/>
          <a:p>
            <a:pPr algn="ctr"/>
            <a:r>
              <a:rPr sz="2000" b="1" i="0">
                <a:solidFill>
                  <a:srgbClr val="FFFFFF"/>
                </a:solidFill>
                <a:latin typeface="Calibri"/>
              </a:rPr>
              <a:t>1</a:t>
            </a:r>
          </a:p>
        </p:txBody>
      </p:sp>
      <p:sp>
        <p:nvSpPr>
          <p:cNvPr id="8" name="TextBox 7"/>
          <p:cNvSpPr txBox="1"/>
          <p:nvPr/>
        </p:nvSpPr>
        <p:spPr>
          <a:xfrm>
            <a:off x="1463040" y="1463040"/>
            <a:ext cx="4206240" cy="548640"/>
          </a:xfrm>
          <a:prstGeom prst="rect">
            <a:avLst/>
          </a:prstGeom>
          <a:noFill/>
        </p:spPr>
        <p:txBody>
          <a:bodyPr wrap="square" lIns="45720" rIns="45720" tIns="27432" bIns="27432" anchor="ctr">
            <a:spAutoFit/>
          </a:bodyPr>
          <a:lstStyle/>
          <a:p>
            <a:pPr algn="l"/>
            <a:r>
              <a:rPr sz="1900" b="1" i="0">
                <a:solidFill>
                  <a:srgbClr val="8B1A4A"/>
                </a:solidFill>
                <a:latin typeface="Calibri"/>
              </a:rPr>
              <a:t>Simulated traffic</a:t>
            </a:r>
          </a:p>
        </p:txBody>
      </p:sp>
      <p:sp>
        <p:nvSpPr>
          <p:cNvPr id="9" name="TextBox 8"/>
          <p:cNvSpPr txBox="1"/>
          <p:nvPr/>
        </p:nvSpPr>
        <p:spPr>
          <a:xfrm>
            <a:off x="5669280" y="1463040"/>
            <a:ext cx="6126480" cy="548640"/>
          </a:xfrm>
          <a:prstGeom prst="rect">
            <a:avLst/>
          </a:prstGeom>
          <a:noFill/>
        </p:spPr>
        <p:txBody>
          <a:bodyPr wrap="square" lIns="45720" rIns="45720" tIns="27432" bIns="27432" anchor="ctr">
            <a:spAutoFit/>
          </a:bodyPr>
          <a:lstStyle/>
          <a:p>
            <a:pPr algn="l"/>
            <a:r>
              <a:rPr sz="1600" b="0" i="0">
                <a:solidFill>
                  <a:srgbClr val="2B2B2B"/>
                </a:solidFill>
                <a:latin typeface="Calibri"/>
              </a:rPr>
              <a:t>200 synthetic users, one browser profile, no daily cycles (L6)</a:t>
            </a:r>
          </a:p>
        </p:txBody>
      </p:sp>
      <p:sp>
        <p:nvSpPr>
          <p:cNvPr id="10" name="Oval 9"/>
          <p:cNvSpPr/>
          <p:nvPr/>
        </p:nvSpPr>
        <p:spPr>
          <a:xfrm>
            <a:off x="731520" y="2221991"/>
            <a:ext cx="566928" cy="566928"/>
          </a:xfrm>
          <a:prstGeom prst="ellipse">
            <a:avLst/>
          </a:prstGeom>
          <a:solidFill>
            <a:srgbClr val="8B1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31520" y="2221991"/>
            <a:ext cx="566928" cy="566928"/>
          </a:xfrm>
          <a:prstGeom prst="rect">
            <a:avLst/>
          </a:prstGeom>
          <a:noFill/>
        </p:spPr>
        <p:txBody>
          <a:bodyPr wrap="square" lIns="45720" rIns="45720" tIns="27432" bIns="27432" anchor="ctr">
            <a:spAutoFit/>
          </a:bodyPr>
          <a:lstStyle/>
          <a:p>
            <a:pPr algn="ctr"/>
            <a:r>
              <a:rPr sz="2000" b="1" i="0">
                <a:solidFill>
                  <a:srgbClr val="FFFFFF"/>
                </a:solidFill>
                <a:latin typeface="Calibri"/>
              </a:rPr>
              <a:t>2</a:t>
            </a:r>
          </a:p>
        </p:txBody>
      </p:sp>
      <p:sp>
        <p:nvSpPr>
          <p:cNvPr id="12" name="TextBox 11"/>
          <p:cNvSpPr txBox="1"/>
          <p:nvPr/>
        </p:nvSpPr>
        <p:spPr>
          <a:xfrm>
            <a:off x="1463040" y="2249424"/>
            <a:ext cx="4206240" cy="548640"/>
          </a:xfrm>
          <a:prstGeom prst="rect">
            <a:avLst/>
          </a:prstGeom>
          <a:noFill/>
        </p:spPr>
        <p:txBody>
          <a:bodyPr wrap="square" lIns="45720" rIns="45720" tIns="27432" bIns="27432" anchor="ctr">
            <a:spAutoFit/>
          </a:bodyPr>
          <a:lstStyle/>
          <a:p>
            <a:pPr algn="l"/>
            <a:r>
              <a:rPr sz="1900" b="1" i="0">
                <a:solidFill>
                  <a:srgbClr val="8B1A4A"/>
                </a:solidFill>
                <a:latin typeface="Calibri"/>
              </a:rPr>
              <a:t>Labels come from a rule</a:t>
            </a:r>
          </a:p>
        </p:txBody>
      </p:sp>
      <p:sp>
        <p:nvSpPr>
          <p:cNvPr id="13" name="TextBox 12"/>
          <p:cNvSpPr txBox="1"/>
          <p:nvPr/>
        </p:nvSpPr>
        <p:spPr>
          <a:xfrm>
            <a:off x="5669280" y="2249424"/>
            <a:ext cx="6126480" cy="548640"/>
          </a:xfrm>
          <a:prstGeom prst="rect">
            <a:avLst/>
          </a:prstGeom>
          <a:noFill/>
        </p:spPr>
        <p:txBody>
          <a:bodyPr wrap="square" lIns="45720" rIns="45720" tIns="27432" bIns="27432" anchor="ctr">
            <a:spAutoFit/>
          </a:bodyPr>
          <a:lstStyle/>
          <a:p>
            <a:pPr algn="l"/>
            <a:r>
              <a:rPr sz="1600" b="0" i="0">
                <a:solidFill>
                  <a:srgbClr val="2B2B2B"/>
                </a:solidFill>
                <a:latin typeface="Calibri"/>
              </a:rPr>
              <a:t>a failure-rate threshold reproduces them exactly; the model learns the rule (L1)</a:t>
            </a:r>
          </a:p>
        </p:txBody>
      </p:sp>
      <p:sp>
        <p:nvSpPr>
          <p:cNvPr id="14" name="Oval 13"/>
          <p:cNvSpPr/>
          <p:nvPr/>
        </p:nvSpPr>
        <p:spPr>
          <a:xfrm>
            <a:off x="731520" y="3008375"/>
            <a:ext cx="566928" cy="566928"/>
          </a:xfrm>
          <a:prstGeom prst="ellipse">
            <a:avLst/>
          </a:prstGeom>
          <a:solidFill>
            <a:srgbClr val="8B1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31520" y="3008375"/>
            <a:ext cx="566928" cy="566928"/>
          </a:xfrm>
          <a:prstGeom prst="rect">
            <a:avLst/>
          </a:prstGeom>
          <a:noFill/>
        </p:spPr>
        <p:txBody>
          <a:bodyPr wrap="square" lIns="45720" rIns="45720" tIns="27432" bIns="27432" anchor="ctr">
            <a:spAutoFit/>
          </a:bodyPr>
          <a:lstStyle/>
          <a:p>
            <a:pPr algn="ctr"/>
            <a:r>
              <a:rPr sz="2000" b="1" i="0">
                <a:solidFill>
                  <a:srgbClr val="FFFFFF"/>
                </a:solidFill>
                <a:latin typeface="Calibri"/>
              </a:rPr>
              <a:t>3</a:t>
            </a:r>
          </a:p>
        </p:txBody>
      </p:sp>
      <p:sp>
        <p:nvSpPr>
          <p:cNvPr id="16" name="TextBox 15"/>
          <p:cNvSpPr txBox="1"/>
          <p:nvPr/>
        </p:nvSpPr>
        <p:spPr>
          <a:xfrm>
            <a:off x="1463040" y="3035808"/>
            <a:ext cx="4206240" cy="548640"/>
          </a:xfrm>
          <a:prstGeom prst="rect">
            <a:avLst/>
          </a:prstGeom>
          <a:noFill/>
        </p:spPr>
        <p:txBody>
          <a:bodyPr wrap="square" lIns="45720" rIns="45720" tIns="27432" bIns="27432" anchor="ctr">
            <a:spAutoFit/>
          </a:bodyPr>
          <a:lstStyle/>
          <a:p>
            <a:pPr algn="l"/>
            <a:r>
              <a:rPr sz="1900" b="1" i="0">
                <a:solidFill>
                  <a:srgbClr val="8B1A4A"/>
                </a:solidFill>
                <a:latin typeface="Calibri"/>
              </a:rPr>
              <a:t>TLS and header features untested</a:t>
            </a:r>
          </a:p>
        </p:txBody>
      </p:sp>
      <p:sp>
        <p:nvSpPr>
          <p:cNvPr id="17" name="TextBox 16"/>
          <p:cNvSpPr txBox="1"/>
          <p:nvPr/>
        </p:nvSpPr>
        <p:spPr>
          <a:xfrm>
            <a:off x="5669280" y="3035808"/>
            <a:ext cx="6126480" cy="548640"/>
          </a:xfrm>
          <a:prstGeom prst="rect">
            <a:avLst/>
          </a:prstGeom>
          <a:noFill/>
        </p:spPr>
        <p:txBody>
          <a:bodyPr wrap="square" lIns="45720" rIns="45720" tIns="27432" bIns="27432" anchor="ctr">
            <a:spAutoFit/>
          </a:bodyPr>
          <a:lstStyle/>
          <a:p>
            <a:pPr algn="l"/>
            <a:r>
              <a:rPr sz="1600" b="0" i="0">
                <a:solidFill>
                  <a:srgbClr val="2B2B2B"/>
                </a:solidFill>
                <a:latin typeface="Calibri"/>
              </a:rPr>
              <a:t>JA3 was constant; no header features were extracted (L5)</a:t>
            </a:r>
          </a:p>
        </p:txBody>
      </p:sp>
      <p:sp>
        <p:nvSpPr>
          <p:cNvPr id="18" name="Oval 17"/>
          <p:cNvSpPr/>
          <p:nvPr/>
        </p:nvSpPr>
        <p:spPr>
          <a:xfrm>
            <a:off x="731520" y="3794760"/>
            <a:ext cx="566928" cy="566928"/>
          </a:xfrm>
          <a:prstGeom prst="ellipse">
            <a:avLst/>
          </a:prstGeom>
          <a:solidFill>
            <a:srgbClr val="8B1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31520" y="3794760"/>
            <a:ext cx="566928" cy="566928"/>
          </a:xfrm>
          <a:prstGeom prst="rect">
            <a:avLst/>
          </a:prstGeom>
          <a:noFill/>
        </p:spPr>
        <p:txBody>
          <a:bodyPr wrap="square" lIns="45720" rIns="45720" tIns="27432" bIns="27432" anchor="ctr">
            <a:spAutoFit/>
          </a:bodyPr>
          <a:lstStyle/>
          <a:p>
            <a:pPr algn="ctr"/>
            <a:r>
              <a:rPr sz="2000" b="1" i="0">
                <a:solidFill>
                  <a:srgbClr val="FFFFFF"/>
                </a:solidFill>
                <a:latin typeface="Calibri"/>
              </a:rPr>
              <a:t>4</a:t>
            </a:r>
          </a:p>
        </p:txBody>
      </p:sp>
      <p:sp>
        <p:nvSpPr>
          <p:cNvPr id="20" name="TextBox 19"/>
          <p:cNvSpPr txBox="1"/>
          <p:nvPr/>
        </p:nvSpPr>
        <p:spPr>
          <a:xfrm>
            <a:off x="1463040" y="3822191"/>
            <a:ext cx="4206240" cy="548640"/>
          </a:xfrm>
          <a:prstGeom prst="rect">
            <a:avLst/>
          </a:prstGeom>
          <a:noFill/>
        </p:spPr>
        <p:txBody>
          <a:bodyPr wrap="square" lIns="45720" rIns="45720" tIns="27432" bIns="27432" anchor="ctr">
            <a:spAutoFit/>
          </a:bodyPr>
          <a:lstStyle/>
          <a:p>
            <a:pPr algn="l"/>
            <a:r>
              <a:rPr sz="1900" b="1" i="0">
                <a:solidFill>
                  <a:srgbClr val="8B1A4A"/>
                </a:solidFill>
                <a:latin typeface="Calibri"/>
              </a:rPr>
              <a:t>Minutes, not IPs</a:t>
            </a:r>
          </a:p>
        </p:txBody>
      </p:sp>
      <p:sp>
        <p:nvSpPr>
          <p:cNvPr id="21" name="TextBox 20"/>
          <p:cNvSpPr txBox="1"/>
          <p:nvPr/>
        </p:nvSpPr>
        <p:spPr>
          <a:xfrm>
            <a:off x="5669280" y="3822191"/>
            <a:ext cx="6126480" cy="548640"/>
          </a:xfrm>
          <a:prstGeom prst="rect">
            <a:avLst/>
          </a:prstGeom>
          <a:noFill/>
        </p:spPr>
        <p:txBody>
          <a:bodyPr wrap="square" lIns="45720" rIns="45720" tIns="27432" bIns="27432" anchor="ctr">
            <a:spAutoFit/>
          </a:bodyPr>
          <a:lstStyle/>
          <a:p>
            <a:pPr algn="l"/>
            <a:r>
              <a:rPr sz="1600" b="0" i="0">
                <a:solidFill>
                  <a:srgbClr val="2B2B2B"/>
                </a:solidFill>
                <a:latin typeface="Calibri"/>
              </a:rPr>
              <a:t>no per-client attribution; the throttling mechanism was not built (L7)</a:t>
            </a:r>
          </a:p>
        </p:txBody>
      </p:sp>
      <p:sp>
        <p:nvSpPr>
          <p:cNvPr id="22" name="Oval 21"/>
          <p:cNvSpPr/>
          <p:nvPr/>
        </p:nvSpPr>
        <p:spPr>
          <a:xfrm>
            <a:off x="731520" y="4581144"/>
            <a:ext cx="566928" cy="566928"/>
          </a:xfrm>
          <a:prstGeom prst="ellipse">
            <a:avLst/>
          </a:prstGeom>
          <a:solidFill>
            <a:srgbClr val="8B1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31520" y="4581144"/>
            <a:ext cx="566928" cy="566928"/>
          </a:xfrm>
          <a:prstGeom prst="rect">
            <a:avLst/>
          </a:prstGeom>
          <a:noFill/>
        </p:spPr>
        <p:txBody>
          <a:bodyPr wrap="square" lIns="45720" rIns="45720" tIns="27432" bIns="27432" anchor="ctr">
            <a:spAutoFit/>
          </a:bodyPr>
          <a:lstStyle/>
          <a:p>
            <a:pPr algn="ctr"/>
            <a:r>
              <a:rPr sz="2000" b="1" i="0">
                <a:solidFill>
                  <a:srgbClr val="FFFFFF"/>
                </a:solidFill>
                <a:latin typeface="Calibri"/>
              </a:rPr>
              <a:t>5</a:t>
            </a:r>
          </a:p>
        </p:txBody>
      </p:sp>
      <p:sp>
        <p:nvSpPr>
          <p:cNvPr id="24" name="TextBox 23"/>
          <p:cNvSpPr txBox="1"/>
          <p:nvPr/>
        </p:nvSpPr>
        <p:spPr>
          <a:xfrm>
            <a:off x="1463040" y="4608575"/>
            <a:ext cx="4206240" cy="548640"/>
          </a:xfrm>
          <a:prstGeom prst="rect">
            <a:avLst/>
          </a:prstGeom>
          <a:noFill/>
        </p:spPr>
        <p:txBody>
          <a:bodyPr wrap="square" lIns="45720" rIns="45720" tIns="27432" bIns="27432" anchor="ctr">
            <a:spAutoFit/>
          </a:bodyPr>
          <a:lstStyle/>
          <a:p>
            <a:pPr algn="l"/>
            <a:r>
              <a:rPr sz="1900" b="1" i="0">
                <a:solidFill>
                  <a:srgbClr val="8B1A4A"/>
                </a:solidFill>
                <a:latin typeface="Calibri"/>
              </a:rPr>
              <a:t>Single run</a:t>
            </a:r>
          </a:p>
        </p:txBody>
      </p:sp>
      <p:sp>
        <p:nvSpPr>
          <p:cNvPr id="25" name="TextBox 24"/>
          <p:cNvSpPr txBox="1"/>
          <p:nvPr/>
        </p:nvSpPr>
        <p:spPr>
          <a:xfrm>
            <a:off x="5669280" y="4608575"/>
            <a:ext cx="6126480" cy="548640"/>
          </a:xfrm>
          <a:prstGeom prst="rect">
            <a:avLst/>
          </a:prstGeom>
          <a:noFill/>
        </p:spPr>
        <p:txBody>
          <a:bodyPr wrap="square" lIns="45720" rIns="45720" tIns="27432" bIns="27432" anchor="ctr">
            <a:spAutoFit/>
          </a:bodyPr>
          <a:lstStyle/>
          <a:p>
            <a:pPr algn="l"/>
            <a:r>
              <a:rPr sz="1600" b="0" i="0">
                <a:solidFill>
                  <a:srgbClr val="2B2B2B"/>
                </a:solidFill>
                <a:latin typeface="Calibri"/>
              </a:rPr>
              <a:t>no fixed random seed; overlapping sequences make the intervals optimistic (L4)</a:t>
            </a:r>
          </a:p>
        </p:txBody>
      </p:sp>
      <p:sp>
        <p:nvSpPr>
          <p:cNvPr id="26" name="Oval 25"/>
          <p:cNvSpPr/>
          <p:nvPr/>
        </p:nvSpPr>
        <p:spPr>
          <a:xfrm>
            <a:off x="731520" y="5367528"/>
            <a:ext cx="566928" cy="566928"/>
          </a:xfrm>
          <a:prstGeom prst="ellipse">
            <a:avLst/>
          </a:prstGeom>
          <a:solidFill>
            <a:srgbClr val="8B1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31520" y="5367528"/>
            <a:ext cx="566928" cy="566928"/>
          </a:xfrm>
          <a:prstGeom prst="rect">
            <a:avLst/>
          </a:prstGeom>
          <a:noFill/>
        </p:spPr>
        <p:txBody>
          <a:bodyPr wrap="square" lIns="45720" rIns="45720" tIns="27432" bIns="27432" anchor="ctr">
            <a:spAutoFit/>
          </a:bodyPr>
          <a:lstStyle/>
          <a:p>
            <a:pPr algn="ctr"/>
            <a:r>
              <a:rPr sz="2000" b="1" i="0">
                <a:solidFill>
                  <a:srgbClr val="FFFFFF"/>
                </a:solidFill>
                <a:latin typeface="Calibri"/>
              </a:rPr>
              <a:t>6</a:t>
            </a:r>
          </a:p>
        </p:txBody>
      </p:sp>
      <p:sp>
        <p:nvSpPr>
          <p:cNvPr id="28" name="TextBox 27"/>
          <p:cNvSpPr txBox="1"/>
          <p:nvPr/>
        </p:nvSpPr>
        <p:spPr>
          <a:xfrm>
            <a:off x="1463040" y="5394959"/>
            <a:ext cx="4206240" cy="548640"/>
          </a:xfrm>
          <a:prstGeom prst="rect">
            <a:avLst/>
          </a:prstGeom>
          <a:noFill/>
        </p:spPr>
        <p:txBody>
          <a:bodyPr wrap="square" lIns="45720" rIns="45720" tIns="27432" bIns="27432" anchor="ctr">
            <a:spAutoFit/>
          </a:bodyPr>
          <a:lstStyle/>
          <a:p>
            <a:pPr algn="l"/>
            <a:r>
              <a:rPr sz="1900" b="1" i="0">
                <a:solidFill>
                  <a:srgbClr val="8B1A4A"/>
                </a:solidFill>
                <a:latin typeface="Calibri"/>
              </a:rPr>
              <a:t>Evasion</a:t>
            </a:r>
          </a:p>
        </p:txBody>
      </p:sp>
      <p:sp>
        <p:nvSpPr>
          <p:cNvPr id="29" name="TextBox 28"/>
          <p:cNvSpPr txBox="1"/>
          <p:nvPr/>
        </p:nvSpPr>
        <p:spPr>
          <a:xfrm>
            <a:off x="5669280" y="5394959"/>
            <a:ext cx="6126480" cy="548640"/>
          </a:xfrm>
          <a:prstGeom prst="rect">
            <a:avLst/>
          </a:prstGeom>
          <a:noFill/>
        </p:spPr>
        <p:txBody>
          <a:bodyPr wrap="square" lIns="45720" rIns="45720" tIns="27432" bIns="27432" anchor="ctr">
            <a:spAutoFit/>
          </a:bodyPr>
          <a:lstStyle/>
          <a:p>
            <a:pPr algn="l"/>
            <a:r>
              <a:rPr sz="1600" b="0" i="0">
                <a:solidFill>
                  <a:srgbClr val="2B2B2B"/>
                </a:solidFill>
                <a:latin typeface="Calibri"/>
              </a:rPr>
              <a:t>≈ 2.3 successful logins per failure keeps the rate at 0.30 (L3, not tested)</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338560" cy="685800"/>
          </a:xfrm>
          <a:prstGeom prst="rect">
            <a:avLst/>
          </a:prstGeom>
          <a:noFill/>
        </p:spPr>
        <p:txBody>
          <a:bodyPr wrap="square" lIns="45720" rIns="45720" tIns="27432" bIns="27432" anchor="ctr">
            <a:spAutoFit/>
          </a:bodyPr>
          <a:lstStyle/>
          <a:p>
            <a:pPr algn="l"/>
            <a:r>
              <a:rPr sz="3000" b="1" i="0">
                <a:solidFill>
                  <a:srgbClr val="8B1A4A"/>
                </a:solidFill>
                <a:latin typeface="Calibri"/>
              </a:rPr>
              <a:t>Take-home messages</a:t>
            </a:r>
          </a:p>
        </p:txBody>
      </p:sp>
      <p:sp>
        <p:nvSpPr>
          <p:cNvPr id="3" name="TextBox 2"/>
          <p:cNvSpPr txBox="1"/>
          <p:nvPr/>
        </p:nvSpPr>
        <p:spPr>
          <a:xfrm>
            <a:off x="11109960" y="6355080"/>
            <a:ext cx="822960" cy="320040"/>
          </a:xfrm>
          <a:prstGeom prst="rect">
            <a:avLst/>
          </a:prstGeom>
          <a:noFill/>
        </p:spPr>
        <p:txBody>
          <a:bodyPr wrap="square" lIns="45720" rIns="45720" tIns="27432" bIns="27432" anchor="ctr">
            <a:spAutoFit/>
          </a:bodyPr>
          <a:lstStyle/>
          <a:p>
            <a:pPr algn="r"/>
            <a:r>
              <a:rPr sz="1200" b="0" i="0">
                <a:solidFill>
                  <a:srgbClr val="6B6B6B"/>
                </a:solidFill>
                <a:latin typeface="Calibri"/>
              </a:rPr>
              <a:t>20</a:t>
            </a:r>
          </a:p>
        </p:txBody>
      </p:sp>
      <p:sp>
        <p:nvSpPr>
          <p:cNvPr id="4" name="Rounded Rectangle 3"/>
          <p:cNvSpPr/>
          <p:nvPr/>
        </p:nvSpPr>
        <p:spPr>
          <a:xfrm>
            <a:off x="685800" y="1280160"/>
            <a:ext cx="3429000" cy="4206240"/>
          </a:xfrm>
          <a:prstGeom prst="roundRect">
            <a:avLst>
              <a:gd name="adj" fmla="val 8000"/>
            </a:avLst>
          </a:prstGeom>
          <a:solidFill>
            <a:srgbClr val="F6ECF0"/>
          </a:solidFill>
          <a:ln w="25400">
            <a:solidFill>
              <a:srgbClr val="8B1A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85800" y="1508760"/>
            <a:ext cx="3429000" cy="914400"/>
          </a:xfrm>
          <a:prstGeom prst="rect">
            <a:avLst/>
          </a:prstGeom>
          <a:noFill/>
        </p:spPr>
        <p:txBody>
          <a:bodyPr wrap="square" lIns="45720" rIns="45720" tIns="27432" bIns="27432" anchor="t">
            <a:spAutoFit/>
          </a:bodyPr>
          <a:lstStyle/>
          <a:p>
            <a:pPr algn="ctr"/>
            <a:r>
              <a:rPr sz="4800" b="1" i="0">
                <a:solidFill>
                  <a:srgbClr val="8B1A4A"/>
                </a:solidFill>
                <a:latin typeface="Calibri"/>
              </a:rPr>
              <a:t>1</a:t>
            </a:r>
          </a:p>
        </p:txBody>
      </p:sp>
      <p:sp>
        <p:nvSpPr>
          <p:cNvPr id="6" name="TextBox 5"/>
          <p:cNvSpPr txBox="1"/>
          <p:nvPr/>
        </p:nvSpPr>
        <p:spPr>
          <a:xfrm>
            <a:off x="868680" y="2514600"/>
            <a:ext cx="3063240" cy="1005840"/>
          </a:xfrm>
          <a:prstGeom prst="rect">
            <a:avLst/>
          </a:prstGeom>
          <a:noFill/>
        </p:spPr>
        <p:txBody>
          <a:bodyPr wrap="square" lIns="45720" rIns="45720" tIns="27432" bIns="27432" anchor="t">
            <a:spAutoFit/>
          </a:bodyPr>
          <a:lstStyle/>
          <a:p>
            <a:pPr algn="ctr"/>
            <a:r>
              <a:rPr sz="2100" b="1" i="0">
                <a:solidFill>
                  <a:srgbClr val="2B2B2B"/>
                </a:solidFill>
                <a:latin typeface="Calibri"/>
              </a:rPr>
              <a:t>Look at the campaign, not the client</a:t>
            </a:r>
          </a:p>
        </p:txBody>
      </p:sp>
      <p:sp>
        <p:nvSpPr>
          <p:cNvPr id="7" name="TextBox 6"/>
          <p:cNvSpPr txBox="1"/>
          <p:nvPr/>
        </p:nvSpPr>
        <p:spPr>
          <a:xfrm>
            <a:off x="868680" y="3611880"/>
            <a:ext cx="3063240" cy="1828800"/>
          </a:xfrm>
          <a:prstGeom prst="rect">
            <a:avLst/>
          </a:prstGeom>
          <a:noFill/>
        </p:spPr>
        <p:txBody>
          <a:bodyPr wrap="square" lIns="45720" rIns="45720" tIns="27432" bIns="27432" anchor="t">
            <a:spAutoFit/>
          </a:bodyPr>
          <a:lstStyle/>
          <a:p>
            <a:pPr algn="ctr"/>
            <a:r>
              <a:rPr sz="1600" b="0" i="0">
                <a:solidFill>
                  <a:srgbClr val="2B2B2B"/>
                </a:solidFill>
                <a:latin typeface="Calibri"/>
              </a:rPr>
              <a:t>Per-client limits cannot see a low-and-slow attack that rotates IPs. One-minute aggregates can.</a:t>
            </a:r>
          </a:p>
        </p:txBody>
      </p:sp>
      <p:sp>
        <p:nvSpPr>
          <p:cNvPr id="8" name="Rounded Rectangle 7"/>
          <p:cNvSpPr/>
          <p:nvPr/>
        </p:nvSpPr>
        <p:spPr>
          <a:xfrm>
            <a:off x="4389120" y="1280160"/>
            <a:ext cx="3429000" cy="4206240"/>
          </a:xfrm>
          <a:prstGeom prst="roundRect">
            <a:avLst>
              <a:gd name="adj" fmla="val 8000"/>
            </a:avLst>
          </a:prstGeom>
          <a:solidFill>
            <a:srgbClr val="E8F3F5"/>
          </a:solidFill>
          <a:ln w="25400">
            <a:solidFill>
              <a:srgbClr val="2A7F8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389120" y="1508760"/>
            <a:ext cx="3429000" cy="914400"/>
          </a:xfrm>
          <a:prstGeom prst="rect">
            <a:avLst/>
          </a:prstGeom>
          <a:noFill/>
        </p:spPr>
        <p:txBody>
          <a:bodyPr wrap="square" lIns="45720" rIns="45720" tIns="27432" bIns="27432" anchor="t">
            <a:spAutoFit/>
          </a:bodyPr>
          <a:lstStyle/>
          <a:p>
            <a:pPr algn="ctr"/>
            <a:r>
              <a:rPr sz="4800" b="1" i="0">
                <a:solidFill>
                  <a:srgbClr val="2A7F8E"/>
                </a:solidFill>
                <a:latin typeface="Calibri"/>
              </a:rPr>
              <a:t>2</a:t>
            </a:r>
          </a:p>
        </p:txBody>
      </p:sp>
      <p:sp>
        <p:nvSpPr>
          <p:cNvPr id="10" name="TextBox 9"/>
          <p:cNvSpPr txBox="1"/>
          <p:nvPr/>
        </p:nvSpPr>
        <p:spPr>
          <a:xfrm>
            <a:off x="4572000" y="2514600"/>
            <a:ext cx="3063240" cy="1005840"/>
          </a:xfrm>
          <a:prstGeom prst="rect">
            <a:avLst/>
          </a:prstGeom>
          <a:noFill/>
        </p:spPr>
        <p:txBody>
          <a:bodyPr wrap="square" lIns="45720" rIns="45720" tIns="27432" bIns="27432" anchor="t">
            <a:spAutoFit/>
          </a:bodyPr>
          <a:lstStyle/>
          <a:p>
            <a:pPr algn="ctr"/>
            <a:r>
              <a:rPr sz="2100" b="1" i="0">
                <a:solidFill>
                  <a:srgbClr val="2B2B2B"/>
                </a:solidFill>
                <a:latin typeface="Calibri"/>
              </a:rPr>
              <a:t>A small TCN learns and carries the rule</a:t>
            </a:r>
          </a:p>
        </p:txBody>
      </p:sp>
      <p:sp>
        <p:nvSpPr>
          <p:cNvPr id="11" name="TextBox 10"/>
          <p:cNvSpPr txBox="1"/>
          <p:nvPr/>
        </p:nvSpPr>
        <p:spPr>
          <a:xfrm>
            <a:off x="4572000" y="3611880"/>
            <a:ext cx="3063240" cy="1828800"/>
          </a:xfrm>
          <a:prstGeom prst="rect">
            <a:avLst/>
          </a:prstGeom>
          <a:noFill/>
        </p:spPr>
        <p:txBody>
          <a:bodyPr wrap="square" lIns="45720" rIns="45720" tIns="27432" bIns="27432" anchor="t">
            <a:spAutoFit/>
          </a:bodyPr>
          <a:lstStyle/>
          <a:p>
            <a:pPr algn="ctr"/>
            <a:r>
              <a:rPr sz="1600" b="0" i="0">
                <a:solidFill>
                  <a:srgbClr val="2B2B2B"/>
                </a:solidFill>
                <a:latin typeface="Calibri"/>
              </a:rPr>
              <a:t>28,241 parameters; F1 0.9972 on 233 unseen hours, even when the IP pattern flips.</a:t>
            </a:r>
          </a:p>
        </p:txBody>
      </p:sp>
      <p:sp>
        <p:nvSpPr>
          <p:cNvPr id="12" name="Rounded Rectangle 11"/>
          <p:cNvSpPr/>
          <p:nvPr/>
        </p:nvSpPr>
        <p:spPr>
          <a:xfrm>
            <a:off x="8092440" y="1280160"/>
            <a:ext cx="3429000" cy="4206240"/>
          </a:xfrm>
          <a:prstGeom prst="roundRect">
            <a:avLst>
              <a:gd name="adj" fmla="val 8000"/>
            </a:avLst>
          </a:prstGeom>
          <a:solidFill>
            <a:srgbClr val="F6ECF0"/>
          </a:solidFill>
          <a:ln w="25400">
            <a:solidFill>
              <a:srgbClr val="8B1A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92440" y="1508760"/>
            <a:ext cx="3429000" cy="914400"/>
          </a:xfrm>
          <a:prstGeom prst="rect">
            <a:avLst/>
          </a:prstGeom>
          <a:noFill/>
        </p:spPr>
        <p:txBody>
          <a:bodyPr wrap="square" lIns="45720" rIns="45720" tIns="27432" bIns="27432" anchor="t">
            <a:spAutoFit/>
          </a:bodyPr>
          <a:lstStyle/>
          <a:p>
            <a:pPr algn="ctr"/>
            <a:r>
              <a:rPr sz="4800" b="1" i="0">
                <a:solidFill>
                  <a:srgbClr val="8B1A4A"/>
                </a:solidFill>
                <a:latin typeface="Calibri"/>
              </a:rPr>
              <a:t>3</a:t>
            </a:r>
          </a:p>
        </p:txBody>
      </p:sp>
      <p:sp>
        <p:nvSpPr>
          <p:cNvPr id="14" name="TextBox 13"/>
          <p:cNvSpPr txBox="1"/>
          <p:nvPr/>
        </p:nvSpPr>
        <p:spPr>
          <a:xfrm>
            <a:off x="8275319" y="2514600"/>
            <a:ext cx="3063240" cy="1005840"/>
          </a:xfrm>
          <a:prstGeom prst="rect">
            <a:avLst/>
          </a:prstGeom>
          <a:noFill/>
        </p:spPr>
        <p:txBody>
          <a:bodyPr wrap="square" lIns="45720" rIns="45720" tIns="27432" bIns="27432" anchor="t">
            <a:spAutoFit/>
          </a:bodyPr>
          <a:lstStyle/>
          <a:p>
            <a:pPr algn="ctr"/>
            <a:r>
              <a:rPr sz="2100" b="1" i="0">
                <a:solidFill>
                  <a:srgbClr val="2B2B2B"/>
                </a:solidFill>
                <a:latin typeface="Calibri"/>
              </a:rPr>
              <a:t>It costs almost nothing</a:t>
            </a:r>
          </a:p>
        </p:txBody>
      </p:sp>
      <p:sp>
        <p:nvSpPr>
          <p:cNvPr id="15" name="TextBox 14"/>
          <p:cNvSpPr txBox="1"/>
          <p:nvPr/>
        </p:nvSpPr>
        <p:spPr>
          <a:xfrm>
            <a:off x="8275319" y="3611880"/>
            <a:ext cx="3063240" cy="1828800"/>
          </a:xfrm>
          <a:prstGeom prst="rect">
            <a:avLst/>
          </a:prstGeom>
          <a:noFill/>
        </p:spPr>
        <p:txBody>
          <a:bodyPr wrap="square" lIns="45720" rIns="45720" tIns="27432" bIns="27432" anchor="t">
            <a:spAutoFit/>
          </a:bodyPr>
          <a:lstStyle/>
          <a:p>
            <a:pPr algn="ctr"/>
            <a:r>
              <a:rPr sz="1600" b="0" i="0">
                <a:solidFill>
                  <a:srgbClr val="2B2B2B"/>
                </a:solidFill>
                <a:latin typeface="Calibri"/>
              </a:rPr>
              <a:t>0.65 ms once a minute, about 0.001% of one CPU core.</a:t>
            </a:r>
          </a:p>
        </p:txBody>
      </p:sp>
      <p:sp>
        <p:nvSpPr>
          <p:cNvPr id="16" name="TextBox 15"/>
          <p:cNvSpPr txBox="1"/>
          <p:nvPr/>
        </p:nvSpPr>
        <p:spPr>
          <a:xfrm>
            <a:off x="1920240" y="5669280"/>
            <a:ext cx="9601200" cy="411480"/>
          </a:xfrm>
          <a:prstGeom prst="rect">
            <a:avLst/>
          </a:prstGeom>
          <a:noFill/>
        </p:spPr>
        <p:txBody>
          <a:bodyPr wrap="square" lIns="45720" rIns="45720" tIns="27432" bIns="27432" anchor="t">
            <a:spAutoFit/>
          </a:bodyPr>
          <a:lstStyle/>
          <a:p>
            <a:pPr algn="ctr"/>
            <a:r>
              <a:rPr sz="1800" b="0" i="1">
                <a:solidFill>
                  <a:srgbClr val="6B6B6B"/>
                </a:solidFill>
                <a:latin typeface="Calibri"/>
              </a:rPr>
              <a:t>Within the limits stated, both claims of the thesis hold.</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0058400" cy="685800"/>
          </a:xfrm>
          <a:prstGeom prst="rect">
            <a:avLst/>
          </a:prstGeom>
          <a:noFill/>
        </p:spPr>
        <p:txBody>
          <a:bodyPr wrap="square" lIns="45720" rIns="45720" tIns="27432" bIns="27432" anchor="ctr">
            <a:spAutoFit/>
          </a:bodyPr>
          <a:lstStyle/>
          <a:p>
            <a:pPr algn="l"/>
            <a:r>
              <a:rPr sz="3000" b="1" i="0">
                <a:solidFill>
                  <a:srgbClr val="8B1A4A"/>
                </a:solidFill>
                <a:latin typeface="Calibri"/>
              </a:rPr>
              <a:t>Thank you</a:t>
            </a:r>
          </a:p>
        </p:txBody>
      </p:sp>
      <p:sp>
        <p:nvSpPr>
          <p:cNvPr id="3" name="Rounded Rectangle 2"/>
          <p:cNvSpPr/>
          <p:nvPr/>
        </p:nvSpPr>
        <p:spPr>
          <a:xfrm>
            <a:off x="10561320" y="329184"/>
            <a:ext cx="1417320" cy="384048"/>
          </a:xfrm>
          <a:prstGeom prst="roundRect">
            <a:avLst>
              <a:gd name="adj" fmla="val 8000"/>
            </a:avLst>
          </a:prstGeom>
          <a:solidFill>
            <a:srgbClr val="8B1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561320" y="329184"/>
            <a:ext cx="1417320" cy="384048"/>
          </a:xfrm>
          <a:prstGeom prst="rect">
            <a:avLst/>
          </a:prstGeom>
          <a:noFill/>
        </p:spPr>
        <p:txBody>
          <a:bodyPr wrap="square" lIns="45720" rIns="45720" tIns="27432" bIns="27432" anchor="ctr">
            <a:spAutoFit/>
          </a:bodyPr>
          <a:lstStyle/>
          <a:p>
            <a:pPr algn="ctr"/>
            <a:r>
              <a:rPr sz="1200" b="1" i="0">
                <a:solidFill>
                  <a:srgbClr val="FFFFFF"/>
                </a:solidFill>
                <a:latin typeface="Calibri"/>
              </a:rPr>
              <a:t>the quiet burglar</a:t>
            </a:r>
          </a:p>
        </p:txBody>
      </p:sp>
      <p:sp>
        <p:nvSpPr>
          <p:cNvPr id="5" name="TextBox 4"/>
          <p:cNvSpPr txBox="1"/>
          <p:nvPr/>
        </p:nvSpPr>
        <p:spPr>
          <a:xfrm>
            <a:off x="11109960" y="6355080"/>
            <a:ext cx="822960" cy="320040"/>
          </a:xfrm>
          <a:prstGeom prst="rect">
            <a:avLst/>
          </a:prstGeom>
          <a:noFill/>
        </p:spPr>
        <p:txBody>
          <a:bodyPr wrap="square" lIns="45720" rIns="45720" tIns="27432" bIns="27432" anchor="ctr">
            <a:spAutoFit/>
          </a:bodyPr>
          <a:lstStyle/>
          <a:p>
            <a:pPr algn="r"/>
            <a:r>
              <a:rPr sz="1200" b="0" i="0">
                <a:solidFill>
                  <a:srgbClr val="6B6B6B"/>
                </a:solidFill>
                <a:latin typeface="Calibri"/>
              </a:rPr>
              <a:t>21</a:t>
            </a:r>
          </a:p>
        </p:txBody>
      </p:sp>
      <p:sp>
        <p:nvSpPr>
          <p:cNvPr id="6" name="TextBox 5"/>
          <p:cNvSpPr txBox="1"/>
          <p:nvPr/>
        </p:nvSpPr>
        <p:spPr>
          <a:xfrm>
            <a:off x="685800" y="1920240"/>
            <a:ext cx="10835640" cy="1097280"/>
          </a:xfrm>
          <a:prstGeom prst="rect">
            <a:avLst/>
          </a:prstGeom>
          <a:noFill/>
        </p:spPr>
        <p:txBody>
          <a:bodyPr wrap="square" lIns="45720" rIns="45720" tIns="27432" bIns="27432" anchor="t">
            <a:spAutoFit/>
          </a:bodyPr>
          <a:lstStyle/>
          <a:p>
            <a:pPr algn="ctr"/>
            <a:r>
              <a:rPr sz="6000" b="1" i="0">
                <a:solidFill>
                  <a:srgbClr val="8B1A4A"/>
                </a:solidFill>
                <a:latin typeface="Calibri"/>
              </a:rPr>
              <a:t>Questions?</a:t>
            </a:r>
          </a:p>
        </p:txBody>
      </p:sp>
      <p:sp>
        <p:nvSpPr>
          <p:cNvPr id="7" name="TextBox 6"/>
          <p:cNvSpPr txBox="1"/>
          <p:nvPr/>
        </p:nvSpPr>
        <p:spPr>
          <a:xfrm>
            <a:off x="685800" y="3291840"/>
            <a:ext cx="10835640" cy="731520"/>
          </a:xfrm>
          <a:prstGeom prst="rect">
            <a:avLst/>
          </a:prstGeom>
          <a:noFill/>
        </p:spPr>
        <p:txBody>
          <a:bodyPr wrap="square" lIns="45720" rIns="45720" tIns="27432" bIns="27432" anchor="t">
            <a:spAutoFit/>
          </a:bodyPr>
          <a:lstStyle/>
          <a:p>
            <a:pPr algn="ctr"/>
            <a:r>
              <a:rPr sz="2000" b="0" i="0">
                <a:solidFill>
                  <a:srgbClr val="2B2B2B"/>
                </a:solidFill>
                <a:latin typeface="Calibri"/>
              </a:rPr>
              <a:t>Campaign-level detection of low-and-slow password spraying at API login endpoints</a:t>
            </a:r>
          </a:p>
        </p:txBody>
      </p:sp>
      <p:sp>
        <p:nvSpPr>
          <p:cNvPr id="8" name="TextBox 7"/>
          <p:cNvSpPr txBox="1"/>
          <p:nvPr/>
        </p:nvSpPr>
        <p:spPr>
          <a:xfrm>
            <a:off x="685800" y="3931920"/>
            <a:ext cx="10835640" cy="548640"/>
          </a:xfrm>
          <a:prstGeom prst="rect">
            <a:avLst/>
          </a:prstGeom>
          <a:noFill/>
        </p:spPr>
        <p:txBody>
          <a:bodyPr wrap="square" lIns="45720" rIns="45720" tIns="27432" bIns="27432" anchor="t">
            <a:spAutoFit/>
          </a:bodyPr>
          <a:lstStyle/>
          <a:p>
            <a:pPr algn="ctr"/>
            <a:r>
              <a:rPr sz="1800" b="0" i="0">
                <a:solidFill>
                  <a:srgbClr val="6B6B6B"/>
                </a:solidFill>
                <a:latin typeface="Calibri"/>
              </a:rPr>
              <a:t>Chia U-Meng Adrian (Xie Youming) · MTCS-MRMC5</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338560" cy="685800"/>
          </a:xfrm>
          <a:prstGeom prst="rect">
            <a:avLst/>
          </a:prstGeom>
          <a:noFill/>
        </p:spPr>
        <p:txBody>
          <a:bodyPr wrap="square" lIns="45720" rIns="45720" tIns="27432" bIns="27432" anchor="ctr">
            <a:spAutoFit/>
          </a:bodyPr>
          <a:lstStyle/>
          <a:p>
            <a:pPr algn="l"/>
            <a:r>
              <a:rPr sz="3000" b="1" i="0">
                <a:solidFill>
                  <a:srgbClr val="8B1A4A"/>
                </a:solidFill>
                <a:latin typeface="Calibri"/>
              </a:rPr>
              <a:t>Backup slides</a:t>
            </a:r>
          </a:p>
        </p:txBody>
      </p:sp>
      <p:sp>
        <p:nvSpPr>
          <p:cNvPr id="3" name="TextBox 2"/>
          <p:cNvSpPr txBox="1"/>
          <p:nvPr/>
        </p:nvSpPr>
        <p:spPr>
          <a:xfrm>
            <a:off x="521207" y="841248"/>
            <a:ext cx="11155680" cy="411480"/>
          </a:xfrm>
          <a:prstGeom prst="rect">
            <a:avLst/>
          </a:prstGeom>
          <a:noFill/>
        </p:spPr>
        <p:txBody>
          <a:bodyPr wrap="square" lIns="45720" rIns="45720" tIns="27432" bIns="27432" anchor="t">
            <a:spAutoFit/>
          </a:bodyPr>
          <a:lstStyle/>
          <a:p>
            <a:pPr algn="l"/>
            <a:r>
              <a:rPr sz="1700" b="0" i="0">
                <a:solidFill>
                  <a:srgbClr val="6B6B6B"/>
                </a:solidFill>
                <a:latin typeface="Calibri"/>
              </a:rPr>
              <a:t>Shown only when a question needs them</a:t>
            </a:r>
          </a:p>
        </p:txBody>
      </p:sp>
      <p:sp>
        <p:nvSpPr>
          <p:cNvPr id="4" name="TextBox 3"/>
          <p:cNvSpPr txBox="1"/>
          <p:nvPr/>
        </p:nvSpPr>
        <p:spPr>
          <a:xfrm>
            <a:off x="11109960" y="6355080"/>
            <a:ext cx="822960" cy="320040"/>
          </a:xfrm>
          <a:prstGeom prst="rect">
            <a:avLst/>
          </a:prstGeom>
          <a:noFill/>
        </p:spPr>
        <p:txBody>
          <a:bodyPr wrap="square" lIns="45720" rIns="45720" tIns="27432" bIns="27432" anchor="ctr">
            <a:spAutoFit/>
          </a:bodyPr>
          <a:lstStyle/>
          <a:p>
            <a:pPr algn="r"/>
            <a:r>
              <a:rPr sz="1200" b="0" i="0">
                <a:solidFill>
                  <a:srgbClr val="6B6B6B"/>
                </a:solidFill>
                <a:latin typeface="Calibri"/>
              </a:rPr>
              <a:t>22</a:t>
            </a:r>
          </a:p>
        </p:txBody>
      </p:sp>
      <p:sp>
        <p:nvSpPr>
          <p:cNvPr id="5" name="TextBox 4"/>
          <p:cNvSpPr txBox="1"/>
          <p:nvPr/>
        </p:nvSpPr>
        <p:spPr>
          <a:xfrm>
            <a:off x="914400" y="1463040"/>
            <a:ext cx="5303520" cy="731520"/>
          </a:xfrm>
          <a:prstGeom prst="rect">
            <a:avLst/>
          </a:prstGeom>
          <a:noFill/>
        </p:spPr>
        <p:txBody>
          <a:bodyPr wrap="square" lIns="45720" rIns="45720" tIns="27432" bIns="27432" anchor="t">
            <a:spAutoFit/>
          </a:bodyPr>
          <a:lstStyle/>
          <a:p>
            <a:pPr algn="l"/>
            <a:r>
              <a:rPr sz="1700" b="1" i="0">
                <a:solidFill>
                  <a:srgbClr val="8B1A4A"/>
                </a:solidFill>
                <a:latin typeface="Calibri"/>
              </a:rPr>
              <a:t>B1  </a:t>
            </a:r>
            <a:r>
              <a:rPr sz="1700" b="0" i="0">
                <a:solidFill>
                  <a:srgbClr val="2B2B2B"/>
                </a:solidFill>
                <a:latin typeface="Calibri"/>
              </a:rPr>
              <a:t>the labelling rule is recoverable from the inputs</a:t>
            </a:r>
          </a:p>
        </p:txBody>
      </p:sp>
      <p:sp>
        <p:nvSpPr>
          <p:cNvPr id="6" name="TextBox 5"/>
          <p:cNvSpPr txBox="1"/>
          <p:nvPr/>
        </p:nvSpPr>
        <p:spPr>
          <a:xfrm>
            <a:off x="914400" y="2286000"/>
            <a:ext cx="5303520" cy="731520"/>
          </a:xfrm>
          <a:prstGeom prst="rect">
            <a:avLst/>
          </a:prstGeom>
          <a:noFill/>
        </p:spPr>
        <p:txBody>
          <a:bodyPr wrap="square" lIns="45720" rIns="45720" tIns="27432" bIns="27432" anchor="t">
            <a:spAutoFit/>
          </a:bodyPr>
          <a:lstStyle/>
          <a:p>
            <a:pPr algn="l"/>
            <a:r>
              <a:rPr sz="1700" b="1" i="0">
                <a:solidFill>
                  <a:srgbClr val="8B1A4A"/>
                </a:solidFill>
                <a:latin typeface="Calibri"/>
              </a:rPr>
              <a:t>B2  </a:t>
            </a:r>
            <a:r>
              <a:rPr sz="1700" b="0" i="0">
                <a:solidFill>
                  <a:srgbClr val="2B2B2B"/>
                </a:solidFill>
                <a:latin typeface="Calibri"/>
              </a:rPr>
              <a:t>hold-out test set (false-positive benchmark)</a:t>
            </a:r>
          </a:p>
        </p:txBody>
      </p:sp>
      <p:sp>
        <p:nvSpPr>
          <p:cNvPr id="7" name="TextBox 6"/>
          <p:cNvSpPr txBox="1"/>
          <p:nvPr/>
        </p:nvSpPr>
        <p:spPr>
          <a:xfrm>
            <a:off x="914400" y="3108960"/>
            <a:ext cx="5303520" cy="731520"/>
          </a:xfrm>
          <a:prstGeom prst="rect">
            <a:avLst/>
          </a:prstGeom>
          <a:noFill/>
        </p:spPr>
        <p:txBody>
          <a:bodyPr wrap="square" lIns="45720" rIns="45720" tIns="27432" bIns="27432" anchor="t">
            <a:spAutoFit/>
          </a:bodyPr>
          <a:lstStyle/>
          <a:p>
            <a:pPr algn="l"/>
            <a:r>
              <a:rPr sz="1700" b="1" i="0">
                <a:solidFill>
                  <a:srgbClr val="8B1A4A"/>
                </a:solidFill>
                <a:latin typeface="Calibri"/>
              </a:rPr>
              <a:t>B3  </a:t>
            </a:r>
            <a:r>
              <a:rPr sz="1700" b="0" i="0">
                <a:solidFill>
                  <a:srgbClr val="2B2B2B"/>
                </a:solidFill>
                <a:latin typeface="Calibri"/>
              </a:rPr>
              <a:t>an earlier model that did not transfer</a:t>
            </a:r>
          </a:p>
        </p:txBody>
      </p:sp>
      <p:sp>
        <p:nvSpPr>
          <p:cNvPr id="8" name="TextBox 7"/>
          <p:cNvSpPr txBox="1"/>
          <p:nvPr/>
        </p:nvSpPr>
        <p:spPr>
          <a:xfrm>
            <a:off x="914400" y="3931920"/>
            <a:ext cx="5303520" cy="731520"/>
          </a:xfrm>
          <a:prstGeom prst="rect">
            <a:avLst/>
          </a:prstGeom>
          <a:noFill/>
        </p:spPr>
        <p:txBody>
          <a:bodyPr wrap="square" lIns="45720" rIns="45720" tIns="27432" bIns="27432" anchor="t">
            <a:spAutoFit/>
          </a:bodyPr>
          <a:lstStyle/>
          <a:p>
            <a:pPr algn="l"/>
            <a:r>
              <a:rPr sz="1700" b="1" i="0">
                <a:solidFill>
                  <a:srgbClr val="8B1A4A"/>
                </a:solidFill>
                <a:latin typeface="Calibri"/>
              </a:rPr>
              <a:t>B4  </a:t>
            </a:r>
            <a:r>
              <a:rPr sz="1700" b="0" i="0">
                <a:solidFill>
                  <a:srgbClr val="2B2B2B"/>
                </a:solidFill>
                <a:latin typeface="Calibri"/>
              </a:rPr>
              <a:t>false alerts per day against threshold</a:t>
            </a:r>
          </a:p>
        </p:txBody>
      </p:sp>
      <p:sp>
        <p:nvSpPr>
          <p:cNvPr id="9" name="TextBox 8"/>
          <p:cNvSpPr txBox="1"/>
          <p:nvPr/>
        </p:nvSpPr>
        <p:spPr>
          <a:xfrm>
            <a:off x="914400" y="4754880"/>
            <a:ext cx="5303520" cy="731520"/>
          </a:xfrm>
          <a:prstGeom prst="rect">
            <a:avLst/>
          </a:prstGeom>
          <a:noFill/>
        </p:spPr>
        <p:txBody>
          <a:bodyPr wrap="square" lIns="45720" rIns="45720" tIns="27432" bIns="27432" anchor="t">
            <a:spAutoFit/>
          </a:bodyPr>
          <a:lstStyle/>
          <a:p>
            <a:pPr algn="l"/>
            <a:r>
              <a:rPr sz="1700" b="1" i="0">
                <a:solidFill>
                  <a:srgbClr val="8B1A4A"/>
                </a:solidFill>
                <a:latin typeface="Calibri"/>
              </a:rPr>
              <a:t>B5  </a:t>
            </a:r>
            <a:r>
              <a:rPr sz="1700" b="0" i="0">
                <a:solidFill>
                  <a:srgbClr val="2B2B2B"/>
                </a:solidFill>
                <a:latin typeface="Calibri"/>
              </a:rPr>
              <a:t>95% confidence intervals</a:t>
            </a:r>
          </a:p>
        </p:txBody>
      </p:sp>
      <p:sp>
        <p:nvSpPr>
          <p:cNvPr id="10" name="TextBox 9"/>
          <p:cNvSpPr txBox="1"/>
          <p:nvPr/>
        </p:nvSpPr>
        <p:spPr>
          <a:xfrm>
            <a:off x="6400800" y="1463040"/>
            <a:ext cx="5303520" cy="731520"/>
          </a:xfrm>
          <a:prstGeom prst="rect">
            <a:avLst/>
          </a:prstGeom>
          <a:noFill/>
        </p:spPr>
        <p:txBody>
          <a:bodyPr wrap="square" lIns="45720" rIns="45720" tIns="27432" bIns="27432" anchor="t">
            <a:spAutoFit/>
          </a:bodyPr>
          <a:lstStyle/>
          <a:p>
            <a:pPr algn="l"/>
            <a:r>
              <a:rPr sz="1700" b="1" i="0">
                <a:solidFill>
                  <a:srgbClr val="8B1A4A"/>
                </a:solidFill>
                <a:latin typeface="Calibri"/>
              </a:rPr>
              <a:t>B6  </a:t>
            </a:r>
            <a:r>
              <a:rPr sz="1700" b="0" i="0">
                <a:solidFill>
                  <a:srgbClr val="2B2B2B"/>
                </a:solidFill>
                <a:latin typeface="Calibri"/>
              </a:rPr>
              <a:t>scores near the 0.30 boundary</a:t>
            </a:r>
          </a:p>
        </p:txBody>
      </p:sp>
      <p:sp>
        <p:nvSpPr>
          <p:cNvPr id="11" name="TextBox 10"/>
          <p:cNvSpPr txBox="1"/>
          <p:nvPr/>
        </p:nvSpPr>
        <p:spPr>
          <a:xfrm>
            <a:off x="6400800" y="2286000"/>
            <a:ext cx="5303520" cy="731520"/>
          </a:xfrm>
          <a:prstGeom prst="rect">
            <a:avLst/>
          </a:prstGeom>
          <a:noFill/>
        </p:spPr>
        <p:txBody>
          <a:bodyPr wrap="square" lIns="45720" rIns="45720" tIns="27432" bIns="27432" anchor="t">
            <a:spAutoFit/>
          </a:bodyPr>
          <a:lstStyle/>
          <a:p>
            <a:pPr algn="l"/>
            <a:r>
              <a:rPr sz="1700" b="1" i="0">
                <a:solidFill>
                  <a:srgbClr val="8B1A4A"/>
                </a:solidFill>
                <a:latin typeface="Calibri"/>
              </a:rPr>
              <a:t>B7  </a:t>
            </a:r>
            <a:r>
              <a:rPr sz="1700" b="0" i="0">
                <a:solidFill>
                  <a:srgbClr val="2B2B2B"/>
                </a:solidFill>
                <a:latin typeface="Calibri"/>
              </a:rPr>
              <a:t>latency distribution</a:t>
            </a:r>
          </a:p>
        </p:txBody>
      </p:sp>
      <p:sp>
        <p:nvSpPr>
          <p:cNvPr id="12" name="TextBox 11"/>
          <p:cNvSpPr txBox="1"/>
          <p:nvPr/>
        </p:nvSpPr>
        <p:spPr>
          <a:xfrm>
            <a:off x="6400800" y="3108960"/>
            <a:ext cx="5303520" cy="731520"/>
          </a:xfrm>
          <a:prstGeom prst="rect">
            <a:avLst/>
          </a:prstGeom>
          <a:noFill/>
        </p:spPr>
        <p:txBody>
          <a:bodyPr wrap="square" lIns="45720" rIns="45720" tIns="27432" bIns="27432" anchor="t">
            <a:spAutoFit/>
          </a:bodyPr>
          <a:lstStyle/>
          <a:p>
            <a:pPr algn="l"/>
            <a:r>
              <a:rPr sz="1700" b="1" i="0">
                <a:solidFill>
                  <a:srgbClr val="8B1A4A"/>
                </a:solidFill>
                <a:latin typeface="Calibri"/>
              </a:rPr>
              <a:t>B8  </a:t>
            </a:r>
            <a:r>
              <a:rPr sz="1700" b="0" i="0">
                <a:solidFill>
                  <a:srgbClr val="2B2B2B"/>
                </a:solidFill>
                <a:latin typeface="Calibri"/>
              </a:rPr>
              <a:t>threats to validity</a:t>
            </a:r>
          </a:p>
        </p:txBody>
      </p:sp>
      <p:sp>
        <p:nvSpPr>
          <p:cNvPr id="13" name="TextBox 12"/>
          <p:cNvSpPr txBox="1"/>
          <p:nvPr/>
        </p:nvSpPr>
        <p:spPr>
          <a:xfrm>
            <a:off x="6400800" y="3931920"/>
            <a:ext cx="5303520" cy="731520"/>
          </a:xfrm>
          <a:prstGeom prst="rect">
            <a:avLst/>
          </a:prstGeom>
          <a:noFill/>
        </p:spPr>
        <p:txBody>
          <a:bodyPr wrap="square" lIns="45720" rIns="45720" tIns="27432" bIns="27432" anchor="t">
            <a:spAutoFit/>
          </a:bodyPr>
          <a:lstStyle/>
          <a:p>
            <a:pPr algn="l"/>
            <a:r>
              <a:rPr sz="1700" b="1" i="0">
                <a:solidFill>
                  <a:srgbClr val="8B1A4A"/>
                </a:solidFill>
                <a:latin typeface="Calibri"/>
              </a:rPr>
              <a:t>B9  </a:t>
            </a:r>
            <a:r>
              <a:rPr sz="1700" b="0" i="0">
                <a:solidFill>
                  <a:srgbClr val="2B2B2B"/>
                </a:solidFill>
                <a:latin typeface="Calibri"/>
              </a:rPr>
              <a:t>where this sits in the literature</a:t>
            </a:r>
          </a:p>
        </p:txBody>
      </p:sp>
      <p:sp>
        <p:nvSpPr>
          <p:cNvPr id="14" name="TextBox 13"/>
          <p:cNvSpPr txBox="1"/>
          <p:nvPr/>
        </p:nvSpPr>
        <p:spPr>
          <a:xfrm>
            <a:off x="6400800" y="4754880"/>
            <a:ext cx="5303520" cy="731520"/>
          </a:xfrm>
          <a:prstGeom prst="rect">
            <a:avLst/>
          </a:prstGeom>
          <a:noFill/>
        </p:spPr>
        <p:txBody>
          <a:bodyPr wrap="square" lIns="45720" rIns="45720" tIns="27432" bIns="27432" anchor="t">
            <a:spAutoFit/>
          </a:bodyPr>
          <a:lstStyle/>
          <a:p>
            <a:pPr algn="l"/>
            <a:r>
              <a:rPr sz="1700" b="1" i="0">
                <a:solidFill>
                  <a:srgbClr val="8B1A4A"/>
                </a:solidFill>
                <a:latin typeface="Calibri"/>
              </a:rPr>
              <a:t>B10  </a:t>
            </a:r>
            <a:r>
              <a:rPr sz="1700" b="0" i="0">
                <a:solidFill>
                  <a:srgbClr val="2B2B2B"/>
                </a:solidFill>
                <a:latin typeface="Calibri"/>
              </a:rPr>
              <a:t>feature distributions in the Training Dataset</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338560" cy="685800"/>
          </a:xfrm>
          <a:prstGeom prst="rect">
            <a:avLst/>
          </a:prstGeom>
          <a:noFill/>
        </p:spPr>
        <p:txBody>
          <a:bodyPr wrap="square" lIns="45720" rIns="45720" tIns="27432" bIns="27432" anchor="ctr">
            <a:spAutoFit/>
          </a:bodyPr>
          <a:lstStyle/>
          <a:p>
            <a:pPr algn="l"/>
            <a:r>
              <a:rPr sz="3000" b="1" i="0">
                <a:solidFill>
                  <a:srgbClr val="8B1A4A"/>
                </a:solidFill>
                <a:latin typeface="Calibri"/>
              </a:rPr>
              <a:t>Backup: the labelling rule is recoverable from the inputs</a:t>
            </a:r>
          </a:p>
        </p:txBody>
      </p:sp>
      <p:sp>
        <p:nvSpPr>
          <p:cNvPr id="3" name="TextBox 2"/>
          <p:cNvSpPr txBox="1"/>
          <p:nvPr/>
        </p:nvSpPr>
        <p:spPr>
          <a:xfrm>
            <a:off x="521207" y="841248"/>
            <a:ext cx="11155680" cy="411480"/>
          </a:xfrm>
          <a:prstGeom prst="rect">
            <a:avLst/>
          </a:prstGeom>
          <a:noFill/>
        </p:spPr>
        <p:txBody>
          <a:bodyPr wrap="square" lIns="45720" rIns="45720" tIns="27432" bIns="27432" anchor="t">
            <a:spAutoFit/>
          </a:bodyPr>
          <a:lstStyle/>
          <a:p>
            <a:pPr algn="l"/>
            <a:r>
              <a:rPr sz="1700" b="0" i="0">
                <a:solidFill>
                  <a:srgbClr val="6B6B6B"/>
                </a:solidFill>
                <a:latin typeface="Calibri"/>
              </a:rPr>
              <a:t>Proposition 1: a threshold on the standardised final window reproduces every label</a:t>
            </a:r>
          </a:p>
        </p:txBody>
      </p:sp>
      <p:sp>
        <p:nvSpPr>
          <p:cNvPr id="4" name="TextBox 3"/>
          <p:cNvSpPr txBox="1"/>
          <p:nvPr/>
        </p:nvSpPr>
        <p:spPr>
          <a:xfrm>
            <a:off x="1965960" y="6327648"/>
            <a:ext cx="8778240" cy="365760"/>
          </a:xfrm>
          <a:prstGeom prst="rect">
            <a:avLst/>
          </a:prstGeom>
          <a:noFill/>
        </p:spPr>
        <p:txBody>
          <a:bodyPr wrap="square" lIns="45720" rIns="45720" tIns="27432" bIns="27432" anchor="ctr">
            <a:spAutoFit/>
          </a:bodyPr>
          <a:lstStyle/>
          <a:p>
            <a:pPr algn="l"/>
            <a:r>
              <a:rPr sz="1050" b="0" i="0">
                <a:solidFill>
                  <a:srgbClr val="6B6B6B"/>
                </a:solidFill>
                <a:latin typeface="Calibri"/>
              </a:rPr>
              <a:t>ch.3.3, Table 2; Kaufman et al. on leakage [59]</a:t>
            </a:r>
          </a:p>
        </p:txBody>
      </p:sp>
      <p:sp>
        <p:nvSpPr>
          <p:cNvPr id="5" name="TextBox 4"/>
          <p:cNvSpPr txBox="1"/>
          <p:nvPr/>
        </p:nvSpPr>
        <p:spPr>
          <a:xfrm>
            <a:off x="11109960" y="6355080"/>
            <a:ext cx="822960" cy="320040"/>
          </a:xfrm>
          <a:prstGeom prst="rect">
            <a:avLst/>
          </a:prstGeom>
          <a:noFill/>
        </p:spPr>
        <p:txBody>
          <a:bodyPr wrap="square" lIns="45720" rIns="45720" tIns="27432" bIns="27432" anchor="ctr">
            <a:spAutoFit/>
          </a:bodyPr>
          <a:lstStyle/>
          <a:p>
            <a:pPr algn="r"/>
            <a:r>
              <a:rPr sz="1200" b="0" i="0">
                <a:solidFill>
                  <a:srgbClr val="6B6B6B"/>
                </a:solidFill>
                <a:latin typeface="Calibri"/>
              </a:rPr>
              <a:t>23</a:t>
            </a:r>
          </a:p>
        </p:txBody>
      </p:sp>
      <p:graphicFrame>
        <p:nvGraphicFramePr>
          <p:cNvPr id="6" name="Table 5"/>
          <p:cNvGraphicFramePr>
            <a:graphicFrameLocks noGrp="1"/>
          </p:cNvGraphicFramePr>
          <p:nvPr/>
        </p:nvGraphicFramePr>
        <p:xfrm>
          <a:off x="731520" y="1554480"/>
          <a:ext cx="10698480" cy="2011680"/>
        </p:xfrm>
        <a:graphic>
          <a:graphicData uri="http://schemas.openxmlformats.org/drawingml/2006/table">
            <a:tbl>
              <a:tblPr firstRow="1" bandRow="1">
                <a:tableStyleId>{5C22544A-7EE6-4342-B048-85BDC9FD1C3A}</a:tableStyleId>
              </a:tblPr>
              <a:tblGrid>
                <a:gridCol w="2377440"/>
                <a:gridCol w="2743200"/>
                <a:gridCol w="2377440"/>
                <a:gridCol w="3200400"/>
              </a:tblGrid>
              <a:tr h="502920">
                <a:tc>
                  <a:txBody>
                    <a:bodyPr wrap="square"/>
                    <a:lstStyle/>
                    <a:p>
                      <a:pPr algn="l"/>
                      <a:r>
                        <a:rPr sz="1500" b="1">
                          <a:solidFill>
                            <a:srgbClr val="FFFFFF"/>
                          </a:solidFill>
                          <a:latin typeface="Calibri"/>
                        </a:rPr>
                        <a:t>Dataset</a:t>
                      </a:r>
                    </a:p>
                  </a:txBody>
                  <a:tcPr marL="54864" marR="54864" marT="27432" marB="27432">
                    <a:solidFill>
                      <a:srgbClr val="8B1A4A"/>
                    </a:solidFill>
                  </a:tcPr>
                </a:tc>
                <a:tc>
                  <a:txBody>
                    <a:bodyPr wrap="square"/>
                    <a:lstStyle/>
                    <a:p>
                      <a:pPr algn="ctr"/>
                      <a:r>
                        <a:rPr sz="1500" b="1">
                          <a:solidFill>
                            <a:srgbClr val="FFFFFF"/>
                          </a:solidFill>
                          <a:latin typeface="Calibri"/>
                        </a:rPr>
                        <a:t>Windows with failure rate &gt; 0.30</a:t>
                      </a:r>
                    </a:p>
                  </a:txBody>
                  <a:tcPr marL="54864" marR="54864" marT="27432" marB="27432">
                    <a:solidFill>
                      <a:srgbClr val="8B1A4A"/>
                    </a:solidFill>
                  </a:tcPr>
                </a:tc>
                <a:tc>
                  <a:txBody>
                    <a:bodyPr wrap="square"/>
                    <a:lstStyle/>
                    <a:p>
                      <a:pPr algn="ctr"/>
                      <a:r>
                        <a:rPr sz="1500" b="1">
                          <a:solidFill>
                            <a:srgbClr val="FFFFFF"/>
                          </a:solidFill>
                          <a:latin typeface="Calibri"/>
                        </a:rPr>
                        <a:t>Windows labelled attack</a:t>
                      </a:r>
                    </a:p>
                  </a:txBody>
                  <a:tcPr marL="54864" marR="54864" marT="27432" marB="27432">
                    <a:solidFill>
                      <a:srgbClr val="8B1A4A"/>
                    </a:solidFill>
                  </a:tcPr>
                </a:tc>
                <a:tc>
                  <a:txBody>
                    <a:bodyPr wrap="square"/>
                    <a:lstStyle/>
                    <a:p>
                      <a:pPr algn="ctr"/>
                      <a:r>
                        <a:rPr sz="1500" b="1">
                          <a:solidFill>
                            <a:srgbClr val="FFFFFF"/>
                          </a:solidFill>
                          <a:latin typeface="Calibri"/>
                        </a:rPr>
                        <a:t>Agreement with failure-rate threshold alone</a:t>
                      </a:r>
                    </a:p>
                  </a:txBody>
                  <a:tcPr marL="54864" marR="54864" marT="27432" marB="27432">
                    <a:solidFill>
                      <a:srgbClr val="8B1A4A"/>
                    </a:solidFill>
                  </a:tcPr>
                </a:tc>
              </a:tr>
              <a:tr h="502920">
                <a:tc>
                  <a:txBody>
                    <a:bodyPr wrap="square"/>
                    <a:lstStyle/>
                    <a:p>
                      <a:pPr algn="l"/>
                      <a:r>
                        <a:rPr sz="1500" b="0">
                          <a:solidFill>
                            <a:srgbClr val="2B2B2B"/>
                          </a:solidFill>
                          <a:latin typeface="Calibri"/>
                        </a:rPr>
                        <a:t>Training</a:t>
                      </a:r>
                    </a:p>
                  </a:txBody>
                  <a:tcPr marL="54864" marR="54864" marT="27432" marB="27432">
                    <a:solidFill>
                      <a:srgbClr val="F6ECF0"/>
                    </a:solidFill>
                  </a:tcPr>
                </a:tc>
                <a:tc>
                  <a:txBody>
                    <a:bodyPr wrap="square"/>
                    <a:lstStyle/>
                    <a:p>
                      <a:pPr algn="ctr"/>
                      <a:r>
                        <a:rPr sz="1500" b="0">
                          <a:solidFill>
                            <a:srgbClr val="2B2B2B"/>
                          </a:solidFill>
                          <a:latin typeface="Calibri"/>
                        </a:rPr>
                        <a:t>1,595</a:t>
                      </a:r>
                    </a:p>
                  </a:txBody>
                  <a:tcPr marL="54864" marR="54864" marT="27432" marB="27432">
                    <a:solidFill>
                      <a:srgbClr val="F6ECF0"/>
                    </a:solidFill>
                  </a:tcPr>
                </a:tc>
                <a:tc>
                  <a:txBody>
                    <a:bodyPr wrap="square"/>
                    <a:lstStyle/>
                    <a:p>
                      <a:pPr algn="ctr"/>
                      <a:r>
                        <a:rPr sz="1500" b="0">
                          <a:solidFill>
                            <a:srgbClr val="2B2B2B"/>
                          </a:solidFill>
                          <a:latin typeface="Calibri"/>
                        </a:rPr>
                        <a:t>1,595</a:t>
                      </a:r>
                    </a:p>
                  </a:txBody>
                  <a:tcPr marL="54864" marR="54864" marT="27432" marB="27432">
                    <a:solidFill>
                      <a:srgbClr val="F6ECF0"/>
                    </a:solidFill>
                  </a:tcPr>
                </a:tc>
                <a:tc>
                  <a:txBody>
                    <a:bodyPr wrap="square"/>
                    <a:lstStyle/>
                    <a:p>
                      <a:pPr algn="ctr"/>
                      <a:r>
                        <a:rPr sz="1500" b="0">
                          <a:solidFill>
                            <a:srgbClr val="2B2B2B"/>
                          </a:solidFill>
                          <a:latin typeface="Calibri"/>
                        </a:rPr>
                        <a:t>100%</a:t>
                      </a:r>
                    </a:p>
                  </a:txBody>
                  <a:tcPr marL="54864" marR="54864" marT="27432" marB="27432">
                    <a:solidFill>
                      <a:srgbClr val="F6ECF0"/>
                    </a:solidFill>
                  </a:tcPr>
                </a:tc>
              </a:tr>
              <a:tr h="502920">
                <a:tc>
                  <a:txBody>
                    <a:bodyPr wrap="square"/>
                    <a:lstStyle/>
                    <a:p>
                      <a:pPr algn="l"/>
                      <a:r>
                        <a:rPr sz="1500" b="0">
                          <a:solidFill>
                            <a:srgbClr val="2B2B2B"/>
                          </a:solidFill>
                          <a:latin typeface="Calibri"/>
                        </a:rPr>
                        <a:t>Chaotic Dataset</a:t>
                      </a:r>
                    </a:p>
                  </a:txBody>
                  <a:tcPr marL="54864" marR="54864" marT="27432" marB="27432">
                    <a:solidFill>
                      <a:srgbClr val="FFFFFF"/>
                    </a:solidFill>
                  </a:tcPr>
                </a:tc>
                <a:tc>
                  <a:txBody>
                    <a:bodyPr wrap="square"/>
                    <a:lstStyle/>
                    <a:p>
                      <a:pPr algn="ctr"/>
                      <a:r>
                        <a:rPr sz="1500" b="0">
                          <a:solidFill>
                            <a:srgbClr val="2B2B2B"/>
                          </a:solidFill>
                          <a:latin typeface="Calibri"/>
                        </a:rPr>
                        <a:t>50</a:t>
                      </a:r>
                    </a:p>
                  </a:txBody>
                  <a:tcPr marL="54864" marR="54864" marT="27432" marB="27432">
                    <a:solidFill>
                      <a:srgbClr val="FFFFFF"/>
                    </a:solidFill>
                  </a:tcPr>
                </a:tc>
                <a:tc>
                  <a:txBody>
                    <a:bodyPr wrap="square"/>
                    <a:lstStyle/>
                    <a:p>
                      <a:pPr algn="ctr"/>
                      <a:r>
                        <a:rPr sz="1500" b="0">
                          <a:solidFill>
                            <a:srgbClr val="2B2B2B"/>
                          </a:solidFill>
                          <a:latin typeface="Calibri"/>
                        </a:rPr>
                        <a:t>50</a:t>
                      </a:r>
                    </a:p>
                  </a:txBody>
                  <a:tcPr marL="54864" marR="54864" marT="27432" marB="27432">
                    <a:solidFill>
                      <a:srgbClr val="FFFFFF"/>
                    </a:solidFill>
                  </a:tcPr>
                </a:tc>
                <a:tc>
                  <a:txBody>
                    <a:bodyPr wrap="square"/>
                    <a:lstStyle/>
                    <a:p>
                      <a:pPr algn="ctr"/>
                      <a:r>
                        <a:rPr sz="1500" b="0">
                          <a:solidFill>
                            <a:srgbClr val="2B2B2B"/>
                          </a:solidFill>
                          <a:latin typeface="Calibri"/>
                        </a:rPr>
                        <a:t>100%</a:t>
                      </a:r>
                    </a:p>
                  </a:txBody>
                  <a:tcPr marL="54864" marR="54864" marT="27432" marB="27432">
                    <a:solidFill>
                      <a:srgbClr val="FFFFFF"/>
                    </a:solidFill>
                  </a:tcPr>
                </a:tc>
              </a:tr>
              <a:tr h="502920">
                <a:tc>
                  <a:txBody>
                    <a:bodyPr wrap="square"/>
                    <a:lstStyle/>
                    <a:p>
                      <a:pPr algn="l"/>
                      <a:r>
                        <a:rPr sz="1500" b="0">
                          <a:solidFill>
                            <a:srgbClr val="2B2B2B"/>
                          </a:solidFill>
                          <a:latin typeface="Calibri"/>
                        </a:rPr>
                        <a:t>Large Dataset</a:t>
                      </a:r>
                    </a:p>
                  </a:txBody>
                  <a:tcPr marL="54864" marR="54864" marT="27432" marB="27432">
                    <a:solidFill>
                      <a:srgbClr val="F6ECF0"/>
                    </a:solidFill>
                  </a:tcPr>
                </a:tc>
                <a:tc>
                  <a:txBody>
                    <a:bodyPr wrap="square"/>
                    <a:lstStyle/>
                    <a:p>
                      <a:pPr algn="ctr"/>
                      <a:r>
                        <a:rPr sz="1500" b="0">
                          <a:solidFill>
                            <a:srgbClr val="2B2B2B"/>
                          </a:solidFill>
                          <a:latin typeface="Calibri"/>
                        </a:rPr>
                        <a:t>2,001</a:t>
                      </a:r>
                    </a:p>
                  </a:txBody>
                  <a:tcPr marL="54864" marR="54864" marT="27432" marB="27432">
                    <a:solidFill>
                      <a:srgbClr val="F6ECF0"/>
                    </a:solidFill>
                  </a:tcPr>
                </a:tc>
                <a:tc>
                  <a:txBody>
                    <a:bodyPr wrap="square"/>
                    <a:lstStyle/>
                    <a:p>
                      <a:pPr algn="ctr"/>
                      <a:r>
                        <a:rPr sz="1500" b="0">
                          <a:solidFill>
                            <a:srgbClr val="2B2B2B"/>
                          </a:solidFill>
                          <a:latin typeface="Calibri"/>
                        </a:rPr>
                        <a:t>2,000</a:t>
                      </a:r>
                    </a:p>
                  </a:txBody>
                  <a:tcPr marL="54864" marR="54864" marT="27432" marB="27432">
                    <a:solidFill>
                      <a:srgbClr val="F6ECF0"/>
                    </a:solidFill>
                  </a:tcPr>
                </a:tc>
                <a:tc>
                  <a:txBody>
                    <a:bodyPr wrap="square"/>
                    <a:lstStyle/>
                    <a:p>
                      <a:pPr algn="ctr"/>
                      <a:r>
                        <a:rPr sz="1500" b="0">
                          <a:solidFill>
                            <a:srgbClr val="2B2B2B"/>
                          </a:solidFill>
                          <a:latin typeface="Calibri"/>
                        </a:rPr>
                        <a:t>99.99% (1 window with ≤ 5 IPs)</a:t>
                      </a:r>
                    </a:p>
                  </a:txBody>
                  <a:tcPr marL="54864" marR="54864" marT="27432" marB="27432">
                    <a:solidFill>
                      <a:srgbClr val="F6ECF0"/>
                    </a:solidFill>
                  </a:tcPr>
                </a:tc>
              </a:tr>
            </a:tbl>
          </a:graphicData>
        </a:graphic>
      </p:graphicFrame>
      <p:sp>
        <p:nvSpPr>
          <p:cNvPr id="7" name="TextBox 6"/>
          <p:cNvSpPr txBox="1"/>
          <p:nvPr/>
        </p:nvSpPr>
        <p:spPr>
          <a:xfrm>
            <a:off x="731520" y="3931920"/>
            <a:ext cx="10698480" cy="2011680"/>
          </a:xfrm>
          <a:prstGeom prst="rect">
            <a:avLst/>
          </a:prstGeom>
          <a:noFill/>
        </p:spPr>
        <p:txBody>
          <a:bodyPr wrap="square" lIns="45720" rIns="45720" tIns="27432" bIns="27432" anchor="t">
            <a:spAutoFit/>
          </a:bodyPr>
          <a:lstStyle/>
          <a:p>
            <a:pPr algn="l"/>
            <a:r>
              <a:rPr sz="2200" b="1" i="0">
                <a:solidFill>
                  <a:srgbClr val="8B1A4A"/>
                </a:solidFill>
                <a:latin typeface="Calibri"/>
              </a:rPr>
              <a:t>ℓ(W) = 1[failure rate &gt; 0.30] · 1[distinct IPs &gt; 5]</a:t>
            </a:r>
          </a:p>
          <a:p>
            <a:pPr algn="l">
              <a:spcBef>
                <a:spcPts val="1000"/>
              </a:spcBef>
            </a:pPr>
            <a:r>
              <a:rPr sz="1700" b="0" i="0">
                <a:solidFill>
                  <a:srgbClr val="2B2B2B"/>
                </a:solidFill>
                <a:latin typeface="Calibri"/>
              </a:rPr>
              <a:t>Consequence: the evaluation measures fidelity and transfer of a campaign rule, not discovery of attacks outside the rule (L1). A zero-parameter threshold reproduces the labels exactly; the contribution is that a compact network learns this boundary from data and keeps it under a distribution shift.</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338560" cy="685800"/>
          </a:xfrm>
          <a:prstGeom prst="rect">
            <a:avLst/>
          </a:prstGeom>
          <a:noFill/>
        </p:spPr>
        <p:txBody>
          <a:bodyPr wrap="square" lIns="45720" rIns="45720" tIns="27432" bIns="27432" anchor="ctr">
            <a:spAutoFit/>
          </a:bodyPr>
          <a:lstStyle/>
          <a:p>
            <a:pPr algn="l"/>
            <a:r>
              <a:rPr sz="3000" b="1" i="0">
                <a:solidFill>
                  <a:srgbClr val="8B1A4A"/>
                </a:solidFill>
                <a:latin typeface="Calibri"/>
              </a:rPr>
              <a:t>Backup: hold-out test set (false-positive benchmark)</a:t>
            </a:r>
          </a:p>
        </p:txBody>
      </p:sp>
      <p:sp>
        <p:nvSpPr>
          <p:cNvPr id="3" name="TextBox 2"/>
          <p:cNvSpPr txBox="1"/>
          <p:nvPr/>
        </p:nvSpPr>
        <p:spPr>
          <a:xfrm>
            <a:off x="1965960" y="6327648"/>
            <a:ext cx="8778240" cy="365760"/>
          </a:xfrm>
          <a:prstGeom prst="rect">
            <a:avLst/>
          </a:prstGeom>
          <a:noFill/>
        </p:spPr>
        <p:txBody>
          <a:bodyPr wrap="square" lIns="45720" rIns="45720" tIns="27432" bIns="27432" anchor="ctr">
            <a:spAutoFit/>
          </a:bodyPr>
          <a:lstStyle/>
          <a:p>
            <a:pPr algn="l"/>
            <a:r>
              <a:rPr sz="1050" b="0" i="0">
                <a:solidFill>
                  <a:srgbClr val="6B6B6B"/>
                </a:solidFill>
                <a:latin typeface="Calibri"/>
              </a:rPr>
              <a:t>ch.4.2; Table 3</a:t>
            </a:r>
          </a:p>
        </p:txBody>
      </p:sp>
      <p:sp>
        <p:nvSpPr>
          <p:cNvPr id="4" name="TextBox 3"/>
          <p:cNvSpPr txBox="1"/>
          <p:nvPr/>
        </p:nvSpPr>
        <p:spPr>
          <a:xfrm>
            <a:off x="11109960" y="6355080"/>
            <a:ext cx="822960" cy="320040"/>
          </a:xfrm>
          <a:prstGeom prst="rect">
            <a:avLst/>
          </a:prstGeom>
          <a:noFill/>
        </p:spPr>
        <p:txBody>
          <a:bodyPr wrap="square" lIns="45720" rIns="45720" tIns="27432" bIns="27432" anchor="ctr">
            <a:spAutoFit/>
          </a:bodyPr>
          <a:lstStyle/>
          <a:p>
            <a:pPr algn="r"/>
            <a:r>
              <a:rPr sz="1200" b="0" i="0">
                <a:solidFill>
                  <a:srgbClr val="6B6B6B"/>
                </a:solidFill>
                <a:latin typeface="Calibri"/>
              </a:rPr>
              <a:t>24</a:t>
            </a:r>
          </a:p>
        </p:txBody>
      </p:sp>
      <p:sp>
        <p:nvSpPr>
          <p:cNvPr id="5" name="Rounded Rectangle 4"/>
          <p:cNvSpPr/>
          <p:nvPr/>
        </p:nvSpPr>
        <p:spPr>
          <a:xfrm>
            <a:off x="685800" y="1554480"/>
            <a:ext cx="3429000" cy="2194560"/>
          </a:xfrm>
          <a:prstGeom prst="roundRect">
            <a:avLst>
              <a:gd name="adj" fmla="val 8000"/>
            </a:avLst>
          </a:prstGeom>
          <a:solidFill>
            <a:srgbClr val="F6ECF0"/>
          </a:solidFill>
          <a:ln w="19050">
            <a:solidFill>
              <a:srgbClr val="8B1A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627632"/>
            <a:ext cx="3246120" cy="1097280"/>
          </a:xfrm>
          <a:prstGeom prst="rect">
            <a:avLst/>
          </a:prstGeom>
          <a:noFill/>
        </p:spPr>
        <p:txBody>
          <a:bodyPr wrap="square" lIns="45720" rIns="45720" tIns="27432" bIns="27432" anchor="ctr">
            <a:spAutoFit/>
          </a:bodyPr>
          <a:lstStyle/>
          <a:p>
            <a:pPr algn="ctr"/>
            <a:r>
              <a:rPr sz="3600" b="1" i="0">
                <a:solidFill>
                  <a:srgbClr val="8B1A4A"/>
                </a:solidFill>
                <a:latin typeface="Calibri"/>
              </a:rPr>
              <a:t>470</a:t>
            </a:r>
          </a:p>
        </p:txBody>
      </p:sp>
      <p:sp>
        <p:nvSpPr>
          <p:cNvPr id="7" name="TextBox 6"/>
          <p:cNvSpPr txBox="1"/>
          <p:nvPr/>
        </p:nvSpPr>
        <p:spPr>
          <a:xfrm>
            <a:off x="795528" y="2695651"/>
            <a:ext cx="3209544" cy="1009497"/>
          </a:xfrm>
          <a:prstGeom prst="rect">
            <a:avLst/>
          </a:prstGeom>
          <a:noFill/>
        </p:spPr>
        <p:txBody>
          <a:bodyPr wrap="square" lIns="45720" rIns="45720" tIns="27432" bIns="27432" anchor="t">
            <a:spAutoFit/>
          </a:bodyPr>
          <a:lstStyle/>
          <a:p>
            <a:pPr algn="ctr"/>
            <a:r>
              <a:rPr sz="1600" b="0" i="0">
                <a:solidFill>
                  <a:srgbClr val="2B2B2B"/>
                </a:solidFill>
                <a:latin typeface="Calibri"/>
              </a:rPr>
              <a:t>benign sequences (8.0 h, last 15% of the Training Dataset)</a:t>
            </a:r>
          </a:p>
        </p:txBody>
      </p:sp>
      <p:sp>
        <p:nvSpPr>
          <p:cNvPr id="8" name="Rounded Rectangle 7"/>
          <p:cNvSpPr/>
          <p:nvPr/>
        </p:nvSpPr>
        <p:spPr>
          <a:xfrm>
            <a:off x="4389120" y="1554480"/>
            <a:ext cx="3429000" cy="2194560"/>
          </a:xfrm>
          <a:prstGeom prst="roundRect">
            <a:avLst>
              <a:gd name="adj" fmla="val 8000"/>
            </a:avLst>
          </a:prstGeom>
          <a:solidFill>
            <a:srgbClr val="F6ECF0"/>
          </a:solidFill>
          <a:ln w="19050">
            <a:solidFill>
              <a:srgbClr val="8B1A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480559" y="1627632"/>
            <a:ext cx="3246120" cy="1097280"/>
          </a:xfrm>
          <a:prstGeom prst="rect">
            <a:avLst/>
          </a:prstGeom>
          <a:noFill/>
        </p:spPr>
        <p:txBody>
          <a:bodyPr wrap="square" lIns="45720" rIns="45720" tIns="27432" bIns="27432" anchor="ctr">
            <a:spAutoFit/>
          </a:bodyPr>
          <a:lstStyle/>
          <a:p>
            <a:pPr algn="ctr"/>
            <a:r>
              <a:rPr sz="3600" b="1" i="0">
                <a:solidFill>
                  <a:srgbClr val="8B1A4A"/>
                </a:solidFill>
                <a:latin typeface="Calibri"/>
              </a:rPr>
              <a:t>0</a:t>
            </a:r>
          </a:p>
        </p:txBody>
      </p:sp>
      <p:sp>
        <p:nvSpPr>
          <p:cNvPr id="10" name="TextBox 9"/>
          <p:cNvSpPr txBox="1"/>
          <p:nvPr/>
        </p:nvSpPr>
        <p:spPr>
          <a:xfrm>
            <a:off x="4498848" y="2695651"/>
            <a:ext cx="3209544" cy="1009497"/>
          </a:xfrm>
          <a:prstGeom prst="rect">
            <a:avLst/>
          </a:prstGeom>
          <a:noFill/>
        </p:spPr>
        <p:txBody>
          <a:bodyPr wrap="square" lIns="45720" rIns="45720" tIns="27432" bIns="27432" anchor="t">
            <a:spAutoFit/>
          </a:bodyPr>
          <a:lstStyle/>
          <a:p>
            <a:pPr algn="ctr"/>
            <a:r>
              <a:rPr sz="1600" b="0" i="0">
                <a:solidFill>
                  <a:srgbClr val="2B2B2B"/>
                </a:solidFill>
                <a:latin typeface="Calibri"/>
              </a:rPr>
              <a:t>false positives at every threshold from 0.50 to 0.90</a:t>
            </a:r>
          </a:p>
        </p:txBody>
      </p:sp>
      <p:sp>
        <p:nvSpPr>
          <p:cNvPr id="11" name="Rounded Rectangle 10"/>
          <p:cNvSpPr/>
          <p:nvPr/>
        </p:nvSpPr>
        <p:spPr>
          <a:xfrm>
            <a:off x="8092440" y="1554480"/>
            <a:ext cx="3429000" cy="2194560"/>
          </a:xfrm>
          <a:prstGeom prst="roundRect">
            <a:avLst>
              <a:gd name="adj" fmla="val 8000"/>
            </a:avLst>
          </a:prstGeom>
          <a:solidFill>
            <a:srgbClr val="F6ECF0"/>
          </a:solidFill>
          <a:ln w="19050">
            <a:solidFill>
              <a:srgbClr val="8B1A4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83879" y="1627632"/>
            <a:ext cx="3246120" cy="1097280"/>
          </a:xfrm>
          <a:prstGeom prst="rect">
            <a:avLst/>
          </a:prstGeom>
          <a:noFill/>
        </p:spPr>
        <p:txBody>
          <a:bodyPr wrap="square" lIns="45720" rIns="45720" tIns="27432" bIns="27432" anchor="ctr">
            <a:spAutoFit/>
          </a:bodyPr>
          <a:lstStyle/>
          <a:p>
            <a:pPr algn="ctr"/>
            <a:r>
              <a:rPr sz="3600" b="1" i="0">
                <a:solidFill>
                  <a:srgbClr val="8B1A4A"/>
                </a:solidFill>
                <a:latin typeface="Calibri"/>
              </a:rPr>
              <a:t>0.000000146</a:t>
            </a:r>
          </a:p>
        </p:txBody>
      </p:sp>
      <p:sp>
        <p:nvSpPr>
          <p:cNvPr id="13" name="TextBox 12"/>
          <p:cNvSpPr txBox="1"/>
          <p:nvPr/>
        </p:nvSpPr>
        <p:spPr>
          <a:xfrm>
            <a:off x="8202167" y="2695651"/>
            <a:ext cx="3209544" cy="1009497"/>
          </a:xfrm>
          <a:prstGeom prst="rect">
            <a:avLst/>
          </a:prstGeom>
          <a:noFill/>
        </p:spPr>
        <p:txBody>
          <a:bodyPr wrap="square" lIns="45720" rIns="45720" tIns="27432" bIns="27432" anchor="t">
            <a:spAutoFit/>
          </a:bodyPr>
          <a:lstStyle/>
          <a:p>
            <a:pPr algn="ctr"/>
            <a:r>
              <a:rPr sz="1600" b="0" i="0">
                <a:solidFill>
                  <a:srgbClr val="2B2B2B"/>
                </a:solidFill>
                <a:latin typeface="Calibri"/>
              </a:rPr>
              <a:t>highest score given to any sequence</a:t>
            </a:r>
          </a:p>
        </p:txBody>
      </p:sp>
      <p:sp>
        <p:nvSpPr>
          <p:cNvPr id="14" name="TextBox 13"/>
          <p:cNvSpPr txBox="1"/>
          <p:nvPr/>
        </p:nvSpPr>
        <p:spPr>
          <a:xfrm>
            <a:off x="685800" y="4114800"/>
            <a:ext cx="10835640" cy="1645920"/>
          </a:xfrm>
          <a:prstGeom prst="rect">
            <a:avLst/>
          </a:prstGeom>
          <a:noFill/>
        </p:spPr>
        <p:txBody>
          <a:bodyPr wrap="square" lIns="45720" rIns="45720" tIns="27432" bIns="27432" anchor="t">
            <a:spAutoFit/>
          </a:bodyPr>
          <a:lstStyle/>
          <a:p>
            <a:pPr algn="l"/>
            <a:r>
              <a:rPr sz="1800" b="0" i="0">
                <a:solidFill>
                  <a:srgbClr val="2B2B2B"/>
                </a:solidFill>
                <a:latin typeface="Calibri"/>
              </a:rPr>
              <a:t>All attack-labelled windows fall in the first 70% of the recording, so the chronological validation set and hold-out test set are benign only. They serve as a false-positive benchmark; recall is measured on the independent test datasets.</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338560" cy="685800"/>
          </a:xfrm>
          <a:prstGeom prst="rect">
            <a:avLst/>
          </a:prstGeom>
          <a:noFill/>
        </p:spPr>
        <p:txBody>
          <a:bodyPr wrap="square" lIns="45720" rIns="45720" tIns="27432" bIns="27432" anchor="ctr">
            <a:spAutoFit/>
          </a:bodyPr>
          <a:lstStyle/>
          <a:p>
            <a:pPr algn="l"/>
            <a:r>
              <a:rPr sz="3000" b="1" i="0">
                <a:solidFill>
                  <a:srgbClr val="8B1A4A"/>
                </a:solidFill>
                <a:latin typeface="Calibri"/>
              </a:rPr>
              <a:t>Backup: an earlier model that did not transfer</a:t>
            </a:r>
          </a:p>
        </p:txBody>
      </p:sp>
      <p:sp>
        <p:nvSpPr>
          <p:cNvPr id="3" name="TextBox 2"/>
          <p:cNvSpPr txBox="1"/>
          <p:nvPr/>
        </p:nvSpPr>
        <p:spPr>
          <a:xfrm>
            <a:off x="521207" y="841248"/>
            <a:ext cx="11155680" cy="411480"/>
          </a:xfrm>
          <a:prstGeom prst="rect">
            <a:avLst/>
          </a:prstGeom>
          <a:noFill/>
        </p:spPr>
        <p:txBody>
          <a:bodyPr wrap="square" lIns="45720" rIns="45720" tIns="27432" bIns="27432" anchor="t">
            <a:spAutoFit/>
          </a:bodyPr>
          <a:lstStyle/>
          <a:p>
            <a:pPr algn="l"/>
            <a:r>
              <a:rPr sz="1700" b="0" i="0">
                <a:solidFill>
                  <a:srgbClr val="6B6B6B"/>
                </a:solidFill>
                <a:latin typeface="Calibri"/>
              </a:rPr>
              <a:t>Earlier model: 497 windows (8.3 h), labels at failure rate &gt; 0.40, GELU; same three-block topology</a:t>
            </a:r>
          </a:p>
        </p:txBody>
      </p:sp>
      <p:sp>
        <p:nvSpPr>
          <p:cNvPr id="4" name="TextBox 3"/>
          <p:cNvSpPr txBox="1"/>
          <p:nvPr/>
        </p:nvSpPr>
        <p:spPr>
          <a:xfrm>
            <a:off x="1965960" y="6327648"/>
            <a:ext cx="8778240" cy="365760"/>
          </a:xfrm>
          <a:prstGeom prst="rect">
            <a:avLst/>
          </a:prstGeom>
          <a:noFill/>
        </p:spPr>
        <p:txBody>
          <a:bodyPr wrap="square" lIns="45720" rIns="45720" tIns="27432" bIns="27432" anchor="ctr">
            <a:spAutoFit/>
          </a:bodyPr>
          <a:lstStyle/>
          <a:p>
            <a:pPr algn="l"/>
            <a:r>
              <a:rPr sz="1050" b="0" i="0">
                <a:solidFill>
                  <a:srgbClr val="6B6B6B"/>
                </a:solidFill>
                <a:latin typeface="Calibri"/>
              </a:rPr>
              <a:t>ch.4.5, Table 10; Fisher's exact test on the Chaotic Dataset</a:t>
            </a:r>
          </a:p>
        </p:txBody>
      </p:sp>
      <p:sp>
        <p:nvSpPr>
          <p:cNvPr id="5" name="TextBox 4"/>
          <p:cNvSpPr txBox="1"/>
          <p:nvPr/>
        </p:nvSpPr>
        <p:spPr>
          <a:xfrm>
            <a:off x="11109960" y="6355080"/>
            <a:ext cx="822960" cy="320040"/>
          </a:xfrm>
          <a:prstGeom prst="rect">
            <a:avLst/>
          </a:prstGeom>
          <a:noFill/>
        </p:spPr>
        <p:txBody>
          <a:bodyPr wrap="square" lIns="45720" rIns="45720" tIns="27432" bIns="27432" anchor="ctr">
            <a:spAutoFit/>
          </a:bodyPr>
          <a:lstStyle/>
          <a:p>
            <a:pPr algn="r"/>
            <a:r>
              <a:rPr sz="1200" b="0" i="0">
                <a:solidFill>
                  <a:srgbClr val="6B6B6B"/>
                </a:solidFill>
                <a:latin typeface="Calibri"/>
              </a:rPr>
              <a:t>25</a:t>
            </a:r>
          </a:p>
        </p:txBody>
      </p:sp>
      <p:graphicFrame>
        <p:nvGraphicFramePr>
          <p:cNvPr id="6" name="Table 5"/>
          <p:cNvGraphicFramePr>
            <a:graphicFrameLocks noGrp="1"/>
          </p:cNvGraphicFramePr>
          <p:nvPr/>
        </p:nvGraphicFramePr>
        <p:xfrm>
          <a:off x="731520" y="1600200"/>
          <a:ext cx="10698480" cy="2514600"/>
        </p:xfrm>
        <a:graphic>
          <a:graphicData uri="http://schemas.openxmlformats.org/drawingml/2006/table">
            <a:tbl>
              <a:tblPr firstRow="1" bandRow="1">
                <a:tableStyleId>{5C22544A-7EE6-4342-B048-85BDC9FD1C3A}</a:tableStyleId>
              </a:tblPr>
              <a:tblGrid>
                <a:gridCol w="2468880"/>
                <a:gridCol w="1371600"/>
                <a:gridCol w="1280160"/>
                <a:gridCol w="1280160"/>
                <a:gridCol w="1463040"/>
                <a:gridCol w="2834640"/>
              </a:tblGrid>
              <a:tr h="502920">
                <a:tc>
                  <a:txBody>
                    <a:bodyPr wrap="square"/>
                    <a:lstStyle/>
                    <a:p>
                      <a:pPr algn="l"/>
                      <a:r>
                        <a:rPr sz="1500" b="1">
                          <a:solidFill>
                            <a:srgbClr val="FFFFFF"/>
                          </a:solidFill>
                          <a:latin typeface="Calibri"/>
                        </a:rPr>
                        <a:t>Model / dataset</a:t>
                      </a:r>
                    </a:p>
                  </a:txBody>
                  <a:tcPr marL="54864" marR="54864" marT="27432" marB="27432">
                    <a:solidFill>
                      <a:srgbClr val="8B1A4A"/>
                    </a:solidFill>
                  </a:tcPr>
                </a:tc>
                <a:tc>
                  <a:txBody>
                    <a:bodyPr wrap="square"/>
                    <a:lstStyle/>
                    <a:p>
                      <a:pPr algn="ctr"/>
                      <a:r>
                        <a:rPr sz="1500" b="1">
                          <a:solidFill>
                            <a:srgbClr val="FFFFFF"/>
                          </a:solidFill>
                          <a:latin typeface="Calibri"/>
                        </a:rPr>
                        <a:t>Precision</a:t>
                      </a:r>
                    </a:p>
                  </a:txBody>
                  <a:tcPr marL="54864" marR="54864" marT="27432" marB="27432">
                    <a:solidFill>
                      <a:srgbClr val="8B1A4A"/>
                    </a:solidFill>
                  </a:tcPr>
                </a:tc>
                <a:tc>
                  <a:txBody>
                    <a:bodyPr wrap="square"/>
                    <a:lstStyle/>
                    <a:p>
                      <a:pPr algn="ctr"/>
                      <a:r>
                        <a:rPr sz="1500" b="1">
                          <a:solidFill>
                            <a:srgbClr val="FFFFFF"/>
                          </a:solidFill>
                          <a:latin typeface="Calibri"/>
                        </a:rPr>
                        <a:t>Recall</a:t>
                      </a:r>
                    </a:p>
                  </a:txBody>
                  <a:tcPr marL="54864" marR="54864" marT="27432" marB="27432">
                    <a:solidFill>
                      <a:srgbClr val="8B1A4A"/>
                    </a:solidFill>
                  </a:tcPr>
                </a:tc>
                <a:tc>
                  <a:txBody>
                    <a:bodyPr wrap="square"/>
                    <a:lstStyle/>
                    <a:p>
                      <a:pPr algn="ctr"/>
                      <a:r>
                        <a:rPr sz="1500" b="1">
                          <a:solidFill>
                            <a:srgbClr val="FFFFFF"/>
                          </a:solidFill>
                          <a:latin typeface="Calibri"/>
                        </a:rPr>
                        <a:t>F1</a:t>
                      </a:r>
                    </a:p>
                  </a:txBody>
                  <a:tcPr marL="54864" marR="54864" marT="27432" marB="27432">
                    <a:solidFill>
                      <a:srgbClr val="8B1A4A"/>
                    </a:solidFill>
                  </a:tcPr>
                </a:tc>
                <a:tc>
                  <a:txBody>
                    <a:bodyPr wrap="square"/>
                    <a:lstStyle/>
                    <a:p>
                      <a:pPr algn="ctr"/>
                      <a:r>
                        <a:rPr sz="1500" b="1">
                          <a:solidFill>
                            <a:srgbClr val="FFFFFF"/>
                          </a:solidFill>
                          <a:latin typeface="Calibri"/>
                        </a:rPr>
                        <a:t>ROC-AUC</a:t>
                      </a:r>
                    </a:p>
                  </a:txBody>
                  <a:tcPr marL="54864" marR="54864" marT="27432" marB="27432">
                    <a:solidFill>
                      <a:srgbClr val="8B1A4A"/>
                    </a:solidFill>
                  </a:tcPr>
                </a:tc>
                <a:tc>
                  <a:txBody>
                    <a:bodyPr wrap="square"/>
                    <a:lstStyle/>
                    <a:p>
                      <a:pPr algn="ctr"/>
                      <a:r>
                        <a:rPr sz="1500" b="1">
                          <a:solidFill>
                            <a:srgbClr val="FFFFFF"/>
                          </a:solidFill>
                          <a:latin typeface="Calibri"/>
                        </a:rPr>
                        <a:t>TN / FP / FN / TP</a:t>
                      </a:r>
                    </a:p>
                  </a:txBody>
                  <a:tcPr marL="54864" marR="54864" marT="27432" marB="27432">
                    <a:solidFill>
                      <a:srgbClr val="8B1A4A"/>
                    </a:solidFill>
                  </a:tcPr>
                </a:tc>
              </a:tr>
              <a:tr h="502920">
                <a:tc>
                  <a:txBody>
                    <a:bodyPr wrap="square"/>
                    <a:lstStyle/>
                    <a:p>
                      <a:pPr algn="l"/>
                      <a:r>
                        <a:rPr sz="1500" b="0">
                          <a:solidFill>
                            <a:srgbClr val="2B2B2B"/>
                          </a:solidFill>
                          <a:latin typeface="Calibri"/>
                        </a:rPr>
                        <a:t>Earlier · Chaotic</a:t>
                      </a:r>
                    </a:p>
                  </a:txBody>
                  <a:tcPr marL="54864" marR="54864" marT="27432" marB="27432">
                    <a:solidFill>
                      <a:srgbClr val="F6ECF0"/>
                    </a:solidFill>
                  </a:tcPr>
                </a:tc>
                <a:tc>
                  <a:txBody>
                    <a:bodyPr wrap="square"/>
                    <a:lstStyle/>
                    <a:p>
                      <a:pPr algn="ctr"/>
                      <a:r>
                        <a:rPr sz="1500" b="0">
                          <a:solidFill>
                            <a:srgbClr val="2B2B2B"/>
                          </a:solidFill>
                          <a:latin typeface="Calibri"/>
                        </a:rPr>
                        <a:t>1.0000</a:t>
                      </a:r>
                    </a:p>
                  </a:txBody>
                  <a:tcPr marL="54864" marR="54864" marT="27432" marB="27432">
                    <a:solidFill>
                      <a:srgbClr val="F6ECF0"/>
                    </a:solidFill>
                  </a:tcPr>
                </a:tc>
                <a:tc>
                  <a:txBody>
                    <a:bodyPr wrap="square"/>
                    <a:lstStyle/>
                    <a:p>
                      <a:pPr algn="ctr"/>
                      <a:r>
                        <a:rPr sz="1500" b="0">
                          <a:solidFill>
                            <a:srgbClr val="2B2B2B"/>
                          </a:solidFill>
                          <a:latin typeface="Calibri"/>
                        </a:rPr>
                        <a:t>0.7500</a:t>
                      </a:r>
                    </a:p>
                  </a:txBody>
                  <a:tcPr marL="54864" marR="54864" marT="27432" marB="27432">
                    <a:solidFill>
                      <a:srgbClr val="F6ECF0"/>
                    </a:solidFill>
                  </a:tcPr>
                </a:tc>
                <a:tc>
                  <a:txBody>
                    <a:bodyPr wrap="square"/>
                    <a:lstStyle/>
                    <a:p>
                      <a:pPr algn="ctr"/>
                      <a:r>
                        <a:rPr sz="1500" b="0">
                          <a:solidFill>
                            <a:srgbClr val="2B2B2B"/>
                          </a:solidFill>
                          <a:latin typeface="Calibri"/>
                        </a:rPr>
                        <a:t>0.8571</a:t>
                      </a:r>
                    </a:p>
                  </a:txBody>
                  <a:tcPr marL="54864" marR="54864" marT="27432" marB="27432">
                    <a:solidFill>
                      <a:srgbClr val="F6ECF0"/>
                    </a:solidFill>
                  </a:tcPr>
                </a:tc>
                <a:tc>
                  <a:txBody>
                    <a:bodyPr wrap="square"/>
                    <a:lstStyle/>
                    <a:p>
                      <a:pPr algn="ctr"/>
                      <a:r>
                        <a:rPr sz="1500" b="0">
                          <a:solidFill>
                            <a:srgbClr val="2B2B2B"/>
                          </a:solidFill>
                          <a:latin typeface="Calibri"/>
                        </a:rPr>
                        <a:t>0.9802</a:t>
                      </a:r>
                    </a:p>
                  </a:txBody>
                  <a:tcPr marL="54864" marR="54864" marT="27432" marB="27432">
                    <a:solidFill>
                      <a:srgbClr val="F6ECF0"/>
                    </a:solidFill>
                  </a:tcPr>
                </a:tc>
                <a:tc>
                  <a:txBody>
                    <a:bodyPr wrap="square"/>
                    <a:lstStyle/>
                    <a:p>
                      <a:pPr algn="ctr"/>
                      <a:r>
                        <a:rPr sz="1500" b="0">
                          <a:solidFill>
                            <a:srgbClr val="2B2B2B"/>
                          </a:solidFill>
                          <a:latin typeface="Calibri"/>
                        </a:rPr>
                        <a:t>101 / 0 / 11 / 33</a:t>
                      </a:r>
                    </a:p>
                  </a:txBody>
                  <a:tcPr marL="54864" marR="54864" marT="27432" marB="27432">
                    <a:solidFill>
                      <a:srgbClr val="F6ECF0"/>
                    </a:solidFill>
                  </a:tcPr>
                </a:tc>
              </a:tr>
              <a:tr h="502920">
                <a:tc>
                  <a:txBody>
                    <a:bodyPr wrap="square"/>
                    <a:lstStyle/>
                    <a:p>
                      <a:pPr algn="l"/>
                      <a:r>
                        <a:rPr sz="1500" b="0">
                          <a:solidFill>
                            <a:srgbClr val="2B2B2B"/>
                          </a:solidFill>
                          <a:latin typeface="Calibri"/>
                        </a:rPr>
                        <a:t>Final · Chaotic</a:t>
                      </a:r>
                    </a:p>
                  </a:txBody>
                  <a:tcPr marL="54864" marR="54864" marT="27432" marB="27432">
                    <a:solidFill>
                      <a:srgbClr val="FFFFFF"/>
                    </a:solidFill>
                  </a:tcPr>
                </a:tc>
                <a:tc>
                  <a:txBody>
                    <a:bodyPr wrap="square"/>
                    <a:lstStyle/>
                    <a:p>
                      <a:pPr algn="ctr"/>
                      <a:r>
                        <a:rPr sz="1500" b="0">
                          <a:solidFill>
                            <a:srgbClr val="2B2B2B"/>
                          </a:solidFill>
                          <a:latin typeface="Calibri"/>
                        </a:rPr>
                        <a:t>0.8947</a:t>
                      </a:r>
                    </a:p>
                  </a:txBody>
                  <a:tcPr marL="54864" marR="54864" marT="27432" marB="27432">
                    <a:solidFill>
                      <a:srgbClr val="FFFFFF"/>
                    </a:solidFill>
                  </a:tcPr>
                </a:tc>
                <a:tc>
                  <a:txBody>
                    <a:bodyPr wrap="square"/>
                    <a:lstStyle/>
                    <a:p>
                      <a:pPr algn="ctr"/>
                      <a:r>
                        <a:rPr sz="1500" b="0">
                          <a:solidFill>
                            <a:srgbClr val="2B2B2B"/>
                          </a:solidFill>
                          <a:latin typeface="Calibri"/>
                        </a:rPr>
                        <a:t>0.7727</a:t>
                      </a:r>
                    </a:p>
                  </a:txBody>
                  <a:tcPr marL="54864" marR="54864" marT="27432" marB="27432">
                    <a:solidFill>
                      <a:srgbClr val="FFFFFF"/>
                    </a:solidFill>
                  </a:tcPr>
                </a:tc>
                <a:tc>
                  <a:txBody>
                    <a:bodyPr wrap="square"/>
                    <a:lstStyle/>
                    <a:p>
                      <a:pPr algn="ctr"/>
                      <a:r>
                        <a:rPr sz="1500" b="0">
                          <a:solidFill>
                            <a:srgbClr val="2B2B2B"/>
                          </a:solidFill>
                          <a:latin typeface="Calibri"/>
                        </a:rPr>
                        <a:t>0.8293</a:t>
                      </a:r>
                    </a:p>
                  </a:txBody>
                  <a:tcPr marL="54864" marR="54864" marT="27432" marB="27432">
                    <a:solidFill>
                      <a:srgbClr val="FFFFFF"/>
                    </a:solidFill>
                  </a:tcPr>
                </a:tc>
                <a:tc>
                  <a:txBody>
                    <a:bodyPr wrap="square"/>
                    <a:lstStyle/>
                    <a:p>
                      <a:pPr algn="ctr"/>
                      <a:r>
                        <a:rPr sz="1500" b="0">
                          <a:solidFill>
                            <a:srgbClr val="2B2B2B"/>
                          </a:solidFill>
                          <a:latin typeface="Calibri"/>
                        </a:rPr>
                        <a:t>0.9876</a:t>
                      </a:r>
                    </a:p>
                  </a:txBody>
                  <a:tcPr marL="54864" marR="54864" marT="27432" marB="27432">
                    <a:solidFill>
                      <a:srgbClr val="FFFFFF"/>
                    </a:solidFill>
                  </a:tcPr>
                </a:tc>
                <a:tc>
                  <a:txBody>
                    <a:bodyPr wrap="square"/>
                    <a:lstStyle/>
                    <a:p>
                      <a:pPr algn="ctr"/>
                      <a:r>
                        <a:rPr sz="1500" b="0">
                          <a:solidFill>
                            <a:srgbClr val="2B2B2B"/>
                          </a:solidFill>
                          <a:latin typeface="Calibri"/>
                        </a:rPr>
                        <a:t>97 / 4 / 10 / 34</a:t>
                      </a:r>
                    </a:p>
                  </a:txBody>
                  <a:tcPr marL="54864" marR="54864" marT="27432" marB="27432">
                    <a:solidFill>
                      <a:srgbClr val="FFFFFF"/>
                    </a:solidFill>
                  </a:tcPr>
                </a:tc>
              </a:tr>
              <a:tr h="502920">
                <a:tc>
                  <a:txBody>
                    <a:bodyPr wrap="square"/>
                    <a:lstStyle/>
                    <a:p>
                      <a:pPr algn="l"/>
                      <a:r>
                        <a:rPr sz="1500" b="0">
                          <a:solidFill>
                            <a:srgbClr val="2B2B2B"/>
                          </a:solidFill>
                          <a:latin typeface="Calibri"/>
                        </a:rPr>
                        <a:t>Earlier · Large</a:t>
                      </a:r>
                    </a:p>
                  </a:txBody>
                  <a:tcPr marL="54864" marR="54864" marT="27432" marB="27432">
                    <a:solidFill>
                      <a:srgbClr val="F6ECF0"/>
                    </a:solidFill>
                  </a:tcPr>
                </a:tc>
                <a:tc>
                  <a:txBody>
                    <a:bodyPr wrap="square"/>
                    <a:lstStyle/>
                    <a:p>
                      <a:pPr algn="ctr"/>
                      <a:r>
                        <a:rPr sz="1500" b="0">
                          <a:solidFill>
                            <a:srgbClr val="2B2B2B"/>
                          </a:solidFill>
                          <a:latin typeface="Calibri"/>
                        </a:rPr>
                        <a:t>1.0000</a:t>
                      </a:r>
                    </a:p>
                  </a:txBody>
                  <a:tcPr marL="54864" marR="54864" marT="27432" marB="27432">
                    <a:solidFill>
                      <a:srgbClr val="F6ECF0"/>
                    </a:solidFill>
                  </a:tcPr>
                </a:tc>
                <a:tc>
                  <a:txBody>
                    <a:bodyPr wrap="square"/>
                    <a:lstStyle/>
                    <a:p>
                      <a:pPr algn="ctr"/>
                      <a:r>
                        <a:rPr sz="1500" b="0">
                          <a:solidFill>
                            <a:srgbClr val="2B2B2B"/>
                          </a:solidFill>
                          <a:latin typeface="Calibri"/>
                        </a:rPr>
                        <a:t>0.2575</a:t>
                      </a:r>
                    </a:p>
                  </a:txBody>
                  <a:tcPr marL="54864" marR="54864" marT="27432" marB="27432">
                    <a:solidFill>
                      <a:srgbClr val="F6ECF0"/>
                    </a:solidFill>
                  </a:tcPr>
                </a:tc>
                <a:tc>
                  <a:txBody>
                    <a:bodyPr wrap="square"/>
                    <a:lstStyle/>
                    <a:p>
                      <a:pPr algn="ctr"/>
                      <a:r>
                        <a:rPr sz="1500" b="0">
                          <a:solidFill>
                            <a:srgbClr val="2B2B2B"/>
                          </a:solidFill>
                          <a:latin typeface="Calibri"/>
                        </a:rPr>
                        <a:t>0.4096</a:t>
                      </a:r>
                    </a:p>
                  </a:txBody>
                  <a:tcPr marL="54864" marR="54864" marT="27432" marB="27432">
                    <a:solidFill>
                      <a:srgbClr val="F6ECF0"/>
                    </a:solidFill>
                  </a:tcPr>
                </a:tc>
                <a:tc>
                  <a:txBody>
                    <a:bodyPr wrap="square"/>
                    <a:lstStyle/>
                    <a:p>
                      <a:pPr algn="ctr"/>
                      <a:r>
                        <a:rPr sz="1500" b="0">
                          <a:solidFill>
                            <a:srgbClr val="2B2B2B"/>
                          </a:solidFill>
                          <a:latin typeface="Calibri"/>
                        </a:rPr>
                        <a:t>0.3576</a:t>
                      </a:r>
                    </a:p>
                  </a:txBody>
                  <a:tcPr marL="54864" marR="54864" marT="27432" marB="27432">
                    <a:solidFill>
                      <a:srgbClr val="F6ECF0"/>
                    </a:solidFill>
                  </a:tcPr>
                </a:tc>
                <a:tc>
                  <a:txBody>
                    <a:bodyPr wrap="square"/>
                    <a:lstStyle/>
                    <a:p>
                      <a:pPr algn="ctr"/>
                      <a:r>
                        <a:rPr sz="1500" b="0">
                          <a:solidFill>
                            <a:srgbClr val="2B2B2B"/>
                          </a:solidFill>
                          <a:latin typeface="Calibri"/>
                        </a:rPr>
                        <a:t>11,359 / 0 / 1,479 / 513</a:t>
                      </a:r>
                    </a:p>
                  </a:txBody>
                  <a:tcPr marL="54864" marR="54864" marT="27432" marB="27432">
                    <a:solidFill>
                      <a:srgbClr val="F6ECF0"/>
                    </a:solidFill>
                  </a:tcPr>
                </a:tc>
              </a:tr>
              <a:tr h="502920">
                <a:tc>
                  <a:txBody>
                    <a:bodyPr wrap="square"/>
                    <a:lstStyle/>
                    <a:p>
                      <a:pPr algn="l"/>
                      <a:r>
                        <a:rPr sz="1500" b="0">
                          <a:solidFill>
                            <a:srgbClr val="2B2B2B"/>
                          </a:solidFill>
                          <a:latin typeface="Calibri"/>
                        </a:rPr>
                        <a:t>Final · Large</a:t>
                      </a:r>
                    </a:p>
                  </a:txBody>
                  <a:tcPr marL="54864" marR="54864" marT="27432" marB="27432">
                    <a:solidFill>
                      <a:srgbClr val="FFFFFF"/>
                    </a:solidFill>
                  </a:tcPr>
                </a:tc>
                <a:tc>
                  <a:txBody>
                    <a:bodyPr wrap="square"/>
                    <a:lstStyle/>
                    <a:p>
                      <a:pPr algn="ctr"/>
                      <a:r>
                        <a:rPr sz="1500" b="0">
                          <a:solidFill>
                            <a:srgbClr val="2B2B2B"/>
                          </a:solidFill>
                          <a:latin typeface="Calibri"/>
                        </a:rPr>
                        <a:t>0.9945</a:t>
                      </a:r>
                    </a:p>
                  </a:txBody>
                  <a:tcPr marL="54864" marR="54864" marT="27432" marB="27432">
                    <a:solidFill>
                      <a:srgbClr val="FFFFFF"/>
                    </a:solidFill>
                  </a:tcPr>
                </a:tc>
                <a:tc>
                  <a:txBody>
                    <a:bodyPr wrap="square"/>
                    <a:lstStyle/>
                    <a:p>
                      <a:pPr algn="ctr"/>
                      <a:r>
                        <a:rPr sz="1500" b="0">
                          <a:solidFill>
                            <a:srgbClr val="2B2B2B"/>
                          </a:solidFill>
                          <a:latin typeface="Calibri"/>
                        </a:rPr>
                        <a:t>1.0000</a:t>
                      </a:r>
                    </a:p>
                  </a:txBody>
                  <a:tcPr marL="54864" marR="54864" marT="27432" marB="27432">
                    <a:solidFill>
                      <a:srgbClr val="FFFFFF"/>
                    </a:solidFill>
                  </a:tcPr>
                </a:tc>
                <a:tc>
                  <a:txBody>
                    <a:bodyPr wrap="square"/>
                    <a:lstStyle/>
                    <a:p>
                      <a:pPr algn="ctr"/>
                      <a:r>
                        <a:rPr sz="1500" b="0">
                          <a:solidFill>
                            <a:srgbClr val="2B2B2B"/>
                          </a:solidFill>
                          <a:latin typeface="Calibri"/>
                        </a:rPr>
                        <a:t>0.9972</a:t>
                      </a:r>
                    </a:p>
                  </a:txBody>
                  <a:tcPr marL="54864" marR="54864" marT="27432" marB="27432">
                    <a:solidFill>
                      <a:srgbClr val="FFFFFF"/>
                    </a:solidFill>
                  </a:tcPr>
                </a:tc>
                <a:tc>
                  <a:txBody>
                    <a:bodyPr wrap="square"/>
                    <a:lstStyle/>
                    <a:p>
                      <a:pPr algn="ctr"/>
                      <a:r>
                        <a:rPr sz="1500" b="0">
                          <a:solidFill>
                            <a:srgbClr val="2B2B2B"/>
                          </a:solidFill>
                          <a:latin typeface="Calibri"/>
                        </a:rPr>
                        <a:t>0.999983</a:t>
                      </a:r>
                    </a:p>
                  </a:txBody>
                  <a:tcPr marL="54864" marR="54864" marT="27432" marB="27432">
                    <a:solidFill>
                      <a:srgbClr val="FFFFFF"/>
                    </a:solidFill>
                  </a:tcPr>
                </a:tc>
                <a:tc>
                  <a:txBody>
                    <a:bodyPr wrap="square"/>
                    <a:lstStyle/>
                    <a:p>
                      <a:pPr algn="ctr"/>
                      <a:r>
                        <a:rPr sz="1500" b="0">
                          <a:solidFill>
                            <a:srgbClr val="2B2B2B"/>
                          </a:solidFill>
                          <a:latin typeface="Calibri"/>
                        </a:rPr>
                        <a:t>11,348 / 11 / 0 / 1,992</a:t>
                      </a:r>
                    </a:p>
                  </a:txBody>
                  <a:tcPr marL="54864" marR="54864" marT="27432" marB="27432">
                    <a:solidFill>
                      <a:srgbClr val="FFFFFF"/>
                    </a:solidFill>
                  </a:tcPr>
                </a:tc>
              </a:tr>
            </a:tbl>
          </a:graphicData>
        </a:graphic>
      </p:graphicFrame>
      <p:sp>
        <p:nvSpPr>
          <p:cNvPr id="7" name="TextBox 6"/>
          <p:cNvSpPr txBox="1"/>
          <p:nvPr/>
        </p:nvSpPr>
        <p:spPr>
          <a:xfrm>
            <a:off x="731520" y="4572000"/>
            <a:ext cx="10698480" cy="1463040"/>
          </a:xfrm>
          <a:prstGeom prst="rect">
            <a:avLst/>
          </a:prstGeom>
          <a:noFill/>
        </p:spPr>
        <p:txBody>
          <a:bodyPr wrap="square" lIns="45720" rIns="45720" tIns="27432" bIns="27432" anchor="t">
            <a:spAutoFit/>
          </a:bodyPr>
          <a:lstStyle/>
          <a:p>
            <a:pPr algn="l"/>
            <a:r>
              <a:rPr sz="1600" b="0" i="0">
                <a:solidFill>
                  <a:srgbClr val="2B2B2B"/>
                </a:solidFill>
                <a:latin typeface="Calibri"/>
              </a:rPr>
              <a:t>Chaotic Dataset: no significant difference (Fisher p = 1.00 for recall, p = 0.12 for false alarms). Large Dataset: the earlier model's scores rise with IP count (Spearman +0.401). The models differ in data, label threshold and activation at once, so the cause of the failure is not isolated.</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338560" cy="685800"/>
          </a:xfrm>
          <a:prstGeom prst="rect">
            <a:avLst/>
          </a:prstGeom>
          <a:noFill/>
        </p:spPr>
        <p:txBody>
          <a:bodyPr wrap="square" lIns="45720" rIns="45720" tIns="27432" bIns="27432" anchor="ctr">
            <a:spAutoFit/>
          </a:bodyPr>
          <a:lstStyle/>
          <a:p>
            <a:pPr algn="l"/>
            <a:r>
              <a:rPr sz="3000" b="1" i="0">
                <a:solidFill>
                  <a:srgbClr val="8B1A4A"/>
                </a:solidFill>
                <a:latin typeface="Calibri"/>
              </a:rPr>
              <a:t>Backup: false alerts per day against threshold</a:t>
            </a:r>
          </a:p>
        </p:txBody>
      </p:sp>
      <p:sp>
        <p:nvSpPr>
          <p:cNvPr id="3" name="TextBox 2"/>
          <p:cNvSpPr txBox="1"/>
          <p:nvPr/>
        </p:nvSpPr>
        <p:spPr>
          <a:xfrm>
            <a:off x="1965960" y="6327648"/>
            <a:ext cx="8778240" cy="365760"/>
          </a:xfrm>
          <a:prstGeom prst="rect">
            <a:avLst/>
          </a:prstGeom>
          <a:noFill/>
        </p:spPr>
        <p:txBody>
          <a:bodyPr wrap="square" lIns="45720" rIns="45720" tIns="27432" bIns="27432" anchor="ctr">
            <a:spAutoFit/>
          </a:bodyPr>
          <a:lstStyle/>
          <a:p>
            <a:pPr algn="l"/>
            <a:r>
              <a:rPr sz="1050" b="0" i="0">
                <a:solidFill>
                  <a:srgbClr val="6B6B6B"/>
                </a:solidFill>
                <a:latin typeface="Calibri"/>
              </a:rPr>
              <a:t>Figure 8 and Table 8 of the thesis (ch.4.3); alerts/day = 1,440 × FPR</a:t>
            </a:r>
          </a:p>
        </p:txBody>
      </p:sp>
      <p:sp>
        <p:nvSpPr>
          <p:cNvPr id="4" name="TextBox 3"/>
          <p:cNvSpPr txBox="1"/>
          <p:nvPr/>
        </p:nvSpPr>
        <p:spPr>
          <a:xfrm>
            <a:off x="11109960" y="6355080"/>
            <a:ext cx="822960" cy="320040"/>
          </a:xfrm>
          <a:prstGeom prst="rect">
            <a:avLst/>
          </a:prstGeom>
          <a:noFill/>
        </p:spPr>
        <p:txBody>
          <a:bodyPr wrap="square" lIns="45720" rIns="45720" tIns="27432" bIns="27432" anchor="ctr">
            <a:spAutoFit/>
          </a:bodyPr>
          <a:lstStyle/>
          <a:p>
            <a:pPr algn="r"/>
            <a:r>
              <a:rPr sz="1200" b="0" i="0">
                <a:solidFill>
                  <a:srgbClr val="6B6B6B"/>
                </a:solidFill>
                <a:latin typeface="Calibri"/>
              </a:rPr>
              <a:t>26</a:t>
            </a:r>
          </a:p>
        </p:txBody>
      </p:sp>
      <p:pic>
        <p:nvPicPr>
          <p:cNvPr id="5" name="Picture 4" descr="fig_threshold_alarm_burden_v11.png"/>
          <p:cNvPicPr>
            <a:picLocks noChangeAspect="1"/>
          </p:cNvPicPr>
          <p:nvPr/>
        </p:nvPicPr>
        <p:blipFill>
          <a:blip r:embed="rId2"/>
          <a:stretch>
            <a:fillRect/>
          </a:stretch>
        </p:blipFill>
        <p:spPr>
          <a:xfrm>
            <a:off x="1828800" y="1448348"/>
            <a:ext cx="5120640" cy="4189903"/>
          </a:xfrm>
          <a:prstGeom prst="rect">
            <a:avLst/>
          </a:prstGeom>
        </p:spPr>
      </p:pic>
      <p:graphicFrame>
        <p:nvGraphicFramePr>
          <p:cNvPr id="6" name="Table 5"/>
          <p:cNvGraphicFramePr>
            <a:graphicFrameLocks noGrp="1"/>
          </p:cNvGraphicFramePr>
          <p:nvPr/>
        </p:nvGraphicFramePr>
        <p:xfrm>
          <a:off x="7132320" y="1463040"/>
          <a:ext cx="4572000" cy="2011680"/>
        </p:xfrm>
        <a:graphic>
          <a:graphicData uri="http://schemas.openxmlformats.org/drawingml/2006/table">
            <a:tbl>
              <a:tblPr firstRow="1" bandRow="1">
                <a:tableStyleId>{5C22544A-7EE6-4342-B048-85BDC9FD1C3A}</a:tableStyleId>
              </a:tblPr>
              <a:tblGrid>
                <a:gridCol w="1828800"/>
                <a:gridCol w="1280160"/>
                <a:gridCol w="1463040"/>
              </a:tblGrid>
              <a:tr h="502920">
                <a:tc>
                  <a:txBody>
                    <a:bodyPr wrap="square"/>
                    <a:lstStyle/>
                    <a:p>
                      <a:pPr algn="l"/>
                      <a:r>
                        <a:rPr sz="1500" b="1">
                          <a:solidFill>
                            <a:srgbClr val="FFFFFF"/>
                          </a:solidFill>
                          <a:latin typeface="Calibri"/>
                        </a:rPr>
                        <a:t>Dataset (θ)</a:t>
                      </a:r>
                    </a:p>
                  </a:txBody>
                  <a:tcPr marL="54864" marR="54864" marT="27432" marB="27432">
                    <a:solidFill>
                      <a:srgbClr val="8B1A4A"/>
                    </a:solidFill>
                  </a:tcPr>
                </a:tc>
                <a:tc>
                  <a:txBody>
                    <a:bodyPr wrap="square"/>
                    <a:lstStyle/>
                    <a:p>
                      <a:pPr algn="ctr"/>
                      <a:r>
                        <a:rPr sz="1500" b="1">
                          <a:solidFill>
                            <a:srgbClr val="FFFFFF"/>
                          </a:solidFill>
                          <a:latin typeface="Calibri"/>
                        </a:rPr>
                        <a:t>FPR</a:t>
                      </a:r>
                    </a:p>
                  </a:txBody>
                  <a:tcPr marL="54864" marR="54864" marT="27432" marB="27432">
                    <a:solidFill>
                      <a:srgbClr val="8B1A4A"/>
                    </a:solidFill>
                  </a:tcPr>
                </a:tc>
                <a:tc>
                  <a:txBody>
                    <a:bodyPr wrap="square"/>
                    <a:lstStyle/>
                    <a:p>
                      <a:pPr algn="ctr"/>
                      <a:r>
                        <a:rPr sz="1500" b="1">
                          <a:solidFill>
                            <a:srgbClr val="FFFFFF"/>
                          </a:solidFill>
                          <a:latin typeface="Calibri"/>
                        </a:rPr>
                        <a:t>False alerts / day</a:t>
                      </a:r>
                    </a:p>
                  </a:txBody>
                  <a:tcPr marL="54864" marR="54864" marT="27432" marB="27432">
                    <a:solidFill>
                      <a:srgbClr val="8B1A4A"/>
                    </a:solidFill>
                  </a:tcPr>
                </a:tc>
              </a:tr>
              <a:tr h="502920">
                <a:tc>
                  <a:txBody>
                    <a:bodyPr wrap="square"/>
                    <a:lstStyle/>
                    <a:p>
                      <a:pPr algn="l"/>
                      <a:r>
                        <a:rPr sz="1500" b="0">
                          <a:solidFill>
                            <a:srgbClr val="2B2B2B"/>
                          </a:solidFill>
                          <a:latin typeface="Calibri"/>
                        </a:rPr>
                        <a:t>Chaotic (0.50)</a:t>
                      </a:r>
                    </a:p>
                  </a:txBody>
                  <a:tcPr marL="54864" marR="54864" marT="27432" marB="27432">
                    <a:solidFill>
                      <a:srgbClr val="F6ECF0"/>
                    </a:solidFill>
                  </a:tcPr>
                </a:tc>
                <a:tc>
                  <a:txBody>
                    <a:bodyPr wrap="square"/>
                    <a:lstStyle/>
                    <a:p>
                      <a:pPr algn="ctr"/>
                      <a:r>
                        <a:rPr sz="1500" b="0">
                          <a:solidFill>
                            <a:srgbClr val="2B2B2B"/>
                          </a:solidFill>
                          <a:latin typeface="Calibri"/>
                        </a:rPr>
                        <a:t>0.0396</a:t>
                      </a:r>
                    </a:p>
                  </a:txBody>
                  <a:tcPr marL="54864" marR="54864" marT="27432" marB="27432">
                    <a:solidFill>
                      <a:srgbClr val="F6ECF0"/>
                    </a:solidFill>
                  </a:tcPr>
                </a:tc>
                <a:tc>
                  <a:txBody>
                    <a:bodyPr wrap="square"/>
                    <a:lstStyle/>
                    <a:p>
                      <a:pPr algn="ctr"/>
                      <a:r>
                        <a:rPr sz="1500" b="0">
                          <a:solidFill>
                            <a:srgbClr val="2B2B2B"/>
                          </a:solidFill>
                          <a:latin typeface="Calibri"/>
                        </a:rPr>
                        <a:t>57.0</a:t>
                      </a:r>
                    </a:p>
                  </a:txBody>
                  <a:tcPr marL="54864" marR="54864" marT="27432" marB="27432">
                    <a:solidFill>
                      <a:srgbClr val="F6ECF0"/>
                    </a:solidFill>
                  </a:tcPr>
                </a:tc>
              </a:tr>
              <a:tr h="502920">
                <a:tc>
                  <a:txBody>
                    <a:bodyPr wrap="square"/>
                    <a:lstStyle/>
                    <a:p>
                      <a:pPr algn="l"/>
                      <a:r>
                        <a:rPr sz="1500" b="0">
                          <a:solidFill>
                            <a:srgbClr val="2B2B2B"/>
                          </a:solidFill>
                          <a:latin typeface="Calibri"/>
                        </a:rPr>
                        <a:t>Large (0.50)</a:t>
                      </a:r>
                    </a:p>
                  </a:txBody>
                  <a:tcPr marL="54864" marR="54864" marT="27432" marB="27432">
                    <a:solidFill>
                      <a:srgbClr val="FFFFFF"/>
                    </a:solidFill>
                  </a:tcPr>
                </a:tc>
                <a:tc>
                  <a:txBody>
                    <a:bodyPr wrap="square"/>
                    <a:lstStyle/>
                    <a:p>
                      <a:pPr algn="ctr"/>
                      <a:r>
                        <a:rPr sz="1500" b="0">
                          <a:solidFill>
                            <a:srgbClr val="2B2B2B"/>
                          </a:solidFill>
                          <a:latin typeface="Calibri"/>
                        </a:rPr>
                        <a:t>0.00097</a:t>
                      </a:r>
                    </a:p>
                  </a:txBody>
                  <a:tcPr marL="54864" marR="54864" marT="27432" marB="27432">
                    <a:solidFill>
                      <a:srgbClr val="FFFFFF"/>
                    </a:solidFill>
                  </a:tcPr>
                </a:tc>
                <a:tc>
                  <a:txBody>
                    <a:bodyPr wrap="square"/>
                    <a:lstStyle/>
                    <a:p>
                      <a:pPr algn="ctr"/>
                      <a:r>
                        <a:rPr sz="1500" b="0">
                          <a:solidFill>
                            <a:srgbClr val="2B2B2B"/>
                          </a:solidFill>
                          <a:latin typeface="Calibri"/>
                        </a:rPr>
                        <a:t>1.39</a:t>
                      </a:r>
                    </a:p>
                  </a:txBody>
                  <a:tcPr marL="54864" marR="54864" marT="27432" marB="27432">
                    <a:solidFill>
                      <a:srgbClr val="FFFFFF"/>
                    </a:solidFill>
                  </a:tcPr>
                </a:tc>
              </a:tr>
              <a:tr h="502920">
                <a:tc>
                  <a:txBody>
                    <a:bodyPr wrap="square"/>
                    <a:lstStyle/>
                    <a:p>
                      <a:pPr algn="l"/>
                      <a:r>
                        <a:rPr sz="1500" b="0">
                          <a:solidFill>
                            <a:srgbClr val="2B2B2B"/>
                          </a:solidFill>
                          <a:latin typeface="Calibri"/>
                        </a:rPr>
                        <a:t>Large (0.90)</a:t>
                      </a:r>
                    </a:p>
                  </a:txBody>
                  <a:tcPr marL="54864" marR="54864" marT="27432" marB="27432">
                    <a:solidFill>
                      <a:srgbClr val="F6ECF0"/>
                    </a:solidFill>
                  </a:tcPr>
                </a:tc>
                <a:tc>
                  <a:txBody>
                    <a:bodyPr wrap="square"/>
                    <a:lstStyle/>
                    <a:p>
                      <a:pPr algn="ctr"/>
                      <a:r>
                        <a:rPr sz="1500" b="0">
                          <a:solidFill>
                            <a:srgbClr val="2B2B2B"/>
                          </a:solidFill>
                          <a:latin typeface="Calibri"/>
                        </a:rPr>
                        <a:t>0.00044</a:t>
                      </a:r>
                    </a:p>
                  </a:txBody>
                  <a:tcPr marL="54864" marR="54864" marT="27432" marB="27432">
                    <a:solidFill>
                      <a:srgbClr val="F6ECF0"/>
                    </a:solidFill>
                  </a:tcPr>
                </a:tc>
                <a:tc>
                  <a:txBody>
                    <a:bodyPr wrap="square"/>
                    <a:lstStyle/>
                    <a:p>
                      <a:pPr algn="ctr"/>
                      <a:r>
                        <a:rPr sz="1500" b="0">
                          <a:solidFill>
                            <a:srgbClr val="2B2B2B"/>
                          </a:solidFill>
                          <a:latin typeface="Calibri"/>
                        </a:rPr>
                        <a:t>0.63</a:t>
                      </a:r>
                    </a:p>
                  </a:txBody>
                  <a:tcPr marL="54864" marR="54864" marT="27432" marB="27432">
                    <a:solidFill>
                      <a:srgbClr val="F6ECF0"/>
                    </a:solidFill>
                  </a:tcPr>
                </a:tc>
              </a:tr>
            </a:tbl>
          </a:graphicData>
        </a:graphic>
      </p:graphicFrame>
      <p:sp>
        <p:nvSpPr>
          <p:cNvPr id="7" name="TextBox 6"/>
          <p:cNvSpPr txBox="1"/>
          <p:nvPr/>
        </p:nvSpPr>
        <p:spPr>
          <a:xfrm>
            <a:off x="7132320" y="3749039"/>
            <a:ext cx="4572000" cy="2194560"/>
          </a:xfrm>
          <a:prstGeom prst="rect">
            <a:avLst/>
          </a:prstGeom>
          <a:noFill/>
        </p:spPr>
        <p:txBody>
          <a:bodyPr wrap="square" lIns="45720" rIns="45720" tIns="27432" bIns="27432" anchor="t">
            <a:spAutoFit/>
          </a:bodyPr>
          <a:lstStyle/>
          <a:p>
            <a:pPr algn="l"/>
            <a:r>
              <a:rPr sz="1600" b="0" i="0">
                <a:solidFill>
                  <a:srgbClr val="2B2B2B"/>
                </a:solidFill>
                <a:latin typeface="Calibri"/>
              </a:rPr>
              <a:t>Scores are strongly bimodal (99.9% of Large Dataset scores below 0.01 or above 0.99), so moving the threshold from 0.50 to 0.90 changes few decisions.</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338560" cy="685800"/>
          </a:xfrm>
          <a:prstGeom prst="rect">
            <a:avLst/>
          </a:prstGeom>
          <a:noFill/>
        </p:spPr>
        <p:txBody>
          <a:bodyPr wrap="square" lIns="45720" rIns="45720" tIns="27432" bIns="27432" anchor="ctr">
            <a:spAutoFit/>
          </a:bodyPr>
          <a:lstStyle/>
          <a:p>
            <a:pPr algn="l"/>
            <a:r>
              <a:rPr sz="3000" b="1" i="0">
                <a:solidFill>
                  <a:srgbClr val="8B1A4A"/>
                </a:solidFill>
                <a:latin typeface="Calibri"/>
              </a:rPr>
              <a:t>Backup: 95% confidence intervals</a:t>
            </a:r>
          </a:p>
        </p:txBody>
      </p:sp>
      <p:sp>
        <p:nvSpPr>
          <p:cNvPr id="3" name="TextBox 2"/>
          <p:cNvSpPr txBox="1"/>
          <p:nvPr/>
        </p:nvSpPr>
        <p:spPr>
          <a:xfrm>
            <a:off x="1965960" y="6327648"/>
            <a:ext cx="8778240" cy="365760"/>
          </a:xfrm>
          <a:prstGeom prst="rect">
            <a:avLst/>
          </a:prstGeom>
          <a:noFill/>
        </p:spPr>
        <p:txBody>
          <a:bodyPr wrap="square" lIns="45720" rIns="45720" tIns="27432" bIns="27432" anchor="ctr">
            <a:spAutoFit/>
          </a:bodyPr>
          <a:lstStyle/>
          <a:p>
            <a:pPr algn="l"/>
            <a:r>
              <a:rPr sz="1050" b="0" i="0">
                <a:solidFill>
                  <a:srgbClr val="6B6B6B"/>
                </a:solidFill>
                <a:latin typeface="Calibri"/>
              </a:rPr>
              <a:t>Figure 9 and Table 8 of the thesis (legend corrected: earlier model trained on 497 windows); 95% Wilson score intervals</a:t>
            </a:r>
          </a:p>
        </p:txBody>
      </p:sp>
      <p:sp>
        <p:nvSpPr>
          <p:cNvPr id="4" name="TextBox 3"/>
          <p:cNvSpPr txBox="1"/>
          <p:nvPr/>
        </p:nvSpPr>
        <p:spPr>
          <a:xfrm>
            <a:off x="11109960" y="6355080"/>
            <a:ext cx="822960" cy="320040"/>
          </a:xfrm>
          <a:prstGeom prst="rect">
            <a:avLst/>
          </a:prstGeom>
          <a:noFill/>
        </p:spPr>
        <p:txBody>
          <a:bodyPr wrap="square" lIns="45720" rIns="45720" tIns="27432" bIns="27432" anchor="ctr">
            <a:spAutoFit/>
          </a:bodyPr>
          <a:lstStyle/>
          <a:p>
            <a:pPr algn="r"/>
            <a:r>
              <a:rPr sz="1200" b="0" i="0">
                <a:solidFill>
                  <a:srgbClr val="6B6B6B"/>
                </a:solidFill>
                <a:latin typeface="Calibri"/>
              </a:rPr>
              <a:t>27</a:t>
            </a:r>
          </a:p>
        </p:txBody>
      </p:sp>
      <p:pic>
        <p:nvPicPr>
          <p:cNvPr id="5" name="Picture 4" descr="b5_fig9_legend_corrected.png"/>
          <p:cNvPicPr>
            <a:picLocks noChangeAspect="1"/>
          </p:cNvPicPr>
          <p:nvPr/>
        </p:nvPicPr>
        <p:blipFill>
          <a:blip r:embed="rId2"/>
          <a:stretch>
            <a:fillRect/>
          </a:stretch>
        </p:blipFill>
        <p:spPr>
          <a:xfrm>
            <a:off x="1557666" y="1051560"/>
            <a:ext cx="9046186" cy="4114800"/>
          </a:xfrm>
          <a:prstGeom prst="rect">
            <a:avLst/>
          </a:prstGeom>
        </p:spPr>
      </p:pic>
      <p:sp>
        <p:nvSpPr>
          <p:cNvPr id="6" name="TextBox 5"/>
          <p:cNvSpPr txBox="1"/>
          <p:nvPr/>
        </p:nvSpPr>
        <p:spPr>
          <a:xfrm>
            <a:off x="1920240" y="5257800"/>
            <a:ext cx="9692640" cy="777240"/>
          </a:xfrm>
          <a:prstGeom prst="rect">
            <a:avLst/>
          </a:prstGeom>
          <a:noFill/>
        </p:spPr>
        <p:txBody>
          <a:bodyPr wrap="square" lIns="45720" rIns="45720" tIns="27432" bIns="27432" anchor="t">
            <a:spAutoFit/>
          </a:bodyPr>
          <a:lstStyle/>
          <a:p>
            <a:pPr algn="l"/>
            <a:r>
              <a:rPr sz="1600" b="0" i="0">
                <a:solidFill>
                  <a:srgbClr val="2B2B2B"/>
                </a:solidFill>
                <a:latin typeface="Calibri"/>
              </a:rPr>
              <a:t>Intervals treat overlapping sequences as independent (90% overlap), so they are anti-conservative: about 1,335 and 15 independent observations, not 13,351 and 145 (L4).</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338560" cy="685800"/>
          </a:xfrm>
          <a:prstGeom prst="rect">
            <a:avLst/>
          </a:prstGeom>
          <a:noFill/>
        </p:spPr>
        <p:txBody>
          <a:bodyPr wrap="square" lIns="45720" rIns="45720" tIns="27432" bIns="27432" anchor="ctr">
            <a:spAutoFit/>
          </a:bodyPr>
          <a:lstStyle/>
          <a:p>
            <a:pPr algn="l"/>
            <a:r>
              <a:rPr sz="3000" b="1" i="0">
                <a:solidFill>
                  <a:srgbClr val="8B1A4A"/>
                </a:solidFill>
                <a:latin typeface="Calibri"/>
              </a:rPr>
              <a:t>Backup: scores near the 0.30 boundary</a:t>
            </a:r>
          </a:p>
        </p:txBody>
      </p:sp>
      <p:sp>
        <p:nvSpPr>
          <p:cNvPr id="3" name="TextBox 2"/>
          <p:cNvSpPr txBox="1"/>
          <p:nvPr/>
        </p:nvSpPr>
        <p:spPr>
          <a:xfrm>
            <a:off x="521207" y="841248"/>
            <a:ext cx="11155680" cy="411480"/>
          </a:xfrm>
          <a:prstGeom prst="rect">
            <a:avLst/>
          </a:prstGeom>
          <a:noFill/>
        </p:spPr>
        <p:txBody>
          <a:bodyPr wrap="square" lIns="45720" rIns="45720" tIns="27432" bIns="27432" anchor="t">
            <a:spAutoFit/>
          </a:bodyPr>
          <a:lstStyle/>
          <a:p>
            <a:pPr algn="l"/>
            <a:r>
              <a:rPr sz="1700" b="0" i="0">
                <a:solidFill>
                  <a:srgbClr val="6B6B6B"/>
                </a:solidFill>
                <a:latin typeface="Calibri"/>
              </a:rPr>
              <a:t>Windows and alarms by failure-rate band of the final window (θ = 0.50)</a:t>
            </a:r>
          </a:p>
        </p:txBody>
      </p:sp>
      <p:sp>
        <p:nvSpPr>
          <p:cNvPr id="4" name="TextBox 3"/>
          <p:cNvSpPr txBox="1"/>
          <p:nvPr/>
        </p:nvSpPr>
        <p:spPr>
          <a:xfrm>
            <a:off x="1965960" y="6327648"/>
            <a:ext cx="8778240" cy="365760"/>
          </a:xfrm>
          <a:prstGeom prst="rect">
            <a:avLst/>
          </a:prstGeom>
          <a:noFill/>
        </p:spPr>
        <p:txBody>
          <a:bodyPr wrap="square" lIns="45720" rIns="45720" tIns="27432" bIns="27432" anchor="ctr">
            <a:spAutoFit/>
          </a:bodyPr>
          <a:lstStyle/>
          <a:p>
            <a:pPr algn="l"/>
            <a:r>
              <a:rPr sz="1050" b="0" i="0">
                <a:solidFill>
                  <a:srgbClr val="6B6B6B"/>
                </a:solidFill>
                <a:latin typeface="Calibri"/>
              </a:rPr>
              <a:t>Table 14 of the thesis (ch.4.9)</a:t>
            </a:r>
          </a:p>
        </p:txBody>
      </p:sp>
      <p:sp>
        <p:nvSpPr>
          <p:cNvPr id="5" name="TextBox 4"/>
          <p:cNvSpPr txBox="1"/>
          <p:nvPr/>
        </p:nvSpPr>
        <p:spPr>
          <a:xfrm>
            <a:off x="11109960" y="6355080"/>
            <a:ext cx="822960" cy="320040"/>
          </a:xfrm>
          <a:prstGeom prst="rect">
            <a:avLst/>
          </a:prstGeom>
          <a:noFill/>
        </p:spPr>
        <p:txBody>
          <a:bodyPr wrap="square" lIns="45720" rIns="45720" tIns="27432" bIns="27432" anchor="ctr">
            <a:spAutoFit/>
          </a:bodyPr>
          <a:lstStyle/>
          <a:p>
            <a:pPr algn="r"/>
            <a:r>
              <a:rPr sz="1200" b="0" i="0">
                <a:solidFill>
                  <a:srgbClr val="6B6B6B"/>
                </a:solidFill>
                <a:latin typeface="Calibri"/>
              </a:rPr>
              <a:t>28</a:t>
            </a:r>
          </a:p>
        </p:txBody>
      </p:sp>
      <p:graphicFrame>
        <p:nvGraphicFramePr>
          <p:cNvPr id="6" name="Table 5"/>
          <p:cNvGraphicFramePr>
            <a:graphicFrameLocks noGrp="1"/>
          </p:cNvGraphicFramePr>
          <p:nvPr/>
        </p:nvGraphicFramePr>
        <p:xfrm>
          <a:off x="548640" y="1463040"/>
          <a:ext cx="11064238" cy="3520440"/>
        </p:xfrm>
        <a:graphic>
          <a:graphicData uri="http://schemas.openxmlformats.org/drawingml/2006/table">
            <a:tbl>
              <a:tblPr firstRow="1" bandRow="1">
                <a:tableStyleId>{5C22544A-7EE6-4342-B048-85BDC9FD1C3A}</a:tableStyleId>
              </a:tblPr>
              <a:tblGrid>
                <a:gridCol w="1645920"/>
                <a:gridCol w="1828800"/>
                <a:gridCol w="1920240"/>
                <a:gridCol w="1920240"/>
                <a:gridCol w="1874519"/>
                <a:gridCol w="1874519"/>
              </a:tblGrid>
              <a:tr h="502920">
                <a:tc>
                  <a:txBody>
                    <a:bodyPr wrap="square"/>
                    <a:lstStyle/>
                    <a:p>
                      <a:pPr algn="l"/>
                      <a:r>
                        <a:rPr sz="1400" b="1">
                          <a:solidFill>
                            <a:srgbClr val="FFFFFF"/>
                          </a:solidFill>
                          <a:latin typeface="Calibri"/>
                        </a:rPr>
                        <a:t>Failure-rate band</a:t>
                      </a:r>
                    </a:p>
                  </a:txBody>
                  <a:tcPr marL="54864" marR="54864" marT="27432" marB="27432">
                    <a:solidFill>
                      <a:srgbClr val="8B1A4A"/>
                    </a:solidFill>
                  </a:tcPr>
                </a:tc>
                <a:tc>
                  <a:txBody>
                    <a:bodyPr wrap="square"/>
                    <a:lstStyle/>
                    <a:p>
                      <a:pPr algn="ctr"/>
                      <a:r>
                        <a:rPr sz="1400" b="1">
                          <a:solidFill>
                            <a:srgbClr val="FFFFFF"/>
                          </a:solidFill>
                          <a:latin typeface="Calibri"/>
                        </a:rPr>
                        <a:t>Training: benign / attack</a:t>
                      </a:r>
                    </a:p>
                  </a:txBody>
                  <a:tcPr marL="54864" marR="54864" marT="27432" marB="27432">
                    <a:solidFill>
                      <a:srgbClr val="8B1A4A"/>
                    </a:solidFill>
                  </a:tcPr>
                </a:tc>
                <a:tc>
                  <a:txBody>
                    <a:bodyPr wrap="square"/>
                    <a:lstStyle/>
                    <a:p>
                      <a:pPr algn="ctr"/>
                      <a:r>
                        <a:rPr sz="1400" b="1">
                          <a:solidFill>
                            <a:srgbClr val="FFFFFF"/>
                          </a:solidFill>
                          <a:latin typeface="Calibri"/>
                        </a:rPr>
                        <a:t>Large benign: flagged / total</a:t>
                      </a:r>
                    </a:p>
                  </a:txBody>
                  <a:tcPr marL="54864" marR="54864" marT="27432" marB="27432">
                    <a:solidFill>
                      <a:srgbClr val="8B1A4A"/>
                    </a:solidFill>
                  </a:tcPr>
                </a:tc>
                <a:tc>
                  <a:txBody>
                    <a:bodyPr wrap="square"/>
                    <a:lstStyle/>
                    <a:p>
                      <a:pPr algn="ctr"/>
                      <a:r>
                        <a:rPr sz="1400" b="1">
                          <a:solidFill>
                            <a:srgbClr val="FFFFFF"/>
                          </a:solidFill>
                          <a:latin typeface="Calibri"/>
                        </a:rPr>
                        <a:t>Large attack: detected / total</a:t>
                      </a:r>
                    </a:p>
                  </a:txBody>
                  <a:tcPr marL="54864" marR="54864" marT="27432" marB="27432">
                    <a:solidFill>
                      <a:srgbClr val="8B1A4A"/>
                    </a:solidFill>
                  </a:tcPr>
                </a:tc>
                <a:tc>
                  <a:txBody>
                    <a:bodyPr wrap="square"/>
                    <a:lstStyle/>
                    <a:p>
                      <a:pPr algn="ctr"/>
                      <a:r>
                        <a:rPr sz="1400" b="1">
                          <a:solidFill>
                            <a:srgbClr val="FFFFFF"/>
                          </a:solidFill>
                          <a:latin typeface="Calibri"/>
                        </a:rPr>
                        <a:t>Chaotic benign: flagged / total</a:t>
                      </a:r>
                    </a:p>
                  </a:txBody>
                  <a:tcPr marL="54864" marR="54864" marT="27432" marB="27432">
                    <a:solidFill>
                      <a:srgbClr val="8B1A4A"/>
                    </a:solidFill>
                  </a:tcPr>
                </a:tc>
                <a:tc>
                  <a:txBody>
                    <a:bodyPr wrap="square"/>
                    <a:lstStyle/>
                    <a:p>
                      <a:pPr algn="ctr"/>
                      <a:r>
                        <a:rPr sz="1400" b="1">
                          <a:solidFill>
                            <a:srgbClr val="FFFFFF"/>
                          </a:solidFill>
                          <a:latin typeface="Calibri"/>
                        </a:rPr>
                        <a:t>Chaotic attack: detected / total</a:t>
                      </a:r>
                    </a:p>
                  </a:txBody>
                  <a:tcPr marL="54864" marR="54864" marT="27432" marB="27432">
                    <a:solidFill>
                      <a:srgbClr val="8B1A4A"/>
                    </a:solidFill>
                  </a:tcPr>
                </a:tc>
              </a:tr>
              <a:tr h="502920">
                <a:tc>
                  <a:txBody>
                    <a:bodyPr wrap="square"/>
                    <a:lstStyle/>
                    <a:p>
                      <a:pPr algn="l"/>
                      <a:r>
                        <a:rPr sz="1400" b="0">
                          <a:solidFill>
                            <a:srgbClr val="2B2B2B"/>
                          </a:solidFill>
                          <a:latin typeface="Calibri"/>
                        </a:rPr>
                        <a:t>≤ 0.20</a:t>
                      </a:r>
                    </a:p>
                  </a:txBody>
                  <a:tcPr marL="54864" marR="54864" marT="27432" marB="27432">
                    <a:solidFill>
                      <a:srgbClr val="F6ECF0"/>
                    </a:solidFill>
                  </a:tcPr>
                </a:tc>
                <a:tc>
                  <a:txBody>
                    <a:bodyPr wrap="square"/>
                    <a:lstStyle/>
                    <a:p>
                      <a:pPr algn="ctr"/>
                      <a:r>
                        <a:rPr sz="1400" b="0">
                          <a:solidFill>
                            <a:srgbClr val="2B2B2B"/>
                          </a:solidFill>
                          <a:latin typeface="Calibri"/>
                        </a:rPr>
                        <a:t>525 / 0</a:t>
                      </a:r>
                    </a:p>
                  </a:txBody>
                  <a:tcPr marL="54864" marR="54864" marT="27432" marB="27432">
                    <a:solidFill>
                      <a:srgbClr val="F6ECF0"/>
                    </a:solidFill>
                  </a:tcPr>
                </a:tc>
                <a:tc>
                  <a:txBody>
                    <a:bodyPr wrap="square"/>
                    <a:lstStyle/>
                    <a:p>
                      <a:pPr algn="ctr"/>
                      <a:r>
                        <a:rPr sz="1400" b="0">
                          <a:solidFill>
                            <a:srgbClr val="2B2B2B"/>
                          </a:solidFill>
                          <a:latin typeface="Calibri"/>
                        </a:rPr>
                        <a:t>1 / 11,347</a:t>
                      </a:r>
                    </a:p>
                  </a:txBody>
                  <a:tcPr marL="54864" marR="54864" marT="27432" marB="27432">
                    <a:solidFill>
                      <a:srgbClr val="F6ECF0"/>
                    </a:solidFill>
                  </a:tcPr>
                </a:tc>
                <a:tc>
                  <a:txBody>
                    <a:bodyPr wrap="square"/>
                    <a:lstStyle/>
                    <a:p>
                      <a:pPr algn="ctr"/>
                      <a:r>
                        <a:rPr sz="1400" b="0">
                          <a:solidFill>
                            <a:srgbClr val="2B2B2B"/>
                          </a:solidFill>
                          <a:latin typeface="Calibri"/>
                        </a:rPr>
                        <a:t>—</a:t>
                      </a:r>
                    </a:p>
                  </a:txBody>
                  <a:tcPr marL="54864" marR="54864" marT="27432" marB="27432">
                    <a:solidFill>
                      <a:srgbClr val="F6ECF0"/>
                    </a:solidFill>
                  </a:tcPr>
                </a:tc>
                <a:tc>
                  <a:txBody>
                    <a:bodyPr wrap="square"/>
                    <a:lstStyle/>
                    <a:p>
                      <a:pPr algn="ctr"/>
                      <a:r>
                        <a:rPr sz="1400" b="0">
                          <a:solidFill>
                            <a:srgbClr val="2B2B2B"/>
                          </a:solidFill>
                          <a:latin typeface="Calibri"/>
                        </a:rPr>
                        <a:t>0 / 85</a:t>
                      </a:r>
                    </a:p>
                  </a:txBody>
                  <a:tcPr marL="54864" marR="54864" marT="27432" marB="27432">
                    <a:solidFill>
                      <a:srgbClr val="F6ECF0"/>
                    </a:solidFill>
                  </a:tcPr>
                </a:tc>
                <a:tc>
                  <a:txBody>
                    <a:bodyPr wrap="square"/>
                    <a:lstStyle/>
                    <a:p>
                      <a:pPr algn="ctr"/>
                      <a:r>
                        <a:rPr sz="1400" b="0">
                          <a:solidFill>
                            <a:srgbClr val="2B2B2B"/>
                          </a:solidFill>
                          <a:latin typeface="Calibri"/>
                        </a:rPr>
                        <a:t>—</a:t>
                      </a:r>
                    </a:p>
                  </a:txBody>
                  <a:tcPr marL="54864" marR="54864" marT="27432" marB="27432">
                    <a:solidFill>
                      <a:srgbClr val="F6ECF0"/>
                    </a:solidFill>
                  </a:tcPr>
                </a:tc>
              </a:tr>
              <a:tr h="502920">
                <a:tc>
                  <a:txBody>
                    <a:bodyPr wrap="square"/>
                    <a:lstStyle/>
                    <a:p>
                      <a:pPr algn="l"/>
                      <a:r>
                        <a:rPr sz="1400" b="0">
                          <a:solidFill>
                            <a:srgbClr val="2B2B2B"/>
                          </a:solidFill>
                          <a:latin typeface="Calibri"/>
                        </a:rPr>
                        <a:t>0.20–0.25</a:t>
                      </a:r>
                    </a:p>
                  </a:txBody>
                  <a:tcPr marL="54864" marR="54864" marT="27432" marB="27432">
                    <a:solidFill>
                      <a:srgbClr val="FFFFFF"/>
                    </a:solidFill>
                  </a:tcPr>
                </a:tc>
                <a:tc>
                  <a:txBody>
                    <a:bodyPr wrap="square"/>
                    <a:lstStyle/>
                    <a:p>
                      <a:pPr algn="ctr"/>
                      <a:r>
                        <a:rPr sz="1400" b="0">
                          <a:solidFill>
                            <a:srgbClr val="2B2B2B"/>
                          </a:solidFill>
                          <a:latin typeface="Calibri"/>
                        </a:rPr>
                        <a:t>23 / 0</a:t>
                      </a:r>
                    </a:p>
                  </a:txBody>
                  <a:tcPr marL="54864" marR="54864" marT="27432" marB="27432">
                    <a:solidFill>
                      <a:srgbClr val="FFFFFF"/>
                    </a:solidFill>
                  </a:tcPr>
                </a:tc>
                <a:tc>
                  <a:txBody>
                    <a:bodyPr wrap="square"/>
                    <a:lstStyle/>
                    <a:p>
                      <a:pPr algn="ctr"/>
                      <a:r>
                        <a:rPr sz="1400" b="0">
                          <a:solidFill>
                            <a:srgbClr val="2B2B2B"/>
                          </a:solidFill>
                          <a:latin typeface="Calibri"/>
                        </a:rPr>
                        <a:t>2 / 4</a:t>
                      </a:r>
                    </a:p>
                  </a:txBody>
                  <a:tcPr marL="54864" marR="54864" marT="27432" marB="27432">
                    <a:solidFill>
                      <a:srgbClr val="FFFFFF"/>
                    </a:solidFill>
                  </a:tcPr>
                </a:tc>
                <a:tc>
                  <a:txBody>
                    <a:bodyPr wrap="square"/>
                    <a:lstStyle/>
                    <a:p>
                      <a:pPr algn="ctr"/>
                      <a:r>
                        <a:rPr sz="1400" b="0">
                          <a:solidFill>
                            <a:srgbClr val="2B2B2B"/>
                          </a:solidFill>
                          <a:latin typeface="Calibri"/>
                        </a:rPr>
                        <a:t>—</a:t>
                      </a:r>
                    </a:p>
                  </a:txBody>
                  <a:tcPr marL="54864" marR="54864" marT="27432" marB="27432">
                    <a:solidFill>
                      <a:srgbClr val="FFFFFF"/>
                    </a:solidFill>
                  </a:tcPr>
                </a:tc>
                <a:tc>
                  <a:txBody>
                    <a:bodyPr wrap="square"/>
                    <a:lstStyle/>
                    <a:p>
                      <a:pPr algn="ctr"/>
                      <a:r>
                        <a:rPr sz="1400" b="0">
                          <a:solidFill>
                            <a:srgbClr val="2B2B2B"/>
                          </a:solidFill>
                          <a:latin typeface="Calibri"/>
                        </a:rPr>
                        <a:t>0 / 11</a:t>
                      </a:r>
                    </a:p>
                  </a:txBody>
                  <a:tcPr marL="54864" marR="54864" marT="27432" marB="27432">
                    <a:solidFill>
                      <a:srgbClr val="FFFFFF"/>
                    </a:solidFill>
                  </a:tcPr>
                </a:tc>
                <a:tc>
                  <a:txBody>
                    <a:bodyPr wrap="square"/>
                    <a:lstStyle/>
                    <a:p>
                      <a:pPr algn="ctr"/>
                      <a:r>
                        <a:rPr sz="1400" b="0">
                          <a:solidFill>
                            <a:srgbClr val="2B2B2B"/>
                          </a:solidFill>
                          <a:latin typeface="Calibri"/>
                        </a:rPr>
                        <a:t>—</a:t>
                      </a:r>
                    </a:p>
                  </a:txBody>
                  <a:tcPr marL="54864" marR="54864" marT="27432" marB="27432">
                    <a:solidFill>
                      <a:srgbClr val="FFFFFF"/>
                    </a:solidFill>
                  </a:tcPr>
                </a:tc>
              </a:tr>
              <a:tr h="502920">
                <a:tc>
                  <a:txBody>
                    <a:bodyPr wrap="square"/>
                    <a:lstStyle/>
                    <a:p>
                      <a:pPr algn="l"/>
                      <a:r>
                        <a:rPr sz="1400" b="0">
                          <a:solidFill>
                            <a:srgbClr val="2B2B2B"/>
                          </a:solidFill>
                          <a:latin typeface="Calibri"/>
                        </a:rPr>
                        <a:t>0.25–0.30</a:t>
                      </a:r>
                    </a:p>
                  </a:txBody>
                  <a:tcPr marL="54864" marR="54864" marT="27432" marB="27432">
                    <a:solidFill>
                      <a:srgbClr val="F6ECF0"/>
                    </a:solidFill>
                  </a:tcPr>
                </a:tc>
                <a:tc>
                  <a:txBody>
                    <a:bodyPr wrap="square"/>
                    <a:lstStyle/>
                    <a:p>
                      <a:pPr algn="ctr"/>
                      <a:r>
                        <a:rPr sz="1400" b="0">
                          <a:solidFill>
                            <a:srgbClr val="2B2B2B"/>
                          </a:solidFill>
                          <a:latin typeface="Calibri"/>
                        </a:rPr>
                        <a:t>87 / 0</a:t>
                      </a:r>
                    </a:p>
                  </a:txBody>
                  <a:tcPr marL="54864" marR="54864" marT="27432" marB="27432">
                    <a:solidFill>
                      <a:srgbClr val="F6ECF0"/>
                    </a:solidFill>
                  </a:tcPr>
                </a:tc>
                <a:tc>
                  <a:txBody>
                    <a:bodyPr wrap="square"/>
                    <a:lstStyle/>
                    <a:p>
                      <a:pPr algn="ctr"/>
                      <a:r>
                        <a:rPr sz="1400" b="0">
                          <a:solidFill>
                            <a:srgbClr val="2B2B2B"/>
                          </a:solidFill>
                          <a:latin typeface="Calibri"/>
                        </a:rPr>
                        <a:t>8 / 8</a:t>
                      </a:r>
                    </a:p>
                  </a:txBody>
                  <a:tcPr marL="54864" marR="54864" marT="27432" marB="27432">
                    <a:solidFill>
                      <a:srgbClr val="F6ECF0"/>
                    </a:solidFill>
                  </a:tcPr>
                </a:tc>
                <a:tc>
                  <a:txBody>
                    <a:bodyPr wrap="square"/>
                    <a:lstStyle/>
                    <a:p>
                      <a:pPr algn="ctr"/>
                      <a:r>
                        <a:rPr sz="1400" b="0">
                          <a:solidFill>
                            <a:srgbClr val="2B2B2B"/>
                          </a:solidFill>
                          <a:latin typeface="Calibri"/>
                        </a:rPr>
                        <a:t>—</a:t>
                      </a:r>
                    </a:p>
                  </a:txBody>
                  <a:tcPr marL="54864" marR="54864" marT="27432" marB="27432">
                    <a:solidFill>
                      <a:srgbClr val="F6ECF0"/>
                    </a:solidFill>
                  </a:tcPr>
                </a:tc>
                <a:tc>
                  <a:txBody>
                    <a:bodyPr wrap="square"/>
                    <a:lstStyle/>
                    <a:p>
                      <a:pPr algn="ctr"/>
                      <a:r>
                        <a:rPr sz="1400" b="0">
                          <a:solidFill>
                            <a:srgbClr val="2B2B2B"/>
                          </a:solidFill>
                          <a:latin typeface="Calibri"/>
                        </a:rPr>
                        <a:t>4 / 5</a:t>
                      </a:r>
                    </a:p>
                  </a:txBody>
                  <a:tcPr marL="54864" marR="54864" marT="27432" marB="27432">
                    <a:solidFill>
                      <a:srgbClr val="F6ECF0"/>
                    </a:solidFill>
                  </a:tcPr>
                </a:tc>
                <a:tc>
                  <a:txBody>
                    <a:bodyPr wrap="square"/>
                    <a:lstStyle/>
                    <a:p>
                      <a:pPr algn="ctr"/>
                      <a:r>
                        <a:rPr sz="1400" b="0">
                          <a:solidFill>
                            <a:srgbClr val="2B2B2B"/>
                          </a:solidFill>
                          <a:latin typeface="Calibri"/>
                        </a:rPr>
                        <a:t>—</a:t>
                      </a:r>
                    </a:p>
                  </a:txBody>
                  <a:tcPr marL="54864" marR="54864" marT="27432" marB="27432">
                    <a:solidFill>
                      <a:srgbClr val="F6ECF0"/>
                    </a:solidFill>
                  </a:tcPr>
                </a:tc>
              </a:tr>
              <a:tr h="502920">
                <a:tc>
                  <a:txBody>
                    <a:bodyPr wrap="square"/>
                    <a:lstStyle/>
                    <a:p>
                      <a:pPr algn="l"/>
                      <a:r>
                        <a:rPr sz="1400" b="0">
                          <a:solidFill>
                            <a:srgbClr val="2B2B2B"/>
                          </a:solidFill>
                          <a:latin typeface="Calibri"/>
                        </a:rPr>
                        <a:t>0.30–0.35</a:t>
                      </a:r>
                    </a:p>
                  </a:txBody>
                  <a:tcPr marL="54864" marR="54864" marT="27432" marB="27432">
                    <a:solidFill>
                      <a:srgbClr val="FFFFFF"/>
                    </a:solidFill>
                  </a:tcPr>
                </a:tc>
                <a:tc>
                  <a:txBody>
                    <a:bodyPr wrap="square"/>
                    <a:lstStyle/>
                    <a:p>
                      <a:pPr algn="ctr"/>
                      <a:r>
                        <a:rPr sz="1400" b="0">
                          <a:solidFill>
                            <a:srgbClr val="2B2B2B"/>
                          </a:solidFill>
                          <a:latin typeface="Calibri"/>
                        </a:rPr>
                        <a:t>0 / 98</a:t>
                      </a:r>
                    </a:p>
                  </a:txBody>
                  <a:tcPr marL="54864" marR="54864" marT="27432" marB="27432">
                    <a:solidFill>
                      <a:srgbClr val="FFFFFF"/>
                    </a:solidFill>
                  </a:tcPr>
                </a:tc>
                <a:tc>
                  <a:txBody>
                    <a:bodyPr wrap="square"/>
                    <a:lstStyle/>
                    <a:p>
                      <a:pPr algn="ctr"/>
                      <a:r>
                        <a:rPr sz="1400" b="0">
                          <a:solidFill>
                            <a:srgbClr val="2B2B2B"/>
                          </a:solidFill>
                          <a:latin typeface="Calibri"/>
                        </a:rPr>
                        <a:t>—</a:t>
                      </a:r>
                    </a:p>
                  </a:txBody>
                  <a:tcPr marL="54864" marR="54864" marT="27432" marB="27432">
                    <a:solidFill>
                      <a:srgbClr val="FFFFFF"/>
                    </a:solidFill>
                  </a:tcPr>
                </a:tc>
                <a:tc>
                  <a:txBody>
                    <a:bodyPr wrap="square"/>
                    <a:lstStyle/>
                    <a:p>
                      <a:pPr algn="ctr"/>
                      <a:r>
                        <a:rPr sz="1400" b="0">
                          <a:solidFill>
                            <a:srgbClr val="2B2B2B"/>
                          </a:solidFill>
                          <a:latin typeface="Calibri"/>
                        </a:rPr>
                        <a:t>698 / 698</a:t>
                      </a:r>
                    </a:p>
                  </a:txBody>
                  <a:tcPr marL="54864" marR="54864" marT="27432" marB="27432">
                    <a:solidFill>
                      <a:srgbClr val="FFFFFF"/>
                    </a:solidFill>
                  </a:tcPr>
                </a:tc>
                <a:tc>
                  <a:txBody>
                    <a:bodyPr wrap="square"/>
                    <a:lstStyle/>
                    <a:p>
                      <a:pPr algn="ctr"/>
                      <a:r>
                        <a:rPr sz="1400" b="0">
                          <a:solidFill>
                            <a:srgbClr val="2B2B2B"/>
                          </a:solidFill>
                          <a:latin typeface="Calibri"/>
                        </a:rPr>
                        <a:t>—</a:t>
                      </a:r>
                    </a:p>
                  </a:txBody>
                  <a:tcPr marL="54864" marR="54864" marT="27432" marB="27432">
                    <a:solidFill>
                      <a:srgbClr val="FFFFFF"/>
                    </a:solidFill>
                  </a:tcPr>
                </a:tc>
                <a:tc>
                  <a:txBody>
                    <a:bodyPr wrap="square"/>
                    <a:lstStyle/>
                    <a:p>
                      <a:pPr algn="ctr"/>
                      <a:r>
                        <a:rPr sz="1400" b="0">
                          <a:solidFill>
                            <a:srgbClr val="2B2B2B"/>
                          </a:solidFill>
                          <a:latin typeface="Calibri"/>
                        </a:rPr>
                        <a:t>4 / 11</a:t>
                      </a:r>
                    </a:p>
                  </a:txBody>
                  <a:tcPr marL="54864" marR="54864" marT="27432" marB="27432">
                    <a:solidFill>
                      <a:srgbClr val="FFFFFF"/>
                    </a:solidFill>
                  </a:tcPr>
                </a:tc>
              </a:tr>
              <a:tr h="502920">
                <a:tc>
                  <a:txBody>
                    <a:bodyPr wrap="square"/>
                    <a:lstStyle/>
                    <a:p>
                      <a:pPr algn="l"/>
                      <a:r>
                        <a:rPr sz="1400" b="0">
                          <a:solidFill>
                            <a:srgbClr val="2B2B2B"/>
                          </a:solidFill>
                          <a:latin typeface="Calibri"/>
                        </a:rPr>
                        <a:t>0.35–0.40</a:t>
                      </a:r>
                    </a:p>
                  </a:txBody>
                  <a:tcPr marL="54864" marR="54864" marT="27432" marB="27432">
                    <a:solidFill>
                      <a:srgbClr val="F6ECF0"/>
                    </a:solidFill>
                  </a:tcPr>
                </a:tc>
                <a:tc>
                  <a:txBody>
                    <a:bodyPr wrap="square"/>
                    <a:lstStyle/>
                    <a:p>
                      <a:pPr algn="ctr"/>
                      <a:r>
                        <a:rPr sz="1400" b="0">
                          <a:solidFill>
                            <a:srgbClr val="2B2B2B"/>
                          </a:solidFill>
                          <a:latin typeface="Calibri"/>
                        </a:rPr>
                        <a:t>0 / 584</a:t>
                      </a:r>
                    </a:p>
                  </a:txBody>
                  <a:tcPr marL="54864" marR="54864" marT="27432" marB="27432">
                    <a:solidFill>
                      <a:srgbClr val="F6ECF0"/>
                    </a:solidFill>
                  </a:tcPr>
                </a:tc>
                <a:tc>
                  <a:txBody>
                    <a:bodyPr wrap="square"/>
                    <a:lstStyle/>
                    <a:p>
                      <a:pPr algn="ctr"/>
                      <a:r>
                        <a:rPr sz="1400" b="0">
                          <a:solidFill>
                            <a:srgbClr val="2B2B2B"/>
                          </a:solidFill>
                          <a:latin typeface="Calibri"/>
                        </a:rPr>
                        <a:t>—</a:t>
                      </a:r>
                    </a:p>
                  </a:txBody>
                  <a:tcPr marL="54864" marR="54864" marT="27432" marB="27432">
                    <a:solidFill>
                      <a:srgbClr val="F6ECF0"/>
                    </a:solidFill>
                  </a:tcPr>
                </a:tc>
                <a:tc>
                  <a:txBody>
                    <a:bodyPr wrap="square"/>
                    <a:lstStyle/>
                    <a:p>
                      <a:pPr algn="ctr"/>
                      <a:r>
                        <a:rPr sz="1400" b="0">
                          <a:solidFill>
                            <a:srgbClr val="2B2B2B"/>
                          </a:solidFill>
                          <a:latin typeface="Calibri"/>
                        </a:rPr>
                        <a:t>899 / 899</a:t>
                      </a:r>
                    </a:p>
                  </a:txBody>
                  <a:tcPr marL="54864" marR="54864" marT="27432" marB="27432">
                    <a:solidFill>
                      <a:srgbClr val="F6ECF0"/>
                    </a:solidFill>
                  </a:tcPr>
                </a:tc>
                <a:tc>
                  <a:txBody>
                    <a:bodyPr wrap="square"/>
                    <a:lstStyle/>
                    <a:p>
                      <a:pPr algn="ctr"/>
                      <a:r>
                        <a:rPr sz="1400" b="0">
                          <a:solidFill>
                            <a:srgbClr val="2B2B2B"/>
                          </a:solidFill>
                          <a:latin typeface="Calibri"/>
                        </a:rPr>
                        <a:t>—</a:t>
                      </a:r>
                    </a:p>
                  </a:txBody>
                  <a:tcPr marL="54864" marR="54864" marT="27432" marB="27432">
                    <a:solidFill>
                      <a:srgbClr val="F6ECF0"/>
                    </a:solidFill>
                  </a:tcPr>
                </a:tc>
                <a:tc>
                  <a:txBody>
                    <a:bodyPr wrap="square"/>
                    <a:lstStyle/>
                    <a:p>
                      <a:pPr algn="ctr"/>
                      <a:r>
                        <a:rPr sz="1400" b="0">
                          <a:solidFill>
                            <a:srgbClr val="2B2B2B"/>
                          </a:solidFill>
                          <a:latin typeface="Calibri"/>
                        </a:rPr>
                        <a:t>4 / 7</a:t>
                      </a:r>
                    </a:p>
                  </a:txBody>
                  <a:tcPr marL="54864" marR="54864" marT="27432" marB="27432">
                    <a:solidFill>
                      <a:srgbClr val="F6ECF0"/>
                    </a:solidFill>
                  </a:tcPr>
                </a:tc>
              </a:tr>
              <a:tr h="502920">
                <a:tc>
                  <a:txBody>
                    <a:bodyPr wrap="square"/>
                    <a:lstStyle/>
                    <a:p>
                      <a:pPr algn="l"/>
                      <a:r>
                        <a:rPr sz="1400" b="0">
                          <a:solidFill>
                            <a:srgbClr val="2B2B2B"/>
                          </a:solidFill>
                          <a:latin typeface="Calibri"/>
                        </a:rPr>
                        <a:t>&gt; 0.40</a:t>
                      </a:r>
                    </a:p>
                  </a:txBody>
                  <a:tcPr marL="54864" marR="54864" marT="27432" marB="27432">
                    <a:solidFill>
                      <a:srgbClr val="FFFFFF"/>
                    </a:solidFill>
                  </a:tcPr>
                </a:tc>
                <a:tc>
                  <a:txBody>
                    <a:bodyPr wrap="square"/>
                    <a:lstStyle/>
                    <a:p>
                      <a:pPr algn="ctr"/>
                      <a:r>
                        <a:rPr sz="1400" b="0">
                          <a:solidFill>
                            <a:srgbClr val="2B2B2B"/>
                          </a:solidFill>
                          <a:latin typeface="Calibri"/>
                        </a:rPr>
                        <a:t>0 / 913</a:t>
                      </a:r>
                    </a:p>
                  </a:txBody>
                  <a:tcPr marL="54864" marR="54864" marT="27432" marB="27432">
                    <a:solidFill>
                      <a:srgbClr val="FFFFFF"/>
                    </a:solidFill>
                  </a:tcPr>
                </a:tc>
                <a:tc>
                  <a:txBody>
                    <a:bodyPr wrap="square"/>
                    <a:lstStyle/>
                    <a:p>
                      <a:pPr algn="ctr"/>
                      <a:r>
                        <a:rPr sz="1400" b="0">
                          <a:solidFill>
                            <a:srgbClr val="2B2B2B"/>
                          </a:solidFill>
                          <a:latin typeface="Calibri"/>
                        </a:rPr>
                        <a:t>—</a:t>
                      </a:r>
                    </a:p>
                  </a:txBody>
                  <a:tcPr marL="54864" marR="54864" marT="27432" marB="27432">
                    <a:solidFill>
                      <a:srgbClr val="FFFFFF"/>
                    </a:solidFill>
                  </a:tcPr>
                </a:tc>
                <a:tc>
                  <a:txBody>
                    <a:bodyPr wrap="square"/>
                    <a:lstStyle/>
                    <a:p>
                      <a:pPr algn="ctr"/>
                      <a:r>
                        <a:rPr sz="1400" b="0">
                          <a:solidFill>
                            <a:srgbClr val="2B2B2B"/>
                          </a:solidFill>
                          <a:latin typeface="Calibri"/>
                        </a:rPr>
                        <a:t>395 / 395</a:t>
                      </a:r>
                    </a:p>
                  </a:txBody>
                  <a:tcPr marL="54864" marR="54864" marT="27432" marB="27432">
                    <a:solidFill>
                      <a:srgbClr val="FFFFFF"/>
                    </a:solidFill>
                  </a:tcPr>
                </a:tc>
                <a:tc>
                  <a:txBody>
                    <a:bodyPr wrap="square"/>
                    <a:lstStyle/>
                    <a:p>
                      <a:pPr algn="ctr"/>
                      <a:r>
                        <a:rPr sz="1400" b="0">
                          <a:solidFill>
                            <a:srgbClr val="2B2B2B"/>
                          </a:solidFill>
                          <a:latin typeface="Calibri"/>
                        </a:rPr>
                        <a:t>—</a:t>
                      </a:r>
                    </a:p>
                  </a:txBody>
                  <a:tcPr marL="54864" marR="54864" marT="27432" marB="27432">
                    <a:solidFill>
                      <a:srgbClr val="FFFFFF"/>
                    </a:solidFill>
                  </a:tcPr>
                </a:tc>
                <a:tc>
                  <a:txBody>
                    <a:bodyPr wrap="square"/>
                    <a:lstStyle/>
                    <a:p>
                      <a:pPr algn="ctr"/>
                      <a:r>
                        <a:rPr sz="1400" b="0">
                          <a:solidFill>
                            <a:srgbClr val="2B2B2B"/>
                          </a:solidFill>
                          <a:latin typeface="Calibri"/>
                        </a:rPr>
                        <a:t>26 / 26</a:t>
                      </a:r>
                    </a:p>
                  </a:txBody>
                  <a:tcPr marL="54864" marR="54864" marT="27432" marB="27432">
                    <a:solidFill>
                      <a:srgbClr val="FFFFFF"/>
                    </a:solidFill>
                  </a:tcPr>
                </a:tc>
              </a:tr>
            </a:tbl>
          </a:graphicData>
        </a:graphic>
      </p:graphicFrame>
      <p:sp>
        <p:nvSpPr>
          <p:cNvPr id="7" name="TextBox 6"/>
          <p:cNvSpPr txBox="1"/>
          <p:nvPr/>
        </p:nvSpPr>
        <p:spPr>
          <a:xfrm>
            <a:off x="548640" y="5166360"/>
            <a:ext cx="11064240" cy="822960"/>
          </a:xfrm>
          <a:prstGeom prst="rect">
            <a:avLst/>
          </a:prstGeom>
          <a:noFill/>
        </p:spPr>
        <p:txBody>
          <a:bodyPr wrap="square" lIns="45720" rIns="45720" tIns="27432" bIns="27432" anchor="t">
            <a:spAutoFit/>
          </a:bodyPr>
          <a:lstStyle/>
          <a:p>
            <a:pPr algn="l"/>
            <a:r>
              <a:rPr sz="1600" b="0" i="0">
                <a:solidFill>
                  <a:srgbClr val="2B2B2B"/>
                </a:solidFill>
                <a:latin typeface="Calibri"/>
              </a:rPr>
              <a:t>The learned boundary tracks 0.30 to within a few hundredths of failure rate; it errs on the high side in the Large Dataset and the low side in the last Chaotic attack.</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338560" cy="685800"/>
          </a:xfrm>
          <a:prstGeom prst="rect">
            <a:avLst/>
          </a:prstGeom>
          <a:noFill/>
        </p:spPr>
        <p:txBody>
          <a:bodyPr wrap="square" lIns="45720" rIns="45720" tIns="27432" bIns="27432" anchor="ctr">
            <a:spAutoFit/>
          </a:bodyPr>
          <a:lstStyle/>
          <a:p>
            <a:pPr algn="l"/>
            <a:r>
              <a:rPr sz="3000" b="1" i="0">
                <a:solidFill>
                  <a:srgbClr val="8B1A4A"/>
                </a:solidFill>
                <a:latin typeface="Calibri"/>
              </a:rPr>
              <a:t>Backup: latency distribution</a:t>
            </a:r>
          </a:p>
        </p:txBody>
      </p:sp>
      <p:sp>
        <p:nvSpPr>
          <p:cNvPr id="3" name="TextBox 2"/>
          <p:cNvSpPr txBox="1"/>
          <p:nvPr/>
        </p:nvSpPr>
        <p:spPr>
          <a:xfrm>
            <a:off x="1965960" y="6327648"/>
            <a:ext cx="8778240" cy="365760"/>
          </a:xfrm>
          <a:prstGeom prst="rect">
            <a:avLst/>
          </a:prstGeom>
          <a:noFill/>
        </p:spPr>
        <p:txBody>
          <a:bodyPr wrap="square" lIns="45720" rIns="45720" tIns="27432" bIns="27432" anchor="ctr">
            <a:spAutoFit/>
          </a:bodyPr>
          <a:lstStyle/>
          <a:p>
            <a:pPr algn="l"/>
            <a:r>
              <a:rPr sz="1050" b="0" i="0">
                <a:solidFill>
                  <a:srgbClr val="6B6B6B"/>
                </a:solidFill>
                <a:latin typeface="Calibri"/>
              </a:rPr>
              <a:t>Table 11 of the thesis (ch.4.6); 50 warm-up passes, 500 timed passes, eager-mode PyTorch</a:t>
            </a:r>
          </a:p>
        </p:txBody>
      </p:sp>
      <p:sp>
        <p:nvSpPr>
          <p:cNvPr id="4" name="TextBox 3"/>
          <p:cNvSpPr txBox="1"/>
          <p:nvPr/>
        </p:nvSpPr>
        <p:spPr>
          <a:xfrm>
            <a:off x="11109960" y="6355080"/>
            <a:ext cx="822960" cy="320040"/>
          </a:xfrm>
          <a:prstGeom prst="rect">
            <a:avLst/>
          </a:prstGeom>
          <a:noFill/>
        </p:spPr>
        <p:txBody>
          <a:bodyPr wrap="square" lIns="45720" rIns="45720" tIns="27432" bIns="27432" anchor="ctr">
            <a:spAutoFit/>
          </a:bodyPr>
          <a:lstStyle/>
          <a:p>
            <a:pPr algn="r"/>
            <a:r>
              <a:rPr sz="1200" b="0" i="0">
                <a:solidFill>
                  <a:srgbClr val="6B6B6B"/>
                </a:solidFill>
                <a:latin typeface="Calibri"/>
              </a:rPr>
              <a:t>29</a:t>
            </a:r>
          </a:p>
        </p:txBody>
      </p:sp>
      <p:graphicFrame>
        <p:nvGraphicFramePr>
          <p:cNvPr id="5" name="Table 4"/>
          <p:cNvGraphicFramePr>
            <a:graphicFrameLocks noGrp="1"/>
          </p:cNvGraphicFramePr>
          <p:nvPr/>
        </p:nvGraphicFramePr>
        <p:xfrm>
          <a:off x="731520" y="1554480"/>
          <a:ext cx="10698480" cy="1097280"/>
        </p:xfrm>
        <a:graphic>
          <a:graphicData uri="http://schemas.openxmlformats.org/drawingml/2006/table">
            <a:tbl>
              <a:tblPr firstRow="1" bandRow="1">
                <a:tableStyleId>{5C22544A-7EE6-4342-B048-85BDC9FD1C3A}</a:tableStyleId>
              </a:tblPr>
              <a:tblGrid>
                <a:gridCol w="2468880"/>
                <a:gridCol w="1371600"/>
                <a:gridCol w="1371600"/>
                <a:gridCol w="1371600"/>
                <a:gridCol w="1371600"/>
                <a:gridCol w="1371600"/>
                <a:gridCol w="1371600"/>
              </a:tblGrid>
              <a:tr h="548640">
                <a:tc>
                  <a:txBody>
                    <a:bodyPr wrap="square"/>
                    <a:lstStyle/>
                    <a:p>
                      <a:pPr algn="l"/>
                      <a:r>
                        <a:rPr sz="1700" b="1">
                          <a:solidFill>
                            <a:srgbClr val="FFFFFF"/>
                          </a:solidFill>
                          <a:latin typeface="Calibri"/>
                        </a:rPr>
                        <a:t>Statistic</a:t>
                      </a:r>
                    </a:p>
                  </a:txBody>
                  <a:tcPr marL="54864" marR="54864" marT="27432" marB="27432">
                    <a:solidFill>
                      <a:srgbClr val="8B1A4A"/>
                    </a:solidFill>
                  </a:tcPr>
                </a:tc>
                <a:tc>
                  <a:txBody>
                    <a:bodyPr wrap="square"/>
                    <a:lstStyle/>
                    <a:p>
                      <a:pPr algn="ctr"/>
                      <a:r>
                        <a:rPr sz="1700" b="1">
                          <a:solidFill>
                            <a:srgbClr val="FFFFFF"/>
                          </a:solidFill>
                          <a:latin typeface="Calibri"/>
                        </a:rPr>
                        <a:t>Mean</a:t>
                      </a:r>
                    </a:p>
                  </a:txBody>
                  <a:tcPr marL="54864" marR="54864" marT="27432" marB="27432">
                    <a:solidFill>
                      <a:srgbClr val="8B1A4A"/>
                    </a:solidFill>
                  </a:tcPr>
                </a:tc>
                <a:tc>
                  <a:txBody>
                    <a:bodyPr wrap="square"/>
                    <a:lstStyle/>
                    <a:p>
                      <a:pPr algn="ctr"/>
                      <a:r>
                        <a:rPr sz="1700" b="1">
                          <a:solidFill>
                            <a:srgbClr val="FFFFFF"/>
                          </a:solidFill>
                          <a:latin typeface="Calibri"/>
                        </a:rPr>
                        <a:t>P50</a:t>
                      </a:r>
                    </a:p>
                  </a:txBody>
                  <a:tcPr marL="54864" marR="54864" marT="27432" marB="27432">
                    <a:solidFill>
                      <a:srgbClr val="8B1A4A"/>
                    </a:solidFill>
                  </a:tcPr>
                </a:tc>
                <a:tc>
                  <a:txBody>
                    <a:bodyPr wrap="square"/>
                    <a:lstStyle/>
                    <a:p>
                      <a:pPr algn="ctr"/>
                      <a:r>
                        <a:rPr sz="1700" b="1">
                          <a:solidFill>
                            <a:srgbClr val="FFFFFF"/>
                          </a:solidFill>
                          <a:latin typeface="Calibri"/>
                        </a:rPr>
                        <a:t>P95</a:t>
                      </a:r>
                    </a:p>
                  </a:txBody>
                  <a:tcPr marL="54864" marR="54864" marT="27432" marB="27432">
                    <a:solidFill>
                      <a:srgbClr val="8B1A4A"/>
                    </a:solidFill>
                  </a:tcPr>
                </a:tc>
                <a:tc>
                  <a:txBody>
                    <a:bodyPr wrap="square"/>
                    <a:lstStyle/>
                    <a:p>
                      <a:pPr algn="ctr"/>
                      <a:r>
                        <a:rPr sz="1700" b="1">
                          <a:solidFill>
                            <a:srgbClr val="FFFFFF"/>
                          </a:solidFill>
                          <a:latin typeface="Calibri"/>
                        </a:rPr>
                        <a:t>P99</a:t>
                      </a:r>
                    </a:p>
                  </a:txBody>
                  <a:tcPr marL="54864" marR="54864" marT="27432" marB="27432">
                    <a:solidFill>
                      <a:srgbClr val="8B1A4A"/>
                    </a:solidFill>
                  </a:tcPr>
                </a:tc>
                <a:tc>
                  <a:txBody>
                    <a:bodyPr wrap="square"/>
                    <a:lstStyle/>
                    <a:p>
                      <a:pPr algn="ctr"/>
                      <a:r>
                        <a:rPr sz="1700" b="1">
                          <a:solidFill>
                            <a:srgbClr val="FFFFFF"/>
                          </a:solidFill>
                          <a:latin typeface="Calibri"/>
                        </a:rPr>
                        <a:t>Min</a:t>
                      </a:r>
                    </a:p>
                  </a:txBody>
                  <a:tcPr marL="54864" marR="54864" marT="27432" marB="27432">
                    <a:solidFill>
                      <a:srgbClr val="8B1A4A"/>
                    </a:solidFill>
                  </a:tcPr>
                </a:tc>
                <a:tc>
                  <a:txBody>
                    <a:bodyPr wrap="square"/>
                    <a:lstStyle/>
                    <a:p>
                      <a:pPr algn="ctr"/>
                      <a:r>
                        <a:rPr sz="1700" b="1">
                          <a:solidFill>
                            <a:srgbClr val="FFFFFF"/>
                          </a:solidFill>
                          <a:latin typeface="Calibri"/>
                        </a:rPr>
                        <a:t>Max</a:t>
                      </a:r>
                    </a:p>
                  </a:txBody>
                  <a:tcPr marL="54864" marR="54864" marT="27432" marB="27432">
                    <a:solidFill>
                      <a:srgbClr val="8B1A4A"/>
                    </a:solidFill>
                  </a:tcPr>
                </a:tc>
              </a:tr>
              <a:tr h="548640">
                <a:tc>
                  <a:txBody>
                    <a:bodyPr wrap="square"/>
                    <a:lstStyle/>
                    <a:p>
                      <a:pPr algn="l"/>
                      <a:r>
                        <a:rPr sz="1700" b="0">
                          <a:solidFill>
                            <a:srgbClr val="2B2B2B"/>
                          </a:solidFill>
                          <a:latin typeface="Calibri"/>
                        </a:rPr>
                        <a:t>Latency (ms)</a:t>
                      </a:r>
                    </a:p>
                  </a:txBody>
                  <a:tcPr marL="54864" marR="54864" marT="27432" marB="27432">
                    <a:solidFill>
                      <a:srgbClr val="F6ECF0"/>
                    </a:solidFill>
                  </a:tcPr>
                </a:tc>
                <a:tc>
                  <a:txBody>
                    <a:bodyPr wrap="square"/>
                    <a:lstStyle/>
                    <a:p>
                      <a:pPr algn="ctr"/>
                      <a:r>
                        <a:rPr sz="1700" b="0">
                          <a:solidFill>
                            <a:srgbClr val="2B2B2B"/>
                          </a:solidFill>
                          <a:latin typeface="Calibri"/>
                        </a:rPr>
                        <a:t>0.65</a:t>
                      </a:r>
                    </a:p>
                  </a:txBody>
                  <a:tcPr marL="54864" marR="54864" marT="27432" marB="27432">
                    <a:solidFill>
                      <a:srgbClr val="F6ECF0"/>
                    </a:solidFill>
                  </a:tcPr>
                </a:tc>
                <a:tc>
                  <a:txBody>
                    <a:bodyPr wrap="square"/>
                    <a:lstStyle/>
                    <a:p>
                      <a:pPr algn="ctr"/>
                      <a:r>
                        <a:rPr sz="1700" b="0">
                          <a:solidFill>
                            <a:srgbClr val="2B2B2B"/>
                          </a:solidFill>
                          <a:latin typeface="Calibri"/>
                        </a:rPr>
                        <a:t>0.62</a:t>
                      </a:r>
                    </a:p>
                  </a:txBody>
                  <a:tcPr marL="54864" marR="54864" marT="27432" marB="27432">
                    <a:solidFill>
                      <a:srgbClr val="F6ECF0"/>
                    </a:solidFill>
                  </a:tcPr>
                </a:tc>
                <a:tc>
                  <a:txBody>
                    <a:bodyPr wrap="square"/>
                    <a:lstStyle/>
                    <a:p>
                      <a:pPr algn="ctr"/>
                      <a:r>
                        <a:rPr sz="1700" b="0">
                          <a:solidFill>
                            <a:srgbClr val="2B2B2B"/>
                          </a:solidFill>
                          <a:latin typeface="Calibri"/>
                        </a:rPr>
                        <a:t>0.81</a:t>
                      </a:r>
                    </a:p>
                  </a:txBody>
                  <a:tcPr marL="54864" marR="54864" marT="27432" marB="27432">
                    <a:solidFill>
                      <a:srgbClr val="F6ECF0"/>
                    </a:solidFill>
                  </a:tcPr>
                </a:tc>
                <a:tc>
                  <a:txBody>
                    <a:bodyPr wrap="square"/>
                    <a:lstStyle/>
                    <a:p>
                      <a:pPr algn="ctr"/>
                      <a:r>
                        <a:rPr sz="1700" b="0">
                          <a:solidFill>
                            <a:srgbClr val="2B2B2B"/>
                          </a:solidFill>
                          <a:latin typeface="Calibri"/>
                        </a:rPr>
                        <a:t>1.64</a:t>
                      </a:r>
                    </a:p>
                  </a:txBody>
                  <a:tcPr marL="54864" marR="54864" marT="27432" marB="27432">
                    <a:solidFill>
                      <a:srgbClr val="F6ECF0"/>
                    </a:solidFill>
                  </a:tcPr>
                </a:tc>
                <a:tc>
                  <a:txBody>
                    <a:bodyPr wrap="square"/>
                    <a:lstStyle/>
                    <a:p>
                      <a:pPr algn="ctr"/>
                      <a:r>
                        <a:rPr sz="1700" b="0">
                          <a:solidFill>
                            <a:srgbClr val="2B2B2B"/>
                          </a:solidFill>
                          <a:latin typeface="Calibri"/>
                        </a:rPr>
                        <a:t>0.52</a:t>
                      </a:r>
                    </a:p>
                  </a:txBody>
                  <a:tcPr marL="54864" marR="54864" marT="27432" marB="27432">
                    <a:solidFill>
                      <a:srgbClr val="F6ECF0"/>
                    </a:solidFill>
                  </a:tcPr>
                </a:tc>
                <a:tc>
                  <a:txBody>
                    <a:bodyPr wrap="square"/>
                    <a:lstStyle/>
                    <a:p>
                      <a:pPr algn="ctr"/>
                      <a:r>
                        <a:rPr sz="1700" b="0">
                          <a:solidFill>
                            <a:srgbClr val="2B2B2B"/>
                          </a:solidFill>
                          <a:latin typeface="Calibri"/>
                        </a:rPr>
                        <a:t>2.50</a:t>
                      </a:r>
                    </a:p>
                  </a:txBody>
                  <a:tcPr marL="54864" marR="54864" marT="27432" marB="27432">
                    <a:solidFill>
                      <a:srgbClr val="F6ECF0"/>
                    </a:solidFill>
                  </a:tcPr>
                </a:tc>
              </a:tr>
            </a:tbl>
          </a:graphicData>
        </a:graphic>
      </p:graphicFrame>
      <p:sp>
        <p:nvSpPr>
          <p:cNvPr id="6" name="TextBox 5"/>
          <p:cNvSpPr txBox="1"/>
          <p:nvPr/>
        </p:nvSpPr>
        <p:spPr>
          <a:xfrm>
            <a:off x="731520" y="2926080"/>
            <a:ext cx="10698480" cy="3017520"/>
          </a:xfrm>
          <a:prstGeom prst="rect">
            <a:avLst/>
          </a:prstGeom>
          <a:noFill/>
        </p:spPr>
        <p:txBody>
          <a:bodyPr wrap="square" lIns="45720" rIns="45720" tIns="27432" bIns="27432" anchor="t">
            <a:spAutoFit/>
          </a:bodyPr>
          <a:lstStyle/>
          <a:p>
            <a:pPr algn="l"/>
            <a:r>
              <a:rPr sz="2000" b="1" i="0">
                <a:solidFill>
                  <a:srgbClr val="8B1A4A"/>
                </a:solidFill>
                <a:latin typeface="Calibri"/>
              </a:rPr>
              <a:t>Duty cycle: 0.00065 s / 60 s ≈ 0.0000108 ≈ 0.001% of one core</a:t>
            </a:r>
          </a:p>
          <a:p>
            <a:pPr algn="l">
              <a:spcBef>
                <a:spcPts val="1200"/>
              </a:spcBef>
            </a:pPr>
            <a:r>
              <a:rPr sz="1700" b="0" i="0">
                <a:solidFill>
                  <a:srgbClr val="2B2B2B"/>
                </a:solidFill>
                <a:latin typeface="Calibri"/>
              </a:rPr>
              <a:t>The original host hardware and library versions were not recorded. A later reference run on the research machine gave a mean of 0.437 ms and a P99 of 0.475 ms. The cost that dominates in deployment, computing the window aggregates, was not benchmarked.</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338560" cy="685800"/>
          </a:xfrm>
          <a:prstGeom prst="rect">
            <a:avLst/>
          </a:prstGeom>
          <a:noFill/>
        </p:spPr>
        <p:txBody>
          <a:bodyPr wrap="square" lIns="45720" rIns="45720" tIns="27432" bIns="27432" anchor="ctr">
            <a:spAutoFit/>
          </a:bodyPr>
          <a:lstStyle/>
          <a:p>
            <a:pPr algn="l"/>
            <a:r>
              <a:rPr sz="3000" b="1" i="0">
                <a:solidFill>
                  <a:srgbClr val="8B1A4A"/>
                </a:solidFill>
                <a:latin typeface="Calibri"/>
              </a:rPr>
              <a:t>Backup: threats to validity</a:t>
            </a:r>
          </a:p>
        </p:txBody>
      </p:sp>
      <p:sp>
        <p:nvSpPr>
          <p:cNvPr id="3" name="TextBox 2"/>
          <p:cNvSpPr txBox="1"/>
          <p:nvPr/>
        </p:nvSpPr>
        <p:spPr>
          <a:xfrm>
            <a:off x="521207" y="841248"/>
            <a:ext cx="11155680" cy="411480"/>
          </a:xfrm>
          <a:prstGeom prst="rect">
            <a:avLst/>
          </a:prstGeom>
          <a:noFill/>
        </p:spPr>
        <p:txBody>
          <a:bodyPr wrap="square" lIns="45720" rIns="45720" tIns="27432" bIns="27432" anchor="t">
            <a:spAutoFit/>
          </a:bodyPr>
          <a:lstStyle/>
          <a:p>
            <a:pPr algn="l"/>
            <a:r>
              <a:rPr sz="1700" b="0" i="0">
                <a:solidFill>
                  <a:srgbClr val="6B6B6B"/>
                </a:solidFill>
                <a:latin typeface="Calibri"/>
              </a:rPr>
              <a:t>Assessed against the ten pitfalls of Arp et al. [57]</a:t>
            </a:r>
          </a:p>
        </p:txBody>
      </p:sp>
      <p:sp>
        <p:nvSpPr>
          <p:cNvPr id="4" name="TextBox 3"/>
          <p:cNvSpPr txBox="1"/>
          <p:nvPr/>
        </p:nvSpPr>
        <p:spPr>
          <a:xfrm>
            <a:off x="1965960" y="6327648"/>
            <a:ext cx="8778240" cy="365760"/>
          </a:xfrm>
          <a:prstGeom prst="rect">
            <a:avLst/>
          </a:prstGeom>
          <a:noFill/>
        </p:spPr>
        <p:txBody>
          <a:bodyPr wrap="square" lIns="45720" rIns="45720" tIns="27432" bIns="27432" anchor="ctr">
            <a:spAutoFit/>
          </a:bodyPr>
          <a:lstStyle/>
          <a:p>
            <a:pPr algn="l"/>
            <a:r>
              <a:rPr sz="1050" b="0" i="0">
                <a:solidFill>
                  <a:srgbClr val="6B6B6B"/>
                </a:solidFill>
                <a:latin typeface="Calibri"/>
              </a:rPr>
              <a:t>Table 15 of the thesis (ch.5.3)</a:t>
            </a:r>
          </a:p>
        </p:txBody>
      </p:sp>
      <p:sp>
        <p:nvSpPr>
          <p:cNvPr id="5" name="TextBox 4"/>
          <p:cNvSpPr txBox="1"/>
          <p:nvPr/>
        </p:nvSpPr>
        <p:spPr>
          <a:xfrm>
            <a:off x="11109960" y="6355080"/>
            <a:ext cx="822960" cy="320040"/>
          </a:xfrm>
          <a:prstGeom prst="rect">
            <a:avLst/>
          </a:prstGeom>
          <a:noFill/>
        </p:spPr>
        <p:txBody>
          <a:bodyPr wrap="square" lIns="45720" rIns="45720" tIns="27432" bIns="27432" anchor="ctr">
            <a:spAutoFit/>
          </a:bodyPr>
          <a:lstStyle/>
          <a:p>
            <a:pPr algn="r"/>
            <a:r>
              <a:rPr sz="1200" b="0" i="0">
                <a:solidFill>
                  <a:srgbClr val="6B6B6B"/>
                </a:solidFill>
                <a:latin typeface="Calibri"/>
              </a:rPr>
              <a:t>30</a:t>
            </a:r>
          </a:p>
        </p:txBody>
      </p:sp>
      <p:graphicFrame>
        <p:nvGraphicFramePr>
          <p:cNvPr id="6" name="Table 5"/>
          <p:cNvGraphicFramePr>
            <a:graphicFrameLocks noGrp="1"/>
          </p:cNvGraphicFramePr>
          <p:nvPr/>
        </p:nvGraphicFramePr>
        <p:xfrm>
          <a:off x="457200" y="1371600"/>
          <a:ext cx="11247120" cy="4389120"/>
        </p:xfrm>
        <a:graphic>
          <a:graphicData uri="http://schemas.openxmlformats.org/drawingml/2006/table">
            <a:tbl>
              <a:tblPr firstRow="1" bandRow="1">
                <a:tableStyleId>{5C22544A-7EE6-4342-B048-85BDC9FD1C3A}</a:tableStyleId>
              </a:tblPr>
              <a:tblGrid>
                <a:gridCol w="1463040"/>
                <a:gridCol w="4023360"/>
                <a:gridCol w="5760720"/>
              </a:tblGrid>
              <a:tr h="548640">
                <a:tc>
                  <a:txBody>
                    <a:bodyPr wrap="square"/>
                    <a:lstStyle/>
                    <a:p>
                      <a:pPr algn="l"/>
                      <a:r>
                        <a:rPr sz="1350" b="1">
                          <a:solidFill>
                            <a:srgbClr val="FFFFFF"/>
                          </a:solidFill>
                          <a:latin typeface="Calibri"/>
                        </a:rPr>
                        <a:t>Category</a:t>
                      </a:r>
                    </a:p>
                  </a:txBody>
                  <a:tcPr marL="54864" marR="54864" marT="27432" marB="27432">
                    <a:solidFill>
                      <a:srgbClr val="8B1A4A"/>
                    </a:solidFill>
                  </a:tcPr>
                </a:tc>
                <a:tc>
                  <a:txBody>
                    <a:bodyPr wrap="square"/>
                    <a:lstStyle/>
                    <a:p>
                      <a:pPr algn="l"/>
                      <a:r>
                        <a:rPr sz="1350" b="1">
                          <a:solidFill>
                            <a:srgbClr val="FFFFFF"/>
                          </a:solidFill>
                          <a:latin typeface="Calibri"/>
                        </a:rPr>
                        <a:t>Threat</a:t>
                      </a:r>
                    </a:p>
                  </a:txBody>
                  <a:tcPr marL="54864" marR="54864" marT="27432" marB="27432">
                    <a:solidFill>
                      <a:srgbClr val="8B1A4A"/>
                    </a:solidFill>
                  </a:tcPr>
                </a:tc>
                <a:tc>
                  <a:txBody>
                    <a:bodyPr wrap="square"/>
                    <a:lstStyle/>
                    <a:p>
                      <a:pPr algn="l"/>
                      <a:r>
                        <a:rPr sz="1350" b="1">
                          <a:solidFill>
                            <a:srgbClr val="FFFFFF"/>
                          </a:solidFill>
                          <a:latin typeface="Calibri"/>
                        </a:rPr>
                        <a:t>Status in this thesis</a:t>
                      </a:r>
                    </a:p>
                  </a:txBody>
                  <a:tcPr marL="54864" marR="54864" marT="27432" marB="27432">
                    <a:solidFill>
                      <a:srgbClr val="8B1A4A"/>
                    </a:solidFill>
                  </a:tcPr>
                </a:tc>
              </a:tr>
              <a:tr h="548640">
                <a:tc>
                  <a:txBody>
                    <a:bodyPr wrap="square"/>
                    <a:lstStyle/>
                    <a:p>
                      <a:pPr algn="l"/>
                      <a:r>
                        <a:rPr sz="1350" b="0">
                          <a:solidFill>
                            <a:srgbClr val="2B2B2B"/>
                          </a:solidFill>
                          <a:latin typeface="Calibri"/>
                        </a:rPr>
                        <a:t>Construct</a:t>
                      </a:r>
                    </a:p>
                  </a:txBody>
                  <a:tcPr marL="54864" marR="54864" marT="27432" marB="27432">
                    <a:solidFill>
                      <a:srgbClr val="F6ECF0"/>
                    </a:solidFill>
                  </a:tcPr>
                </a:tc>
                <a:tc>
                  <a:txBody>
                    <a:bodyPr wrap="square"/>
                    <a:lstStyle/>
                    <a:p>
                      <a:pPr algn="l"/>
                      <a:r>
                        <a:rPr sz="1350" b="0">
                          <a:solidFill>
                            <a:srgbClr val="2B2B2B"/>
                          </a:solidFill>
                          <a:latin typeface="Calibri"/>
                        </a:rPr>
                        <a:t>Labels recoverable from inputs (L1)</a:t>
                      </a:r>
                    </a:p>
                  </a:txBody>
                  <a:tcPr marL="54864" marR="54864" marT="27432" marB="27432">
                    <a:solidFill>
                      <a:srgbClr val="F6ECF0"/>
                    </a:solidFill>
                  </a:tcPr>
                </a:tc>
                <a:tc>
                  <a:txBody>
                    <a:bodyPr wrap="square"/>
                    <a:lstStyle/>
                    <a:p>
                      <a:pPr algn="l"/>
                      <a:r>
                        <a:rPr sz="1350" b="0">
                          <a:solidFill>
                            <a:srgbClr val="2B2B2B"/>
                          </a:solidFill>
                          <a:latin typeface="Calibri"/>
                        </a:rPr>
                        <a:t>Stated formally; claims restricted to fidelity and transfer</a:t>
                      </a:r>
                    </a:p>
                  </a:txBody>
                  <a:tcPr marL="54864" marR="54864" marT="27432" marB="27432">
                    <a:solidFill>
                      <a:srgbClr val="F6ECF0"/>
                    </a:solidFill>
                  </a:tcPr>
                </a:tc>
              </a:tr>
              <a:tr h="548640">
                <a:tc>
                  <a:txBody>
                    <a:bodyPr wrap="square"/>
                    <a:lstStyle/>
                    <a:p>
                      <a:pPr algn="l"/>
                      <a:r>
                        <a:rPr sz="1350" b="0">
                          <a:solidFill>
                            <a:srgbClr val="2B2B2B"/>
                          </a:solidFill>
                          <a:latin typeface="Calibri"/>
                        </a:rPr>
                        <a:t>Construct</a:t>
                      </a:r>
                    </a:p>
                  </a:txBody>
                  <a:tcPr marL="54864" marR="54864" marT="27432" marB="27432">
                    <a:solidFill>
                      <a:srgbClr val="FFFFFF"/>
                    </a:solidFill>
                  </a:tcPr>
                </a:tc>
                <a:tc>
                  <a:txBody>
                    <a:bodyPr wrap="square"/>
                    <a:lstStyle/>
                    <a:p>
                      <a:pPr algn="l"/>
                      <a:r>
                        <a:rPr sz="1350" b="0">
                          <a:solidFill>
                            <a:srgbClr val="2B2B2B"/>
                          </a:solidFill>
                          <a:latin typeface="Calibri"/>
                        </a:rPr>
                        <a:t>TLS feature constant; no header features (L5)</a:t>
                      </a:r>
                    </a:p>
                  </a:txBody>
                  <a:tcPr marL="54864" marR="54864" marT="27432" marB="27432">
                    <a:solidFill>
                      <a:srgbClr val="FFFFFF"/>
                    </a:solidFill>
                  </a:tcPr>
                </a:tc>
                <a:tc>
                  <a:txBody>
                    <a:bodyPr wrap="square"/>
                    <a:lstStyle/>
                    <a:p>
                      <a:pPr algn="l"/>
                      <a:r>
                        <a:rPr sz="1350" b="0">
                          <a:solidFill>
                            <a:srgbClr val="2B2B2B"/>
                          </a:solidFill>
                          <a:latin typeface="Calibri"/>
                        </a:rPr>
                        <a:t>Thesis statement restricted to the informative features</a:t>
                      </a:r>
                    </a:p>
                  </a:txBody>
                  <a:tcPr marL="54864" marR="54864" marT="27432" marB="27432">
                    <a:solidFill>
                      <a:srgbClr val="FFFFFF"/>
                    </a:solidFill>
                  </a:tcPr>
                </a:tc>
              </a:tr>
              <a:tr h="548640">
                <a:tc>
                  <a:txBody>
                    <a:bodyPr wrap="square"/>
                    <a:lstStyle/>
                    <a:p>
                      <a:pPr algn="l"/>
                      <a:r>
                        <a:rPr sz="1350" b="0">
                          <a:solidFill>
                            <a:srgbClr val="2B2B2B"/>
                          </a:solidFill>
                          <a:latin typeface="Calibri"/>
                        </a:rPr>
                        <a:t>Internal</a:t>
                      </a:r>
                    </a:p>
                  </a:txBody>
                  <a:tcPr marL="54864" marR="54864" marT="27432" marB="27432">
                    <a:solidFill>
                      <a:srgbClr val="F6ECF0"/>
                    </a:solidFill>
                  </a:tcPr>
                </a:tc>
                <a:tc>
                  <a:txBody>
                    <a:bodyPr wrap="square"/>
                    <a:lstStyle/>
                    <a:p>
                      <a:pPr algn="l"/>
                      <a:r>
                        <a:rPr sz="1350" b="0">
                          <a:solidFill>
                            <a:srgbClr val="2B2B2B"/>
                          </a:solidFill>
                          <a:latin typeface="Calibri"/>
                        </a:rPr>
                        <a:t>Temporal leakage</a:t>
                      </a:r>
                    </a:p>
                  </a:txBody>
                  <a:tcPr marL="54864" marR="54864" marT="27432" marB="27432">
                    <a:solidFill>
                      <a:srgbClr val="F6ECF0"/>
                    </a:solidFill>
                  </a:tcPr>
                </a:tc>
                <a:tc>
                  <a:txBody>
                    <a:bodyPr wrap="square"/>
                    <a:lstStyle/>
                    <a:p>
                      <a:pPr algn="l"/>
                      <a:r>
                        <a:rPr sz="1350" b="0">
                          <a:solidFill>
                            <a:srgbClr val="2B2B2B"/>
                          </a:solidFill>
                          <a:latin typeface="Calibri"/>
                        </a:rPr>
                        <a:t>Controlled: chronological split, training-only scaler, no boundary-crossing sequences</a:t>
                      </a:r>
                    </a:p>
                  </a:txBody>
                  <a:tcPr marL="54864" marR="54864" marT="27432" marB="27432">
                    <a:solidFill>
                      <a:srgbClr val="F6ECF0"/>
                    </a:solidFill>
                  </a:tcPr>
                </a:tc>
              </a:tr>
              <a:tr h="548640">
                <a:tc>
                  <a:txBody>
                    <a:bodyPr wrap="square"/>
                    <a:lstStyle/>
                    <a:p>
                      <a:pPr algn="l"/>
                      <a:r>
                        <a:rPr sz="1350" b="0">
                          <a:solidFill>
                            <a:srgbClr val="2B2B2B"/>
                          </a:solidFill>
                          <a:latin typeface="Calibri"/>
                        </a:rPr>
                        <a:t>Internal</a:t>
                      </a:r>
                    </a:p>
                  </a:txBody>
                  <a:tcPr marL="54864" marR="54864" marT="27432" marB="27432">
                    <a:solidFill>
                      <a:srgbClr val="FFFFFF"/>
                    </a:solidFill>
                  </a:tcPr>
                </a:tc>
                <a:tc>
                  <a:txBody>
                    <a:bodyPr wrap="square"/>
                    <a:lstStyle/>
                    <a:p>
                      <a:pPr algn="l"/>
                      <a:r>
                        <a:rPr sz="1350" b="0">
                          <a:solidFill>
                            <a:srgbClr val="2B2B2B"/>
                          </a:solidFill>
                          <a:latin typeface="Calibri"/>
                        </a:rPr>
                        <a:t>Checkpoint chosen on benign-only validation (L2)</a:t>
                      </a:r>
                    </a:p>
                  </a:txBody>
                  <a:tcPr marL="54864" marR="54864" marT="27432" marB="27432">
                    <a:solidFill>
                      <a:srgbClr val="FFFFFF"/>
                    </a:solidFill>
                  </a:tcPr>
                </a:tc>
                <a:tc>
                  <a:txBody>
                    <a:bodyPr wrap="square"/>
                    <a:lstStyle/>
                    <a:p>
                      <a:pPr algn="l"/>
                      <a:r>
                        <a:rPr sz="1350" b="0">
                          <a:solidFill>
                            <a:srgbClr val="2B2B2B"/>
                          </a:solidFill>
                          <a:latin typeface="Calibri"/>
                        </a:rPr>
                        <a:t>Stated; hold-out test set reported only as a false-positive benchmark</a:t>
                      </a:r>
                    </a:p>
                  </a:txBody>
                  <a:tcPr marL="54864" marR="54864" marT="27432" marB="27432">
                    <a:solidFill>
                      <a:srgbClr val="FFFFFF"/>
                    </a:solidFill>
                  </a:tcPr>
                </a:tc>
              </a:tr>
              <a:tr h="548640">
                <a:tc>
                  <a:txBody>
                    <a:bodyPr wrap="square"/>
                    <a:lstStyle/>
                    <a:p>
                      <a:pPr algn="l"/>
                      <a:r>
                        <a:rPr sz="1350" b="0">
                          <a:solidFill>
                            <a:srgbClr val="2B2B2B"/>
                          </a:solidFill>
                          <a:latin typeface="Calibri"/>
                        </a:rPr>
                        <a:t>External</a:t>
                      </a:r>
                    </a:p>
                  </a:txBody>
                  <a:tcPr marL="54864" marR="54864" marT="27432" marB="27432">
                    <a:solidFill>
                      <a:srgbClr val="F6ECF0"/>
                    </a:solidFill>
                  </a:tcPr>
                </a:tc>
                <a:tc>
                  <a:txBody>
                    <a:bodyPr wrap="square"/>
                    <a:lstStyle/>
                    <a:p>
                      <a:pPr algn="l"/>
                      <a:r>
                        <a:rPr sz="1350" b="0">
                          <a:solidFill>
                            <a:srgbClr val="2B2B2B"/>
                          </a:solidFill>
                          <a:latin typeface="Calibri"/>
                        </a:rPr>
                        <a:t>Synthetic, homogeneous benign traffic (L6)</a:t>
                      </a:r>
                    </a:p>
                  </a:txBody>
                  <a:tcPr marL="54864" marR="54864" marT="27432" marB="27432">
                    <a:solidFill>
                      <a:srgbClr val="F6ECF0"/>
                    </a:solidFill>
                  </a:tcPr>
                </a:tc>
                <a:tc>
                  <a:txBody>
                    <a:bodyPr wrap="square"/>
                    <a:lstStyle/>
                    <a:p>
                      <a:pPr algn="l"/>
                      <a:r>
                        <a:rPr sz="1350" b="0">
                          <a:solidFill>
                            <a:srgbClr val="2B2B2B"/>
                          </a:solidFill>
                          <a:latin typeface="Calibri"/>
                        </a:rPr>
                        <a:t>Two separately generated datasets with different structure</a:t>
                      </a:r>
                    </a:p>
                  </a:txBody>
                  <a:tcPr marL="54864" marR="54864" marT="27432" marB="27432">
                    <a:solidFill>
                      <a:srgbClr val="F6ECF0"/>
                    </a:solidFill>
                  </a:tcPr>
                </a:tc>
              </a:tr>
              <a:tr h="548640">
                <a:tc>
                  <a:txBody>
                    <a:bodyPr wrap="square"/>
                    <a:lstStyle/>
                    <a:p>
                      <a:pPr algn="l"/>
                      <a:r>
                        <a:rPr sz="1350" b="0">
                          <a:solidFill>
                            <a:srgbClr val="2B2B2B"/>
                          </a:solidFill>
                          <a:latin typeface="Calibri"/>
                        </a:rPr>
                        <a:t>Conclusion</a:t>
                      </a:r>
                    </a:p>
                  </a:txBody>
                  <a:tcPr marL="54864" marR="54864" marT="27432" marB="27432">
                    <a:solidFill>
                      <a:srgbClr val="FFFFFF"/>
                    </a:solidFill>
                  </a:tcPr>
                </a:tc>
                <a:tc>
                  <a:txBody>
                    <a:bodyPr wrap="square"/>
                    <a:lstStyle/>
                    <a:p>
                      <a:pPr algn="l"/>
                      <a:r>
                        <a:rPr sz="1350" b="0">
                          <a:solidFill>
                            <a:srgbClr val="2B2B2B"/>
                          </a:solidFill>
                          <a:latin typeface="Calibri"/>
                        </a:rPr>
                        <a:t>Overlapping sequences, single run (L4)</a:t>
                      </a:r>
                    </a:p>
                  </a:txBody>
                  <a:tcPr marL="54864" marR="54864" marT="27432" marB="27432">
                    <a:solidFill>
                      <a:srgbClr val="FFFFFF"/>
                    </a:solidFill>
                  </a:tcPr>
                </a:tc>
                <a:tc>
                  <a:txBody>
                    <a:bodyPr wrap="square"/>
                    <a:lstStyle/>
                    <a:p>
                      <a:pPr algn="l"/>
                      <a:r>
                        <a:rPr sz="1350" b="0">
                          <a:solidFill>
                            <a:srgbClr val="2B2B2B"/>
                          </a:solidFill>
                          <a:latin typeface="Calibri"/>
                        </a:rPr>
                        <a:t>Wilson intervals, Fisher tests and alarms per day; dependence stated</a:t>
                      </a:r>
                    </a:p>
                  </a:txBody>
                  <a:tcPr marL="54864" marR="54864" marT="27432" marB="27432">
                    <a:solidFill>
                      <a:srgbClr val="FFFFFF"/>
                    </a:solidFill>
                  </a:tcPr>
                </a:tc>
              </a:tr>
              <a:tr h="548640">
                <a:tc>
                  <a:txBody>
                    <a:bodyPr wrap="square"/>
                    <a:lstStyle/>
                    <a:p>
                      <a:pPr algn="l"/>
                      <a:r>
                        <a:rPr sz="1350" b="0">
                          <a:solidFill>
                            <a:srgbClr val="2B2B2B"/>
                          </a:solidFill>
                          <a:latin typeface="Calibri"/>
                        </a:rPr>
                        <a:t>Conclusion</a:t>
                      </a:r>
                    </a:p>
                  </a:txBody>
                  <a:tcPr marL="54864" marR="54864" marT="27432" marB="27432">
                    <a:solidFill>
                      <a:srgbClr val="F6ECF0"/>
                    </a:solidFill>
                  </a:tcPr>
                </a:tc>
                <a:tc>
                  <a:txBody>
                    <a:bodyPr wrap="square"/>
                    <a:lstStyle/>
                    <a:p>
                      <a:pPr algn="l"/>
                      <a:r>
                        <a:rPr sz="1350" b="0">
                          <a:solidFill>
                            <a:srgbClr val="2B2B2B"/>
                          </a:solidFill>
                          <a:latin typeface="Calibri"/>
                        </a:rPr>
                        <a:t>Accuracy at 15% prevalence</a:t>
                      </a:r>
                    </a:p>
                  </a:txBody>
                  <a:tcPr marL="54864" marR="54864" marT="27432" marB="27432">
                    <a:solidFill>
                      <a:srgbClr val="F6ECF0"/>
                    </a:solidFill>
                  </a:tcPr>
                </a:tc>
                <a:tc>
                  <a:txBody>
                    <a:bodyPr wrap="square"/>
                    <a:lstStyle/>
                    <a:p>
                      <a:pPr algn="l"/>
                      <a:r>
                        <a:rPr sz="1350" b="0">
                          <a:solidFill>
                            <a:srgbClr val="2B2B2B"/>
                          </a:solidFill>
                          <a:latin typeface="Calibri"/>
                        </a:rPr>
                        <a:t>PR-AUC, alarms per day and confusion matrices reported</a:t>
                      </a:r>
                    </a:p>
                  </a:txBody>
                  <a:tcPr marL="54864" marR="54864" marT="27432" marB="27432">
                    <a:solidFill>
                      <a:srgbClr val="F6ECF0"/>
                    </a:solidFill>
                  </a:tcPr>
                </a:tc>
              </a:tr>
            </a:tbl>
          </a:graphicData>
        </a:graphic>
      </p:graphicFrame>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338560" cy="685800"/>
          </a:xfrm>
          <a:prstGeom prst="rect">
            <a:avLst/>
          </a:prstGeom>
          <a:noFill/>
        </p:spPr>
        <p:txBody>
          <a:bodyPr wrap="square" lIns="45720" rIns="45720" tIns="27432" bIns="27432" anchor="ctr">
            <a:spAutoFit/>
          </a:bodyPr>
          <a:lstStyle/>
          <a:p>
            <a:pPr algn="l"/>
            <a:r>
              <a:rPr sz="3000" b="1" i="0">
                <a:solidFill>
                  <a:srgbClr val="8B1A4A"/>
                </a:solidFill>
                <a:latin typeface="Calibri"/>
              </a:rPr>
              <a:t>Backup: where this sits in the literature</a:t>
            </a:r>
          </a:p>
        </p:txBody>
      </p:sp>
      <p:sp>
        <p:nvSpPr>
          <p:cNvPr id="3" name="TextBox 2"/>
          <p:cNvSpPr txBox="1"/>
          <p:nvPr/>
        </p:nvSpPr>
        <p:spPr>
          <a:xfrm>
            <a:off x="521207" y="841248"/>
            <a:ext cx="11155680" cy="411480"/>
          </a:xfrm>
          <a:prstGeom prst="rect">
            <a:avLst/>
          </a:prstGeom>
          <a:noFill/>
        </p:spPr>
        <p:txBody>
          <a:bodyPr wrap="square" lIns="45720" rIns="45720" tIns="27432" bIns="27432" anchor="t">
            <a:spAutoFit/>
          </a:bodyPr>
          <a:lstStyle/>
          <a:p>
            <a:pPr algn="l"/>
            <a:r>
              <a:rPr sz="1700" b="0" i="0">
                <a:solidFill>
                  <a:srgbClr val="6B6B6B"/>
                </a:solidFill>
                <a:latin typeface="Calibri"/>
              </a:rPr>
              <a:t>What each family of defences looks at, and what this thesis adds</a:t>
            </a:r>
          </a:p>
        </p:txBody>
      </p:sp>
      <p:sp>
        <p:nvSpPr>
          <p:cNvPr id="4" name="TextBox 3"/>
          <p:cNvSpPr txBox="1"/>
          <p:nvPr/>
        </p:nvSpPr>
        <p:spPr>
          <a:xfrm>
            <a:off x="1965960" y="6327648"/>
            <a:ext cx="8778240" cy="365760"/>
          </a:xfrm>
          <a:prstGeom prst="rect">
            <a:avLst/>
          </a:prstGeom>
          <a:noFill/>
        </p:spPr>
        <p:txBody>
          <a:bodyPr wrap="square" lIns="45720" rIns="45720" tIns="27432" bIns="27432" anchor="ctr">
            <a:spAutoFit/>
          </a:bodyPr>
          <a:lstStyle/>
          <a:p>
            <a:pPr algn="l"/>
            <a:r>
              <a:rPr sz="1050" b="0" i="0">
                <a:solidFill>
                  <a:srgbClr val="6B6B6B"/>
                </a:solidFill>
                <a:latin typeface="Calibri"/>
              </a:rPr>
              <a:t>Chapter 2 of the thesis; reference numbers as in the thesis</a:t>
            </a:r>
          </a:p>
        </p:txBody>
      </p:sp>
      <p:sp>
        <p:nvSpPr>
          <p:cNvPr id="5" name="TextBox 4"/>
          <p:cNvSpPr txBox="1"/>
          <p:nvPr/>
        </p:nvSpPr>
        <p:spPr>
          <a:xfrm>
            <a:off x="11109960" y="6355080"/>
            <a:ext cx="822960" cy="320040"/>
          </a:xfrm>
          <a:prstGeom prst="rect">
            <a:avLst/>
          </a:prstGeom>
          <a:noFill/>
        </p:spPr>
        <p:txBody>
          <a:bodyPr wrap="square" lIns="45720" rIns="45720" tIns="27432" bIns="27432" anchor="ctr">
            <a:spAutoFit/>
          </a:bodyPr>
          <a:lstStyle/>
          <a:p>
            <a:pPr algn="r"/>
            <a:r>
              <a:rPr sz="1200" b="0" i="0">
                <a:solidFill>
                  <a:srgbClr val="6B6B6B"/>
                </a:solidFill>
                <a:latin typeface="Calibri"/>
              </a:rPr>
              <a:t>31</a:t>
            </a:r>
          </a:p>
        </p:txBody>
      </p:sp>
      <p:graphicFrame>
        <p:nvGraphicFramePr>
          <p:cNvPr id="6" name="Table 5"/>
          <p:cNvGraphicFramePr>
            <a:graphicFrameLocks noGrp="1"/>
          </p:cNvGraphicFramePr>
          <p:nvPr/>
        </p:nvGraphicFramePr>
        <p:xfrm>
          <a:off x="457200" y="1371600"/>
          <a:ext cx="11247120" cy="3968496"/>
        </p:xfrm>
        <a:graphic>
          <a:graphicData uri="http://schemas.openxmlformats.org/drawingml/2006/table">
            <a:tbl>
              <a:tblPr firstRow="1" bandRow="1">
                <a:tableStyleId>{5C22544A-7EE6-4342-B048-85BDC9FD1C3A}</a:tableStyleId>
              </a:tblPr>
              <a:tblGrid>
                <a:gridCol w="4023360"/>
                <a:gridCol w="1828800"/>
                <a:gridCol w="4206240"/>
                <a:gridCol w="1188720"/>
              </a:tblGrid>
              <a:tr h="566928">
                <a:tc>
                  <a:txBody>
                    <a:bodyPr wrap="square"/>
                    <a:lstStyle/>
                    <a:p>
                      <a:pPr algn="l"/>
                      <a:r>
                        <a:rPr sz="1300" b="1">
                          <a:solidFill>
                            <a:srgbClr val="FFFFFF"/>
                          </a:solidFill>
                          <a:latin typeface="Calibri"/>
                        </a:rPr>
                        <a:t>Family</a:t>
                      </a:r>
                    </a:p>
                  </a:txBody>
                  <a:tcPr marL="54864" marR="54864" marT="27432" marB="27432">
                    <a:solidFill>
                      <a:srgbClr val="8B1A4A"/>
                    </a:solidFill>
                  </a:tcPr>
                </a:tc>
                <a:tc>
                  <a:txBody>
                    <a:bodyPr wrap="square"/>
                    <a:lstStyle/>
                    <a:p>
                      <a:pPr algn="l"/>
                      <a:r>
                        <a:rPr sz="1300" b="1">
                          <a:solidFill>
                            <a:srgbClr val="FFFFFF"/>
                          </a:solidFill>
                          <a:latin typeface="Calibri"/>
                        </a:rPr>
                        <a:t>Unit it watches</a:t>
                      </a:r>
                    </a:p>
                  </a:txBody>
                  <a:tcPr marL="54864" marR="54864" marT="27432" marB="27432">
                    <a:solidFill>
                      <a:srgbClr val="8B1A4A"/>
                    </a:solidFill>
                  </a:tcPr>
                </a:tc>
                <a:tc>
                  <a:txBody>
                    <a:bodyPr wrap="square"/>
                    <a:lstStyle/>
                    <a:p>
                      <a:pPr algn="l"/>
                      <a:r>
                        <a:rPr sz="1300" b="1">
                          <a:solidFill>
                            <a:srgbClr val="FFFFFF"/>
                          </a:solidFill>
                          <a:latin typeface="Calibri"/>
                        </a:rPr>
                        <a:t>Why it misses low-and-slow spraying</a:t>
                      </a:r>
                    </a:p>
                  </a:txBody>
                  <a:tcPr marL="54864" marR="54864" marT="27432" marB="27432">
                    <a:solidFill>
                      <a:srgbClr val="8B1A4A"/>
                    </a:solidFill>
                  </a:tcPr>
                </a:tc>
                <a:tc>
                  <a:txBody>
                    <a:bodyPr wrap="square"/>
                    <a:lstStyle/>
                    <a:p>
                      <a:pPr algn="l"/>
                      <a:r>
                        <a:rPr sz="1300" b="1">
                          <a:solidFill>
                            <a:srgbClr val="FFFFFF"/>
                          </a:solidFill>
                          <a:latin typeface="Calibri"/>
                        </a:rPr>
                        <a:t>Thesis link</a:t>
                      </a:r>
                    </a:p>
                  </a:txBody>
                  <a:tcPr marL="54864" marR="54864" marT="27432" marB="27432">
                    <a:solidFill>
                      <a:srgbClr val="8B1A4A"/>
                    </a:solidFill>
                  </a:tcPr>
                </a:tc>
              </a:tr>
              <a:tr h="566928">
                <a:tc>
                  <a:txBody>
                    <a:bodyPr wrap="square"/>
                    <a:lstStyle/>
                    <a:p>
                      <a:pPr algn="l"/>
                      <a:r>
                        <a:rPr sz="1300" b="0">
                          <a:solidFill>
                            <a:srgbClr val="2B2B2B"/>
                          </a:solidFill>
                          <a:latin typeface="Calibri"/>
                        </a:rPr>
                        <a:t>Per-client rate limits (token buckets, HTTP 429)</a:t>
                      </a:r>
                    </a:p>
                  </a:txBody>
                  <a:tcPr marL="54864" marR="54864" marT="27432" marB="27432">
                    <a:solidFill>
                      <a:srgbClr val="F6ECF0"/>
                    </a:solidFill>
                  </a:tcPr>
                </a:tc>
                <a:tc>
                  <a:txBody>
                    <a:bodyPr wrap="square"/>
                    <a:lstStyle/>
                    <a:p>
                      <a:pPr algn="l"/>
                      <a:r>
                        <a:rPr sz="1300" b="0">
                          <a:solidFill>
                            <a:srgbClr val="2B2B2B"/>
                          </a:solidFill>
                          <a:latin typeface="Calibri"/>
                        </a:rPr>
                        <a:t>one client or key</a:t>
                      </a:r>
                    </a:p>
                  </a:txBody>
                  <a:tcPr marL="54864" marR="54864" marT="27432" marB="27432">
                    <a:solidFill>
                      <a:srgbClr val="F6ECF0"/>
                    </a:solidFill>
                  </a:tcPr>
                </a:tc>
                <a:tc>
                  <a:txBody>
                    <a:bodyPr wrap="square"/>
                    <a:lstStyle/>
                    <a:p>
                      <a:pPr algn="l"/>
                      <a:r>
                        <a:rPr sz="1300" b="0">
                          <a:solidFill>
                            <a:srgbClr val="2B2B2B"/>
                          </a:solidFill>
                          <a:latin typeface="Calibri"/>
                        </a:rPr>
                        <a:t>each rotating IP stays under its quota</a:t>
                      </a:r>
                    </a:p>
                  </a:txBody>
                  <a:tcPr marL="54864" marR="54864" marT="27432" marB="27432">
                    <a:solidFill>
                      <a:srgbClr val="F6ECF0"/>
                    </a:solidFill>
                  </a:tcPr>
                </a:tc>
                <a:tc>
                  <a:txBody>
                    <a:bodyPr wrap="square"/>
                    <a:lstStyle/>
                    <a:p>
                      <a:pPr algn="l"/>
                      <a:r>
                        <a:rPr sz="1300" b="0">
                          <a:solidFill>
                            <a:srgbClr val="2B2B2B"/>
                          </a:solidFill>
                          <a:latin typeface="Calibri"/>
                        </a:rPr>
                        <a:t>ch.2.2</a:t>
                      </a:r>
                    </a:p>
                  </a:txBody>
                  <a:tcPr marL="54864" marR="54864" marT="27432" marB="27432">
                    <a:solidFill>
                      <a:srgbClr val="F6ECF0"/>
                    </a:solidFill>
                  </a:tcPr>
                </a:tc>
              </a:tr>
              <a:tr h="566928">
                <a:tc>
                  <a:txBody>
                    <a:bodyPr wrap="square"/>
                    <a:lstStyle/>
                    <a:p>
                      <a:pPr algn="l"/>
                      <a:r>
                        <a:rPr sz="1300" b="0">
                          <a:solidFill>
                            <a:srgbClr val="2B2B2B"/>
                          </a:solidFill>
                          <a:latin typeface="Calibri"/>
                        </a:rPr>
                        <a:t>Per-account lockout (NIST, OWASP)</a:t>
                      </a:r>
                    </a:p>
                  </a:txBody>
                  <a:tcPr marL="54864" marR="54864" marT="27432" marB="27432">
                    <a:solidFill>
                      <a:srgbClr val="FFFFFF"/>
                    </a:solidFill>
                  </a:tcPr>
                </a:tc>
                <a:tc>
                  <a:txBody>
                    <a:bodyPr wrap="square"/>
                    <a:lstStyle/>
                    <a:p>
                      <a:pPr algn="l"/>
                      <a:r>
                        <a:rPr sz="1300" b="0">
                          <a:solidFill>
                            <a:srgbClr val="2B2B2B"/>
                          </a:solidFill>
                          <a:latin typeface="Calibri"/>
                        </a:rPr>
                        <a:t>one account</a:t>
                      </a:r>
                    </a:p>
                  </a:txBody>
                  <a:tcPr marL="54864" marR="54864" marT="27432" marB="27432">
                    <a:solidFill>
                      <a:srgbClr val="FFFFFF"/>
                    </a:solidFill>
                  </a:tcPr>
                </a:tc>
                <a:tc>
                  <a:txBody>
                    <a:bodyPr wrap="square"/>
                    <a:lstStyle/>
                    <a:p>
                      <a:pPr algn="l"/>
                      <a:r>
                        <a:rPr sz="1300" b="0">
                          <a:solidFill>
                            <a:srgbClr val="2B2B2B"/>
                          </a:solidFill>
                          <a:latin typeface="Calibri"/>
                        </a:rPr>
                        <a:t>spraying touches each account rarely</a:t>
                      </a:r>
                    </a:p>
                  </a:txBody>
                  <a:tcPr marL="54864" marR="54864" marT="27432" marB="27432">
                    <a:solidFill>
                      <a:srgbClr val="FFFFFF"/>
                    </a:solidFill>
                  </a:tcPr>
                </a:tc>
                <a:tc>
                  <a:txBody>
                    <a:bodyPr wrap="square"/>
                    <a:lstStyle/>
                    <a:p>
                      <a:pPr algn="l"/>
                      <a:r>
                        <a:rPr sz="1300" b="0">
                          <a:solidFill>
                            <a:srgbClr val="2B2B2B"/>
                          </a:solidFill>
                          <a:latin typeface="Calibri"/>
                        </a:rPr>
                        <a:t>ch.2.2</a:t>
                      </a:r>
                    </a:p>
                  </a:txBody>
                  <a:tcPr marL="54864" marR="54864" marT="27432" marB="27432">
                    <a:solidFill>
                      <a:srgbClr val="FFFFFF"/>
                    </a:solidFill>
                  </a:tcPr>
                </a:tc>
              </a:tr>
              <a:tr h="566928">
                <a:tc>
                  <a:txBody>
                    <a:bodyPr wrap="square"/>
                    <a:lstStyle/>
                    <a:p>
                      <a:pPr algn="l"/>
                      <a:r>
                        <a:rPr sz="1300" b="0">
                          <a:solidFill>
                            <a:srgbClr val="2B2B2B"/>
                          </a:solidFill>
                          <a:latin typeface="Calibri"/>
                        </a:rPr>
                        <a:t>Multi-host botnet detection (BotSniffer [28], BotMiner [29], PUBCRAWL [30])</a:t>
                      </a:r>
                    </a:p>
                  </a:txBody>
                  <a:tcPr marL="54864" marR="54864" marT="27432" marB="27432">
                    <a:solidFill>
                      <a:srgbClr val="F6ECF0"/>
                    </a:solidFill>
                  </a:tcPr>
                </a:tc>
                <a:tc>
                  <a:txBody>
                    <a:bodyPr wrap="square"/>
                    <a:lstStyle/>
                    <a:p>
                      <a:pPr algn="l"/>
                      <a:r>
                        <a:rPr sz="1300" b="0">
                          <a:solidFill>
                            <a:srgbClr val="2B2B2B"/>
                          </a:solidFill>
                          <a:latin typeface="Calibri"/>
                        </a:rPr>
                        <a:t>groups of hosts</a:t>
                      </a:r>
                    </a:p>
                  </a:txBody>
                  <a:tcPr marL="54864" marR="54864" marT="27432" marB="27432">
                    <a:solidFill>
                      <a:srgbClr val="F6ECF0"/>
                    </a:solidFill>
                  </a:tcPr>
                </a:tc>
                <a:tc>
                  <a:txBody>
                    <a:bodyPr wrap="square"/>
                    <a:lstStyle/>
                    <a:p>
                      <a:pPr algn="l"/>
                      <a:r>
                        <a:rPr sz="1300" b="0">
                          <a:solidFill>
                            <a:srgbClr val="2B2B2B"/>
                          </a:solidFill>
                          <a:latin typeface="Calibri"/>
                        </a:rPr>
                        <a:t>built for C&amp;C or crawling, not login telemetry</a:t>
                      </a:r>
                    </a:p>
                  </a:txBody>
                  <a:tcPr marL="54864" marR="54864" marT="27432" marB="27432">
                    <a:solidFill>
                      <a:srgbClr val="F6ECF0"/>
                    </a:solidFill>
                  </a:tcPr>
                </a:tc>
                <a:tc>
                  <a:txBody>
                    <a:bodyPr wrap="square"/>
                    <a:lstStyle/>
                    <a:p>
                      <a:pPr algn="l"/>
                      <a:r>
                        <a:rPr sz="1300" b="0">
                          <a:solidFill>
                            <a:srgbClr val="2B2B2B"/>
                          </a:solidFill>
                          <a:latin typeface="Calibri"/>
                        </a:rPr>
                        <a:t>ch.2.3</a:t>
                      </a:r>
                    </a:p>
                  </a:txBody>
                  <a:tcPr marL="54864" marR="54864" marT="27432" marB="27432">
                    <a:solidFill>
                      <a:srgbClr val="F6ECF0"/>
                    </a:solidFill>
                  </a:tcPr>
                </a:tc>
              </a:tr>
              <a:tr h="566928">
                <a:tc>
                  <a:txBody>
                    <a:bodyPr wrap="square"/>
                    <a:lstStyle/>
                    <a:p>
                      <a:pPr algn="l"/>
                      <a:r>
                        <a:rPr sz="1300" b="0">
                          <a:solidFill>
                            <a:srgbClr val="2B2B2B"/>
                          </a:solidFill>
                          <a:latin typeface="Calibri"/>
                        </a:rPr>
                        <a:t>Risk-based authentication (Freeman [32], Wiefling [33])</a:t>
                      </a:r>
                    </a:p>
                  </a:txBody>
                  <a:tcPr marL="54864" marR="54864" marT="27432" marB="27432">
                    <a:solidFill>
                      <a:srgbClr val="FFFFFF"/>
                    </a:solidFill>
                  </a:tcPr>
                </a:tc>
                <a:tc>
                  <a:txBody>
                    <a:bodyPr wrap="square"/>
                    <a:lstStyle/>
                    <a:p>
                      <a:pPr algn="l"/>
                      <a:r>
                        <a:rPr sz="1300" b="0">
                          <a:solidFill>
                            <a:srgbClr val="2B2B2B"/>
                          </a:solidFill>
                          <a:latin typeface="Calibri"/>
                        </a:rPr>
                        <a:t>one login attempt</a:t>
                      </a:r>
                    </a:p>
                  </a:txBody>
                  <a:tcPr marL="54864" marR="54864" marT="27432" marB="27432">
                    <a:solidFill>
                      <a:srgbClr val="FFFFFF"/>
                    </a:solidFill>
                  </a:tcPr>
                </a:tc>
                <a:tc>
                  <a:txBody>
                    <a:bodyPr wrap="square"/>
                    <a:lstStyle/>
                    <a:p>
                      <a:pPr algn="l"/>
                      <a:r>
                        <a:rPr sz="1300" b="0">
                          <a:solidFill>
                            <a:srgbClr val="2B2B2B"/>
                          </a:solidFill>
                          <a:latin typeface="Calibri"/>
                        </a:rPr>
                        <a:t>scores attempts, not campaigns</a:t>
                      </a:r>
                    </a:p>
                  </a:txBody>
                  <a:tcPr marL="54864" marR="54864" marT="27432" marB="27432">
                    <a:solidFill>
                      <a:srgbClr val="FFFFFF"/>
                    </a:solidFill>
                  </a:tcPr>
                </a:tc>
                <a:tc>
                  <a:txBody>
                    <a:bodyPr wrap="square"/>
                    <a:lstStyle/>
                    <a:p>
                      <a:pPr algn="l"/>
                      <a:r>
                        <a:rPr sz="1300" b="0">
                          <a:solidFill>
                            <a:srgbClr val="2B2B2B"/>
                          </a:solidFill>
                          <a:latin typeface="Calibri"/>
                        </a:rPr>
                        <a:t>ch.2.4</a:t>
                      </a:r>
                    </a:p>
                  </a:txBody>
                  <a:tcPr marL="54864" marR="54864" marT="27432" marB="27432">
                    <a:solidFill>
                      <a:srgbClr val="FFFFFF"/>
                    </a:solidFill>
                  </a:tcPr>
                </a:tc>
              </a:tr>
              <a:tr h="566928">
                <a:tc>
                  <a:txBody>
                    <a:bodyPr wrap="square"/>
                    <a:lstStyle/>
                    <a:p>
                      <a:pPr algn="l"/>
                      <a:r>
                        <a:rPr sz="1300" b="0">
                          <a:solidFill>
                            <a:srgbClr val="2B2B2B"/>
                          </a:solidFill>
                          <a:latin typeface="Calibri"/>
                        </a:rPr>
                        <a:t>Sequence models (Bai et al. TCN [39], Sadique &amp; Sengupta [35])</a:t>
                      </a:r>
                    </a:p>
                  </a:txBody>
                  <a:tcPr marL="54864" marR="54864" marT="27432" marB="27432">
                    <a:solidFill>
                      <a:srgbClr val="F6ECF0"/>
                    </a:solidFill>
                  </a:tcPr>
                </a:tc>
                <a:tc>
                  <a:txBody>
                    <a:bodyPr wrap="square"/>
                    <a:lstStyle/>
                    <a:p>
                      <a:pPr algn="l"/>
                      <a:r>
                        <a:rPr sz="1300" b="0">
                          <a:solidFill>
                            <a:srgbClr val="2B2B2B"/>
                          </a:solidFill>
                          <a:latin typeface="Calibri"/>
                        </a:rPr>
                        <a:t>time series</a:t>
                      </a:r>
                    </a:p>
                  </a:txBody>
                  <a:tcPr marL="54864" marR="54864" marT="27432" marB="27432">
                    <a:solidFill>
                      <a:srgbClr val="F6ECF0"/>
                    </a:solidFill>
                  </a:tcPr>
                </a:tc>
                <a:tc>
                  <a:txBody>
                    <a:bodyPr wrap="square"/>
                    <a:lstStyle/>
                    <a:p>
                      <a:pPr algn="l"/>
                      <a:r>
                        <a:rPr sz="1300" b="0">
                          <a:solidFill>
                            <a:srgbClr val="2B2B2B"/>
                          </a:solidFill>
                          <a:latin typeface="Calibri"/>
                        </a:rPr>
                        <a:t>not applied to campaign-level login windows</a:t>
                      </a:r>
                    </a:p>
                  </a:txBody>
                  <a:tcPr marL="54864" marR="54864" marT="27432" marB="27432">
                    <a:solidFill>
                      <a:srgbClr val="F6ECF0"/>
                    </a:solidFill>
                  </a:tcPr>
                </a:tc>
                <a:tc>
                  <a:txBody>
                    <a:bodyPr wrap="square"/>
                    <a:lstStyle/>
                    <a:p>
                      <a:pPr algn="l"/>
                      <a:r>
                        <a:rPr sz="1300" b="0">
                          <a:solidFill>
                            <a:srgbClr val="2B2B2B"/>
                          </a:solidFill>
                          <a:latin typeface="Calibri"/>
                        </a:rPr>
                        <a:t>ch.2.5</a:t>
                      </a:r>
                    </a:p>
                  </a:txBody>
                  <a:tcPr marL="54864" marR="54864" marT="27432" marB="27432">
                    <a:solidFill>
                      <a:srgbClr val="F6ECF0"/>
                    </a:solidFill>
                  </a:tcPr>
                </a:tc>
              </a:tr>
              <a:tr h="566928">
                <a:tc>
                  <a:txBody>
                    <a:bodyPr wrap="square"/>
                    <a:lstStyle/>
                    <a:p>
                      <a:pPr algn="l"/>
                      <a:r>
                        <a:rPr sz="1300" b="0">
                          <a:solidFill>
                            <a:srgbClr val="2B2B2B"/>
                          </a:solidFill>
                          <a:latin typeface="Calibri"/>
                        </a:rPr>
                        <a:t>TLS fingerprinting (JA3 [45], JA4 [46])</a:t>
                      </a:r>
                    </a:p>
                  </a:txBody>
                  <a:tcPr marL="54864" marR="54864" marT="27432" marB="27432">
                    <a:solidFill>
                      <a:srgbClr val="FFFFFF"/>
                    </a:solidFill>
                  </a:tcPr>
                </a:tc>
                <a:tc>
                  <a:txBody>
                    <a:bodyPr wrap="square"/>
                    <a:lstStyle/>
                    <a:p>
                      <a:pPr algn="l"/>
                      <a:r>
                        <a:rPr sz="1300" b="0">
                          <a:solidFill>
                            <a:srgbClr val="2B2B2B"/>
                          </a:solidFill>
                          <a:latin typeface="Calibri"/>
                        </a:rPr>
                        <a:t>one handshake</a:t>
                      </a:r>
                    </a:p>
                  </a:txBody>
                  <a:tcPr marL="54864" marR="54864" marT="27432" marB="27432">
                    <a:solidFill>
                      <a:srgbClr val="FFFFFF"/>
                    </a:solidFill>
                  </a:tcPr>
                </a:tc>
                <a:tc>
                  <a:txBody>
                    <a:bodyPr wrap="square"/>
                    <a:lstStyle/>
                    <a:p>
                      <a:pPr algn="l"/>
                      <a:r>
                        <a:rPr sz="1300" b="0">
                          <a:solidFill>
                            <a:srgbClr val="2B2B2B"/>
                          </a:solidFill>
                          <a:latin typeface="Calibri"/>
                        </a:rPr>
                        <a:t>per-connection; ambiguous on its own</a:t>
                      </a:r>
                    </a:p>
                  </a:txBody>
                  <a:tcPr marL="54864" marR="54864" marT="27432" marB="27432">
                    <a:solidFill>
                      <a:srgbClr val="FFFFFF"/>
                    </a:solidFill>
                  </a:tcPr>
                </a:tc>
                <a:tc>
                  <a:txBody>
                    <a:bodyPr wrap="square"/>
                    <a:lstStyle/>
                    <a:p>
                      <a:pPr algn="l"/>
                      <a:r>
                        <a:rPr sz="1300" b="0">
                          <a:solidFill>
                            <a:srgbClr val="2B2B2B"/>
                          </a:solidFill>
                          <a:latin typeface="Calibri"/>
                        </a:rPr>
                        <a:t>ch.2.6</a:t>
                      </a:r>
                    </a:p>
                  </a:txBody>
                  <a:tcPr marL="54864" marR="54864" marT="27432" marB="27432">
                    <a:solidFill>
                      <a:srgbClr val="FFFFFF"/>
                    </a:solidFill>
                  </a:tcPr>
                </a:tc>
              </a:tr>
            </a:tbl>
          </a:graphicData>
        </a:graphic>
      </p:graphicFrame>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338560" cy="685800"/>
          </a:xfrm>
          <a:prstGeom prst="rect">
            <a:avLst/>
          </a:prstGeom>
          <a:noFill/>
        </p:spPr>
        <p:txBody>
          <a:bodyPr wrap="square" lIns="45720" rIns="45720" tIns="27432" bIns="27432" anchor="ctr">
            <a:spAutoFit/>
          </a:bodyPr>
          <a:lstStyle/>
          <a:p>
            <a:pPr algn="l"/>
            <a:r>
              <a:rPr sz="3000" b="1" i="0">
                <a:solidFill>
                  <a:srgbClr val="8B1A4A"/>
                </a:solidFill>
                <a:latin typeface="Calibri"/>
              </a:rPr>
              <a:t>Backup: feature distributions in the Training Dataset</a:t>
            </a:r>
          </a:p>
        </p:txBody>
      </p:sp>
      <p:sp>
        <p:nvSpPr>
          <p:cNvPr id="3" name="TextBox 2"/>
          <p:cNvSpPr txBox="1"/>
          <p:nvPr/>
        </p:nvSpPr>
        <p:spPr>
          <a:xfrm>
            <a:off x="1965960" y="6327648"/>
            <a:ext cx="8778240" cy="365760"/>
          </a:xfrm>
          <a:prstGeom prst="rect">
            <a:avLst/>
          </a:prstGeom>
          <a:noFill/>
        </p:spPr>
        <p:txBody>
          <a:bodyPr wrap="square" lIns="45720" rIns="45720" tIns="27432" bIns="27432" anchor="ctr">
            <a:spAutoFit/>
          </a:bodyPr>
          <a:lstStyle/>
          <a:p>
            <a:pPr algn="l"/>
            <a:r>
              <a:rPr sz="1050" b="0" i="0">
                <a:solidFill>
                  <a:srgbClr val="6B6B6B"/>
                </a:solidFill>
                <a:latin typeface="Calibri"/>
              </a:rPr>
              <a:t>Figure 6 of the thesis (ch.4.1)</a:t>
            </a:r>
          </a:p>
        </p:txBody>
      </p:sp>
      <p:sp>
        <p:nvSpPr>
          <p:cNvPr id="4" name="TextBox 3"/>
          <p:cNvSpPr txBox="1"/>
          <p:nvPr/>
        </p:nvSpPr>
        <p:spPr>
          <a:xfrm>
            <a:off x="11109960" y="6355080"/>
            <a:ext cx="822960" cy="320040"/>
          </a:xfrm>
          <a:prstGeom prst="rect">
            <a:avLst/>
          </a:prstGeom>
          <a:noFill/>
        </p:spPr>
        <p:txBody>
          <a:bodyPr wrap="square" lIns="45720" rIns="45720" tIns="27432" bIns="27432" anchor="ctr">
            <a:spAutoFit/>
          </a:bodyPr>
          <a:lstStyle/>
          <a:p>
            <a:pPr algn="r"/>
            <a:r>
              <a:rPr sz="1200" b="0" i="0">
                <a:solidFill>
                  <a:srgbClr val="6B6B6B"/>
                </a:solidFill>
                <a:latin typeface="Calibri"/>
              </a:rPr>
              <a:t>32</a:t>
            </a:r>
          </a:p>
        </p:txBody>
      </p:sp>
      <p:pic>
        <p:nvPicPr>
          <p:cNvPr id="5" name="Picture 4" descr="v2_feature_distributions.png"/>
          <p:cNvPicPr>
            <a:picLocks noChangeAspect="1"/>
          </p:cNvPicPr>
          <p:nvPr/>
        </p:nvPicPr>
        <p:blipFill>
          <a:blip r:embed="rId2"/>
          <a:stretch>
            <a:fillRect/>
          </a:stretch>
        </p:blipFill>
        <p:spPr>
          <a:xfrm>
            <a:off x="3158125" y="1005840"/>
            <a:ext cx="7216869" cy="5120640"/>
          </a:xfrm>
          <a:prstGeom prst="rect">
            <a:avLst/>
          </a:prstGeom>
        </p:spPr>
      </p:pic>
    </p:spTree>
  </p:cSld>
  <p:clrMapOvr>
    <a:masterClrMapping/>
  </p:clrMapOvr>
  <p:transition spd="med">
    <p:fad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6"/>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EB6DFA73329D94CA5FF4D0DFE8E2FA1" ma:contentTypeVersion="3" ma:contentTypeDescription="Create a new document." ma:contentTypeScope="" ma:versionID="6887f0fa7aede8b0a7afc83b8cb64460">
  <xsd:schema xmlns:xsd="http://www.w3.org/2001/XMLSchema" xmlns:xs="http://www.w3.org/2001/XMLSchema" xmlns:p="http://schemas.microsoft.com/office/2006/metadata/properties" xmlns:ns2="bfc1e1ed-ce3a-4888-b5ce-cf8dd6289687" targetNamespace="http://schemas.microsoft.com/office/2006/metadata/properties" ma:root="true" ma:fieldsID="0143862479dd9bed1fc4a93dd499f63a" ns2:_="">
    <xsd:import namespace="bfc1e1ed-ce3a-4888-b5ce-cf8dd6289687"/>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fc1e1ed-ce3a-4888-b5ce-cf8dd628968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875E5ED-E237-4B9B-B094-43A545DE6193}">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B19123DE-9270-491E-9E6B-5C72BA06F64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fc1e1ed-ce3a-4888-b5ce-cf8dd628968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65B2739-4F3A-42FB-A152-73821512D4F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TotalTime>
  <Words>92</Words>
  <Application>Microsoft Office PowerPoint</Application>
  <PresentationFormat>Widescreen</PresentationFormat>
  <Paragraphs>7</Paragraphs>
  <Slides>2</Slides>
  <Notes>1</Notes>
  <HiddenSlides>0</HiddenSlides>
  <MMClips>0</MMClip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Office Theme</vt:lpstr>
      <vt:lpstr>MTCS-MRMC5</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Melissa Lai</dc:creator>
  <cp:lastModifiedBy>Amit Roy</cp:lastModifiedBy>
  <cp:revision>91</cp:revision>
  <dcterms:created xsi:type="dcterms:W3CDTF">2024-11-28T14:35:34Z</dcterms:created>
  <dcterms:modified xsi:type="dcterms:W3CDTF">2026-10-02T19:24:06Z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2024-10-30T00:00:00Z</vt:filetime>
  </property>
  <property fmtid="{D5CDD505-2E9C-101B-9397-08002B2CF9AE}" pid="3" name="LastSaved">
    <vt:filetime>2024-11-28T00:00:00Z</vt:filetime>
  </property>
  <property fmtid="{D5CDD505-2E9C-101B-9397-08002B2CF9AE}" pid="4" name="ArticulateGUID">
    <vt:lpwstr>E06EFAD8-911E-4C23-BDD0-445F10B933C7</vt:lpwstr>
  </property>
  <property fmtid="{D5CDD505-2E9C-101B-9397-08002B2CF9AE}" pid="5" name="ArticulatePath">
    <vt:lpwstr>MTCS-MRMC4_GroupDiscussion1</vt:lpwstr>
  </property>
  <property fmtid="{D5CDD505-2E9C-101B-9397-08002B2CF9AE}" pid="6" name="ContentTypeId">
    <vt:lpwstr>0x0101008EB6DFA73329D94CA5FF4D0DFE8E2FA1</vt:lpwstr>
  </property>
</Properties>
</file>